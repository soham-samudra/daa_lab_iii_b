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2236e59-8112-1127-7fc5-443af5b9ee61}">
          <p14:sldIdLst>
            <p14:sldId id="256"/>
            <p14:sldId id="257"/>
            <p14:sldId id="258"/>
          </p14:sldIdLst>
        </p14:section>
        <p14:section name="Divide" id="{23eb802f-9b9e-683a-0458-f3e7885a8d22}">
          <p14:sldIdLst>
            <p14:sldId id="259"/>
            <p14:sldId id="260"/>
            <p14:sldId id="261"/>
          </p14:sldIdLst>
        </p14:section>
        <p14:section name="Merge" id="{b5308567-fea6-17e4-dc6c-c9e986982449}">
          <p14:sldIdLst>
            <p14:sldId id="262"/>
            <p14:sldId id="263"/>
            <p14:sldId id="264"/>
            <p14:sldId id="265"/>
          </p14:sldIdLst>
        </p14:section>
        <p14:section name="Algorithm and Analysis" id="{9727e2a8-5be7-dd8c-77d0-65ead98744e3}">
          <p14:sldIdLst>
            <p14:sldId id="266"/>
            <p14:sldId id="267"/>
            <p14:sldId id="268"/>
          </p14:sldIdLst>
        </p14:section>
        <p14:section name="Conclusion" id="{e1f7067a-accb-0d55-1246-6a21ec0e57cf}">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Growth of n² versus n log₂ n</a:t>
            </a:r>
          </a:p>
        </c:rich>
      </c:tx>
      <c:layout/>
      <c:overlay val="0"/>
    </c:title>
    <c:autoTitleDeleted val="0"/>
    <c:plotArea>
      <c:layout/>
      <c:lineChart>
        <c:varyColors val="0"/>
        <c:ser>
          <c:idx val="0"/>
          <c:order val="0"/>
          <c:tx>
            <c:strRef>
              <c:f>Sheet1!$B$1</c:f>
              <c:strCache>
                <c:ptCount val="1"/>
                <c:pt idx="0">
                  <c:v>n²</c:v>
                </c:pt>
              </c:strCache>
            </c:strRef>
          </c:tx>
          <c:spPr>
            <a:solidFill>
              <a:srgbClr val="7FB3F5"/>
            </a:solidFill>
            <a:ln w="38100" cap="flat">
              <a:solidFill>
                <a:srgbClr val="7FB3F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7FB3F5"/>
              </a:solidFill>
              <a:ln w="9525" cap="flat">
                <a:solidFill>
                  <a:srgbClr val="7FB3F5"/>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4</c:v>
                </c:pt>
                <c:pt idx="2">
                  <c:v>9</c:v>
                </c:pt>
                <c:pt idx="3">
                  <c:v>16</c:v>
                </c:pt>
                <c:pt idx="4">
                  <c:v>25</c:v>
                </c:pt>
                <c:pt idx="5">
                  <c:v>36</c:v>
                </c:pt>
                <c:pt idx="6">
                  <c:v>49</c:v>
                </c:pt>
                <c:pt idx="7">
                  <c:v>64</c:v>
                </c:pt>
                <c:pt idx="8">
                  <c:v>81</c:v>
                </c:pt>
                <c:pt idx="9">
                  <c:v>100</c:v>
                </c:pt>
              </c:numCache>
            </c:numRef>
          </c:val>
          <c:smooth val="0"/>
        </c:ser>
        <c:ser>
          <c:idx val="1"/>
          <c:order val="1"/>
          <c:tx>
            <c:strRef>
              <c:f>Sheet1!$C$1</c:f>
              <c:strCache>
                <c:ptCount val="1"/>
                <c:pt idx="0">
                  <c:v>n log₂ n</c:v>
                </c:pt>
              </c:strCache>
            </c:strRef>
          </c:tx>
          <c:spPr>
            <a:solidFill>
              <a:srgbClr val="2EC4B6"/>
            </a:solidFill>
            <a:ln w="3810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C4B6"/>
              </a:solidFill>
              <a:ln w="9525" cap="flat">
                <a:solidFill>
                  <a:srgbClr val="2EC4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0</c:v>
                </c:pt>
                <c:pt idx="1">
                  <c:v>2</c:v>
                </c:pt>
                <c:pt idx="2">
                  <c:v>4.8</c:v>
                </c:pt>
                <c:pt idx="3">
                  <c:v>8</c:v>
                </c:pt>
                <c:pt idx="4">
                  <c:v>11.6</c:v>
                </c:pt>
                <c:pt idx="5">
                  <c:v>15.5</c:v>
                </c:pt>
                <c:pt idx="6">
                  <c:v>19.7</c:v>
                </c:pt>
                <c:pt idx="7">
                  <c:v>24</c:v>
                </c:pt>
                <c:pt idx="8">
                  <c:v>28.5</c:v>
                </c:pt>
                <c:pt idx="9">
                  <c:v>33.2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3C5A7D"/>
                    </a:solidFill>
                    <a:latin typeface="+mn-lt"/>
                  </a:defRPr>
                </a:pPr>
                <a:r>
                  <a:rPr sz="1100" b="0" i="0" u="none" strike="noStrike">
                    <a:solidFill>
                      <a:srgbClr val="3C5A7D"/>
                    </a:solidFill>
                    <a:latin typeface="+mn-lt"/>
                  </a:rPr>
                  <a:t>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C5A7D"/>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E6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C5A7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4213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and welcome to this lesson on Merge Sort. Prepared by Soham Samudra, PRN 25070521092, Semester III, Section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is a fundamental problem. Merge Sort follows the Divide and Conquer approach and was invented by John von Neumann in 1945.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Sort works in three stages. Divide: split at the middle index. Conquer: recursively sort both halves; a single element is already sorted. Combine: merge two sorted halves by comparing front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trace the array 38, 27, 43, 3, 9, 82, 10, 15. It has eight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array is split at the middle into two halves of four, each half is split again into pairs, and one more split leaves eight single elements. Three splits, log base 2 of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element is trivially sorted, so dividing stops here. That is the base case of the recursion.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 phase, bottom up. Compare 38 with 27: 27 is smaller, so the pair is 27, 38. Compare 43 with 3: 3 is smaller, so 3, 43. 9 and 82 are already in order, and so are 10 and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27,38 with 3,43: 3, then 27, then 38, then copy 43 giving 3,27,38,43. Merge 9,82 with 10,15: 9, 10, 15, then copy 82 giving 9,10,15,82.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merge 3,27,38,43 with 9,10,15,82. 3 then 9, 10, 15, then 27, 38, 43, and finally copy 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array is now fully sorted: 3, 9, 10, 15, 27, 38, 43, 82, through three levels of merging.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MERGE_SORT checks low &lt; high. When it fails the subarray has at most one element, the base case, and the function returns. Otherwise it computes mid and makes two recursive calls, then MERGE combines the sorted halves. Using &lt;= in MERGE keeps equal elements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level of recursion merges all n elements, so each level costs order n. There are about log base 2 of n levels. The recurrence T(n) = 2T(n/2) + n solves to O(n log n), in the best, average and worst case. For 8 elements that is about 24 operations compared with 64 for a quadratic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merge step needs temporary arrays for the two halves, so auxiliary space is O(n); the recursion stack adds O(log n). Merge Sort is stable: with 5a and 5b equal, ties are taken from the left half first, so 5a stays before 5b.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guaranteed O(n log n) time, stable, good for linked lists and external sorting, easy to parallelise. Limitations: O(n) extra memory, not in-place, overhead on tiny arrays. Hybrids such as Timsort build on merge sort.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chemeClr val="bg2"/>
          </a:solidFill>
          <a:ln/>
        </p:spPr>
      </p:sp>
      <p:sp>
        <p:nvSpPr>
          <p:cNvPr id="3" name="Text 1"/>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tx2"/>
                </a:solidFill>
              </a:rPr>
              <a:t>Merge Sort  ·  Data Structures and Algorithms (DAA)  ·  Soham Samudra  ·  PRN 25070521092</a:t>
            </a:r>
            <a:endParaRPr lang="en-US" sz="1000" dirty="0"/>
          </a:p>
        </p:txBody>
      </p:sp>
      <p:sp>
        <p:nvSpPr>
          <p:cNvPr id="4" name="Text 2"/>
          <p:cNvSpPr/>
          <p:nvPr>
            <p:ph idx="102" type="title" hasCustomPrompt="1"/>
          </p:nvPr>
        </p:nvSpPr>
        <p:spPr>
          <a:xfrm>
            <a:off x="548640" y="566928"/>
            <a:ext cx="11091672" cy="73152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oft circle 1"/>
          <p:cNvSpPr/>
          <p:nvPr/>
        </p:nvSpPr>
        <p:spPr>
          <a:xfrm>
            <a:off x="7589520" y="-1097280"/>
            <a:ext cx="5852160" cy="5852160"/>
          </a:xfrm>
          <a:prstGeom prst="ellipse">
            <a:avLst/>
          </a:prstGeom>
          <a:solidFill>
            <a:schemeClr val="accent5">
              <a:alpha val="65000"/>
            </a:schemeClr>
          </a:solidFill>
          <a:ln/>
        </p:spPr>
      </p:sp>
      <p:sp>
        <p:nvSpPr>
          <p:cNvPr id="3" name="Soft circle 2"/>
          <p:cNvSpPr/>
          <p:nvPr/>
        </p:nvSpPr>
        <p:spPr>
          <a:xfrm>
            <a:off x="6126480" y="3108960"/>
            <a:ext cx="4206240" cy="4206240"/>
          </a:xfrm>
          <a:prstGeom prst="ellipse">
            <a:avLst/>
          </a:prstGeom>
          <a:solidFill>
            <a:schemeClr val="accent6">
              <a:alpha val="70000"/>
            </a:schemeClr>
          </a:solidFill>
          <a:ln/>
        </p:spPr>
      </p:sp>
      <p:sp>
        <p:nvSpPr>
          <p:cNvPr id="4" name="Course label"/>
          <p:cNvSpPr txBox="1"/>
          <p:nvPr/>
        </p:nvSpPr>
        <p:spPr>
          <a:xfrm>
            <a:off x="731520" y="822960"/>
            <a:ext cx="5943600" cy="320040"/>
          </a:xfrm>
          <a:prstGeom prst="rect">
            <a:avLst/>
          </a:prstGeom>
          <a:noFill/>
          <a:ln/>
        </p:spPr>
        <p:txBody>
          <a:bodyPr wrap="square" lIns="0" tIns="0" rIns="0" bIns="0" rtlCol="0" anchor="t"/>
          <a:lstStyle/>
          <a:p>
            <a:pPr indent="0" marL="0">
              <a:buNone/>
            </a:pPr>
            <a:r>
              <a:rPr lang="en-US" sz="1300" b="1" spc="300" kern="0" dirty="0">
                <a:solidFill>
                  <a:schemeClr val="tx2"/>
                </a:solidFill>
              </a:rPr>
              <a:t>DATA STRUCTURES AND ALGORITHMS  ·  DAA</a:t>
            </a:r>
            <a:endParaRPr lang="en-US" sz="1300" dirty="0"/>
          </a:p>
        </p:txBody>
      </p:sp>
      <p:sp>
        <p:nvSpPr>
          <p:cNvPr id="5" name="Main title"/>
          <p:cNvSpPr txBox="1"/>
          <p:nvPr/>
        </p:nvSpPr>
        <p:spPr>
          <a:xfrm>
            <a:off x="731520" y="1325880"/>
            <a:ext cx="6035040" cy="1188720"/>
          </a:xfrm>
          <a:prstGeom prst="rect">
            <a:avLst/>
          </a:prstGeom>
          <a:noFill/>
          <a:ln/>
        </p:spPr>
        <p:txBody>
          <a:bodyPr wrap="square" lIns="0" tIns="0" rIns="0" bIns="0" rtlCol="0" anchor="ctr"/>
          <a:lstStyle/>
          <a:p>
            <a:pPr indent="0" marL="0">
              <a:buNone/>
            </a:pPr>
            <a:r>
              <a:rPr lang="en-US" sz="6800" b="1" dirty="0">
                <a:solidFill>
                  <a:schemeClr val="tx1"/>
                </a:solidFill>
                <a:latin typeface="Cambria" pitchFamily="34" charset="0"/>
                <a:ea typeface="Cambria" pitchFamily="34" charset="-122"/>
                <a:cs typeface="Cambria" pitchFamily="34" charset="-120"/>
              </a:rPr>
              <a:t>Merge Sort</a:t>
            </a:r>
            <a:endParaRPr lang="en-US" sz="6800" dirty="0"/>
          </a:p>
        </p:txBody>
      </p:sp>
      <p:sp>
        <p:nvSpPr>
          <p:cNvPr id="6" name="Subtitle"/>
          <p:cNvSpPr txBox="1"/>
          <p:nvPr/>
        </p:nvSpPr>
        <p:spPr>
          <a:xfrm>
            <a:off x="731520" y="2560320"/>
            <a:ext cx="6035040" cy="548640"/>
          </a:xfrm>
          <a:prstGeom prst="rect">
            <a:avLst/>
          </a:prstGeom>
          <a:noFill/>
          <a:ln/>
        </p:spPr>
        <p:txBody>
          <a:bodyPr wrap="square" lIns="0" tIns="0" rIns="0" bIns="0" rtlCol="0" anchor="ctr"/>
          <a:lstStyle/>
          <a:p>
            <a:pPr indent="0" marL="0">
              <a:buNone/>
            </a:pPr>
            <a:r>
              <a:rPr lang="en-US" sz="2800" dirty="0">
                <a:solidFill>
                  <a:schemeClr val="tx2"/>
                </a:solidFill>
              </a:rPr>
              <a:t>Divide, Sort and Merge</a:t>
            </a:r>
            <a:endParaRPr lang="en-US" sz="2800" dirty="0"/>
          </a:p>
        </p:txBody>
      </p:sp>
      <p:sp>
        <p:nvSpPr>
          <p:cNvPr id="7" name="Student details card"/>
          <p:cNvSpPr/>
          <p:nvPr/>
        </p:nvSpPr>
        <p:spPr>
          <a:xfrm>
            <a:off x="731520" y="3840480"/>
            <a:ext cx="5669280" cy="1874520"/>
          </a:xfrm>
          <a:prstGeom prst="roundRect">
            <a:avLst>
              <a:gd name="adj" fmla="val 5854"/>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8" name="Student name"/>
          <p:cNvSpPr txBox="1"/>
          <p:nvPr/>
        </p:nvSpPr>
        <p:spPr>
          <a:xfrm>
            <a:off x="1051560" y="4069080"/>
            <a:ext cx="5029200" cy="45720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Soham Samudra</a:t>
            </a:r>
            <a:endParaRPr lang="en-US" sz="2600" dirty="0"/>
          </a:p>
        </p:txBody>
      </p:sp>
      <p:sp>
        <p:nvSpPr>
          <p:cNvPr id="9" name="Student details"/>
          <p:cNvSpPr txBox="1"/>
          <p:nvPr/>
        </p:nvSpPr>
        <p:spPr>
          <a:xfrm>
            <a:off x="1051560" y="4663440"/>
            <a:ext cx="5120640" cy="365760"/>
          </a:xfrm>
          <a:prstGeom prst="rect">
            <a:avLst/>
          </a:prstGeom>
          <a:noFill/>
          <a:ln/>
        </p:spPr>
        <p:txBody>
          <a:bodyPr wrap="square" lIns="0" tIns="0" rIns="0" bIns="0" rtlCol="0" anchor="t"/>
          <a:lstStyle/>
          <a:p>
            <a:pPr indent="0" marL="0">
              <a:buNone/>
            </a:pPr>
            <a:r>
              <a:rPr lang="en-US" sz="1600" b="1" dirty="0">
                <a:solidFill>
                  <a:schemeClr val="tx2"/>
                </a:solidFill>
              </a:rPr>
              <a:t>PRN: </a:t>
            </a:r>
            <a:pPr indent="0" marL="0">
              <a:buNone/>
            </a:pPr>
            <a:r>
              <a:rPr lang="en-US" sz="1600" dirty="0">
                <a:solidFill>
                  <a:schemeClr val="tx2"/>
                </a:solidFill>
              </a:rPr>
              <a:t>25070521092     </a:t>
            </a:r>
            <a:pPr indent="0" marL="0">
              <a:buNone/>
            </a:pPr>
            <a:r>
              <a:rPr lang="en-US" sz="1600" b="1" dirty="0">
                <a:solidFill>
                  <a:schemeClr val="tx2"/>
                </a:solidFill>
              </a:rPr>
              <a:t>Semester: </a:t>
            </a:r>
            <a:pPr indent="0" marL="0">
              <a:buNone/>
            </a:pPr>
            <a:r>
              <a:rPr lang="en-US" sz="1600" dirty="0">
                <a:solidFill>
                  <a:schemeClr val="tx2"/>
                </a:solidFill>
              </a:rPr>
              <a:t>III     </a:t>
            </a:r>
            <a:pPr indent="0" marL="0">
              <a:buNone/>
            </a:pPr>
            <a:r>
              <a:rPr lang="en-US" sz="1600" b="1" dirty="0">
                <a:solidFill>
                  <a:schemeClr val="tx2"/>
                </a:solidFill>
              </a:rPr>
              <a:t>Section: </a:t>
            </a:r>
            <a:pPr indent="0" marL="0">
              <a:buNone/>
            </a:pPr>
            <a:r>
              <a:rPr lang="en-US" sz="1600" dirty="0">
                <a:solidFill>
                  <a:schemeClr val="tx2"/>
                </a:solidFill>
              </a:rPr>
              <a:t>B</a:t>
            </a:r>
            <a:endParaRPr lang="en-US" sz="1600" dirty="0"/>
          </a:p>
        </p:txBody>
      </p:sp>
      <p:sp>
        <p:nvSpPr>
          <p:cNvPr id="10" name="Subject"/>
          <p:cNvSpPr txBox="1"/>
          <p:nvPr/>
        </p:nvSpPr>
        <p:spPr>
          <a:xfrm>
            <a:off x="1051560" y="5120640"/>
            <a:ext cx="5120640" cy="365760"/>
          </a:xfrm>
          <a:prstGeom prst="rect">
            <a:avLst/>
          </a:prstGeom>
          <a:noFill/>
          <a:ln/>
        </p:spPr>
        <p:txBody>
          <a:bodyPr wrap="square" lIns="0" tIns="0" rIns="0" bIns="0" rtlCol="0" anchor="t"/>
          <a:lstStyle/>
          <a:p>
            <a:pPr indent="0" marL="0">
              <a:buNone/>
            </a:pPr>
            <a:r>
              <a:rPr lang="en-US" sz="1600" b="1" dirty="0">
                <a:solidFill>
                  <a:schemeClr val="tx2"/>
                </a:solidFill>
              </a:rPr>
              <a:t>Subject: </a:t>
            </a:r>
            <a:pPr indent="0" marL="0">
              <a:buNone/>
            </a:pPr>
            <a:r>
              <a:rPr lang="en-US" sz="1600" dirty="0">
                <a:solidFill>
                  <a:schemeClr val="tx2"/>
                </a:solidFill>
              </a:rPr>
              <a:t>Data Structures and Algorithms (DAA)</a:t>
            </a:r>
            <a:endParaRPr lang="en-US" sz="1600" dirty="0"/>
          </a:p>
        </p:txBody>
      </p:sp>
      <p:sp>
        <p:nvSpPr>
          <p:cNvPr id="11" name="Label"/>
          <p:cNvSpPr txBox="1"/>
          <p:nvPr/>
        </p:nvSpPr>
        <p:spPr>
          <a:xfrm>
            <a:off x="6903720" y="1417320"/>
            <a:ext cx="2743200" cy="274320"/>
          </a:xfrm>
          <a:prstGeom prst="rect">
            <a:avLst/>
          </a:prstGeom>
          <a:noFill/>
          <a:ln/>
        </p:spPr>
        <p:txBody>
          <a:bodyPr wrap="square" lIns="0" tIns="0" rIns="0" bIns="0" rtlCol="0" anchor="t"/>
          <a:lstStyle/>
          <a:p>
            <a:pPr indent="0" marL="0">
              <a:buNone/>
            </a:pPr>
            <a:r>
              <a:rPr lang="en-US" sz="1200" b="1" spc="200" kern="0" dirty="0">
                <a:solidFill>
                  <a:schemeClr val="tx2"/>
                </a:solidFill>
              </a:rPr>
              <a:t>UNSORTED</a:t>
            </a:r>
            <a:endParaRPr lang="en-US" sz="1200" dirty="0"/>
          </a:p>
        </p:txBody>
      </p:sp>
      <p:sp>
        <p:nvSpPr>
          <p:cNvPr id="12" name="Array cell"/>
          <p:cNvSpPr txBox="1"/>
          <p:nvPr/>
        </p:nvSpPr>
        <p:spPr>
          <a:xfrm>
            <a:off x="6903720" y="1737360"/>
            <a:ext cx="530352" cy="566928"/>
          </a:xfrm>
          <a:prstGeom prst="roundRect">
            <a:avLst>
              <a:gd name="adj" fmla="val 1034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600" b="1" dirty="0">
                <a:solidFill>
                  <a:schemeClr val="tx1"/>
                </a:solidFill>
              </a:rPr>
              <a:t>38</a:t>
            </a:r>
            <a:endParaRPr lang="en-US" sz="1600" dirty="0"/>
          </a:p>
        </p:txBody>
      </p:sp>
      <p:sp>
        <p:nvSpPr>
          <p:cNvPr id="13" name="Array cell"/>
          <p:cNvSpPr txBox="1"/>
          <p:nvPr/>
        </p:nvSpPr>
        <p:spPr>
          <a:xfrm>
            <a:off x="7488936" y="1737360"/>
            <a:ext cx="530352" cy="566928"/>
          </a:xfrm>
          <a:prstGeom prst="roundRect">
            <a:avLst>
              <a:gd name="adj" fmla="val 1034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600" b="1" dirty="0">
                <a:solidFill>
                  <a:schemeClr val="tx1"/>
                </a:solidFill>
              </a:rPr>
              <a:t>27</a:t>
            </a:r>
            <a:endParaRPr lang="en-US" sz="1600" dirty="0"/>
          </a:p>
        </p:txBody>
      </p:sp>
      <p:sp>
        <p:nvSpPr>
          <p:cNvPr id="14" name="Array cell"/>
          <p:cNvSpPr txBox="1"/>
          <p:nvPr/>
        </p:nvSpPr>
        <p:spPr>
          <a:xfrm>
            <a:off x="8074152" y="1737360"/>
            <a:ext cx="530352" cy="566928"/>
          </a:xfrm>
          <a:prstGeom prst="roundRect">
            <a:avLst>
              <a:gd name="adj" fmla="val 1034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600" b="1" dirty="0">
                <a:solidFill>
                  <a:schemeClr val="tx1"/>
                </a:solidFill>
              </a:rPr>
              <a:t>43</a:t>
            </a:r>
            <a:endParaRPr lang="en-US" sz="1600" dirty="0"/>
          </a:p>
        </p:txBody>
      </p:sp>
      <p:sp>
        <p:nvSpPr>
          <p:cNvPr id="15" name="Array cell"/>
          <p:cNvSpPr txBox="1"/>
          <p:nvPr/>
        </p:nvSpPr>
        <p:spPr>
          <a:xfrm>
            <a:off x="8659368" y="1737360"/>
            <a:ext cx="530352" cy="566928"/>
          </a:xfrm>
          <a:prstGeom prst="roundRect">
            <a:avLst>
              <a:gd name="adj" fmla="val 1034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Array cell"/>
          <p:cNvSpPr txBox="1"/>
          <p:nvPr/>
        </p:nvSpPr>
        <p:spPr>
          <a:xfrm>
            <a:off x="9244584" y="1737360"/>
            <a:ext cx="530352" cy="566928"/>
          </a:xfrm>
          <a:prstGeom prst="roundRect">
            <a:avLst>
              <a:gd name="adj" fmla="val 1034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600" b="1" dirty="0">
                <a:solidFill>
                  <a:schemeClr val="tx1"/>
                </a:solidFill>
              </a:rPr>
              <a:t>9</a:t>
            </a:r>
            <a:endParaRPr lang="en-US" sz="1600" dirty="0"/>
          </a:p>
        </p:txBody>
      </p:sp>
      <p:sp>
        <p:nvSpPr>
          <p:cNvPr id="17" name="Array cell"/>
          <p:cNvSpPr txBox="1"/>
          <p:nvPr/>
        </p:nvSpPr>
        <p:spPr>
          <a:xfrm>
            <a:off x="9829800" y="1737360"/>
            <a:ext cx="530352" cy="566928"/>
          </a:xfrm>
          <a:prstGeom prst="roundRect">
            <a:avLst>
              <a:gd name="adj" fmla="val 1034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600" b="1" dirty="0">
                <a:solidFill>
                  <a:schemeClr val="tx1"/>
                </a:solidFill>
              </a:rPr>
              <a:t>82</a:t>
            </a:r>
            <a:endParaRPr lang="en-US" sz="1600" dirty="0"/>
          </a:p>
        </p:txBody>
      </p:sp>
      <p:sp>
        <p:nvSpPr>
          <p:cNvPr id="18" name="Array cell"/>
          <p:cNvSpPr txBox="1"/>
          <p:nvPr/>
        </p:nvSpPr>
        <p:spPr>
          <a:xfrm>
            <a:off x="10415016" y="1737360"/>
            <a:ext cx="530352" cy="566928"/>
          </a:xfrm>
          <a:prstGeom prst="roundRect">
            <a:avLst>
              <a:gd name="adj" fmla="val 1034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600" b="1" dirty="0">
                <a:solidFill>
                  <a:schemeClr val="tx1"/>
                </a:solidFill>
              </a:rPr>
              <a:t>10</a:t>
            </a:r>
            <a:endParaRPr lang="en-US" sz="1600" dirty="0"/>
          </a:p>
        </p:txBody>
      </p:sp>
      <p:sp>
        <p:nvSpPr>
          <p:cNvPr id="19" name="Array cell"/>
          <p:cNvSpPr txBox="1"/>
          <p:nvPr/>
        </p:nvSpPr>
        <p:spPr>
          <a:xfrm>
            <a:off x="11000232" y="1737360"/>
            <a:ext cx="530352" cy="566928"/>
          </a:xfrm>
          <a:prstGeom prst="roundRect">
            <a:avLst>
              <a:gd name="adj" fmla="val 1034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600" b="1" dirty="0">
                <a:solidFill>
                  <a:schemeClr val="tx1"/>
                </a:solidFill>
              </a:rPr>
              <a:t>15</a:t>
            </a:r>
            <a:endParaRPr lang="en-US" sz="1600" dirty="0"/>
          </a:p>
        </p:txBody>
      </p:sp>
      <p:sp>
        <p:nvSpPr>
          <p:cNvPr id="20" name="Arrow"/>
          <p:cNvSpPr/>
          <p:nvPr/>
        </p:nvSpPr>
        <p:spPr>
          <a:xfrm>
            <a:off x="8823960" y="2560320"/>
            <a:ext cx="548640" cy="822960"/>
          </a:xfrm>
          <a:prstGeom prst="downArrow">
            <a:avLst/>
          </a:prstGeom>
          <a:solidFill>
            <a:schemeClr val="accent3"/>
          </a:solidFill>
          <a:ln/>
        </p:spPr>
      </p:sp>
      <p:sp>
        <p:nvSpPr>
          <p:cNvPr id="21" name="Arrow label"/>
          <p:cNvSpPr txBox="1"/>
          <p:nvPr/>
        </p:nvSpPr>
        <p:spPr>
          <a:xfrm>
            <a:off x="9509760" y="2788920"/>
            <a:ext cx="2011680" cy="365760"/>
          </a:xfrm>
          <a:prstGeom prst="rect">
            <a:avLst/>
          </a:prstGeom>
          <a:noFill/>
          <a:ln/>
        </p:spPr>
        <p:txBody>
          <a:bodyPr wrap="square" lIns="0" tIns="0" rIns="0" bIns="0" rtlCol="0" anchor="t"/>
          <a:lstStyle/>
          <a:p>
            <a:pPr indent="0" marL="0">
              <a:buNone/>
            </a:pPr>
            <a:r>
              <a:rPr lang="en-US" sz="1800" i="1" dirty="0">
                <a:solidFill>
                  <a:schemeClr val="tx2"/>
                </a:solidFill>
              </a:rPr>
              <a:t>merge sort</a:t>
            </a:r>
            <a:endParaRPr lang="en-US" sz="1800" dirty="0"/>
          </a:p>
        </p:txBody>
      </p:sp>
      <p:sp>
        <p:nvSpPr>
          <p:cNvPr id="22" name="Label"/>
          <p:cNvSpPr txBox="1"/>
          <p:nvPr/>
        </p:nvSpPr>
        <p:spPr>
          <a:xfrm>
            <a:off x="6903720" y="3611880"/>
            <a:ext cx="2743200" cy="274320"/>
          </a:xfrm>
          <a:prstGeom prst="rect">
            <a:avLst/>
          </a:prstGeom>
          <a:noFill/>
          <a:ln/>
        </p:spPr>
        <p:txBody>
          <a:bodyPr wrap="square" lIns="0" tIns="0" rIns="0" bIns="0" rtlCol="0" anchor="t"/>
          <a:lstStyle/>
          <a:p>
            <a:pPr indent="0" marL="0">
              <a:buNone/>
            </a:pPr>
            <a:r>
              <a:rPr lang="en-US" sz="1200" b="1" spc="200" kern="0" dirty="0">
                <a:solidFill>
                  <a:schemeClr val="tx2"/>
                </a:solidFill>
              </a:rPr>
              <a:t>SORTED</a:t>
            </a:r>
            <a:endParaRPr lang="en-US" sz="1200" dirty="0"/>
          </a:p>
        </p:txBody>
      </p:sp>
      <p:sp>
        <p:nvSpPr>
          <p:cNvPr id="23" name="Array cell"/>
          <p:cNvSpPr txBox="1"/>
          <p:nvPr/>
        </p:nvSpPr>
        <p:spPr>
          <a:xfrm>
            <a:off x="6903720" y="3931920"/>
            <a:ext cx="530352" cy="566928"/>
          </a:xfrm>
          <a:prstGeom prst="roundRect">
            <a:avLst>
              <a:gd name="adj" fmla="val 10345"/>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4" name="Array cell"/>
          <p:cNvSpPr txBox="1"/>
          <p:nvPr/>
        </p:nvSpPr>
        <p:spPr>
          <a:xfrm>
            <a:off x="7488936" y="3931920"/>
            <a:ext cx="530352" cy="566928"/>
          </a:xfrm>
          <a:prstGeom prst="roundRect">
            <a:avLst>
              <a:gd name="adj" fmla="val 10345"/>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600" b="1" dirty="0">
                <a:solidFill>
                  <a:schemeClr val="tx1"/>
                </a:solidFill>
              </a:rPr>
              <a:t>9</a:t>
            </a:r>
            <a:endParaRPr lang="en-US" sz="1600" dirty="0"/>
          </a:p>
        </p:txBody>
      </p:sp>
      <p:sp>
        <p:nvSpPr>
          <p:cNvPr id="25" name="Array cell"/>
          <p:cNvSpPr txBox="1"/>
          <p:nvPr/>
        </p:nvSpPr>
        <p:spPr>
          <a:xfrm>
            <a:off x="8074152" y="3931920"/>
            <a:ext cx="530352" cy="566928"/>
          </a:xfrm>
          <a:prstGeom prst="roundRect">
            <a:avLst>
              <a:gd name="adj" fmla="val 10345"/>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600" b="1" dirty="0">
                <a:solidFill>
                  <a:schemeClr val="tx1"/>
                </a:solidFill>
              </a:rPr>
              <a:t>10</a:t>
            </a:r>
            <a:endParaRPr lang="en-US" sz="1600" dirty="0"/>
          </a:p>
        </p:txBody>
      </p:sp>
      <p:sp>
        <p:nvSpPr>
          <p:cNvPr id="26" name="Array cell"/>
          <p:cNvSpPr txBox="1"/>
          <p:nvPr/>
        </p:nvSpPr>
        <p:spPr>
          <a:xfrm>
            <a:off x="8659368" y="3931920"/>
            <a:ext cx="530352" cy="566928"/>
          </a:xfrm>
          <a:prstGeom prst="roundRect">
            <a:avLst>
              <a:gd name="adj" fmla="val 10345"/>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600" b="1" dirty="0">
                <a:solidFill>
                  <a:schemeClr val="tx1"/>
                </a:solidFill>
              </a:rPr>
              <a:t>15</a:t>
            </a:r>
            <a:endParaRPr lang="en-US" sz="1600" dirty="0"/>
          </a:p>
        </p:txBody>
      </p:sp>
      <p:sp>
        <p:nvSpPr>
          <p:cNvPr id="27" name="Array cell"/>
          <p:cNvSpPr txBox="1"/>
          <p:nvPr/>
        </p:nvSpPr>
        <p:spPr>
          <a:xfrm>
            <a:off x="9244584" y="3931920"/>
            <a:ext cx="530352" cy="566928"/>
          </a:xfrm>
          <a:prstGeom prst="roundRect">
            <a:avLst>
              <a:gd name="adj" fmla="val 10345"/>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600" b="1" dirty="0">
                <a:solidFill>
                  <a:schemeClr val="tx1"/>
                </a:solidFill>
              </a:rPr>
              <a:t>27</a:t>
            </a:r>
            <a:endParaRPr lang="en-US" sz="1600" dirty="0"/>
          </a:p>
        </p:txBody>
      </p:sp>
      <p:sp>
        <p:nvSpPr>
          <p:cNvPr id="28" name="Array cell"/>
          <p:cNvSpPr txBox="1"/>
          <p:nvPr/>
        </p:nvSpPr>
        <p:spPr>
          <a:xfrm>
            <a:off x="9829800" y="3931920"/>
            <a:ext cx="530352" cy="566928"/>
          </a:xfrm>
          <a:prstGeom prst="roundRect">
            <a:avLst>
              <a:gd name="adj" fmla="val 10345"/>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600" b="1" dirty="0">
                <a:solidFill>
                  <a:schemeClr val="tx1"/>
                </a:solidFill>
              </a:rPr>
              <a:t>38</a:t>
            </a:r>
            <a:endParaRPr lang="en-US" sz="1600" dirty="0"/>
          </a:p>
        </p:txBody>
      </p:sp>
      <p:sp>
        <p:nvSpPr>
          <p:cNvPr id="29" name="Array cell"/>
          <p:cNvSpPr txBox="1"/>
          <p:nvPr/>
        </p:nvSpPr>
        <p:spPr>
          <a:xfrm>
            <a:off x="10415016" y="3931920"/>
            <a:ext cx="530352" cy="566928"/>
          </a:xfrm>
          <a:prstGeom prst="roundRect">
            <a:avLst>
              <a:gd name="adj" fmla="val 10345"/>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600" b="1" dirty="0">
                <a:solidFill>
                  <a:schemeClr val="tx1"/>
                </a:solidFill>
              </a:rPr>
              <a:t>43</a:t>
            </a:r>
            <a:endParaRPr lang="en-US" sz="1600" dirty="0"/>
          </a:p>
        </p:txBody>
      </p:sp>
      <p:sp>
        <p:nvSpPr>
          <p:cNvPr id="30" name="Array cell"/>
          <p:cNvSpPr txBox="1"/>
          <p:nvPr/>
        </p:nvSpPr>
        <p:spPr>
          <a:xfrm>
            <a:off x="11000232" y="3931920"/>
            <a:ext cx="530352" cy="566928"/>
          </a:xfrm>
          <a:prstGeom prst="roundRect">
            <a:avLst>
              <a:gd name="adj" fmla="val 10345"/>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600" b="1" dirty="0">
                <a:solidFill>
                  <a:schemeClr val="tx1"/>
                </a:solidFill>
              </a:rPr>
              <a:t>82</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t"/>
          <a:lstStyle/>
          <a:p>
            <a:pPr indent="0" marL="0">
              <a:buNone/>
            </a:pPr>
            <a:r>
              <a:rPr lang="en-US" sz="1200" b="1" spc="300" kern="0" dirty="0">
                <a:solidFill>
                  <a:schemeClr val="tx2"/>
                </a:solidFill>
              </a:rPr>
              <a:t>INTRODUCTION</a:t>
            </a:r>
            <a:endParaRPr lang="en-US" sz="1200" dirty="0"/>
          </a:p>
        </p:txBody>
      </p:sp>
      <p:sp>
        <p:nvSpPr>
          <p:cNvPr id="3" name="Text 2"/>
          <p:cNvSpPr/>
          <p:nvPr>
            <p:ph idx="102"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What Is Merge Sort?</a:t>
            </a:r>
            <a:endParaRPr lang="en-US" sz="3400" dirty="0"/>
          </a:p>
        </p:txBody>
      </p:sp>
      <p:sp>
        <p:nvSpPr>
          <p:cNvPr id="5" name="Definition card"/>
          <p:cNvSpPr/>
          <p:nvPr/>
        </p:nvSpPr>
        <p:spPr>
          <a:xfrm>
            <a:off x="548640" y="1508760"/>
            <a:ext cx="5120640" cy="4343400"/>
          </a:xfrm>
          <a:prstGeom prst="roundRect">
            <a:avLst>
              <a:gd name="adj" fmla="val 2526"/>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6" name="Text 3"/>
          <p:cNvSpPr txBox="1"/>
          <p:nvPr/>
        </p:nvSpPr>
        <p:spPr>
          <a:xfrm>
            <a:off x="914400" y="1828800"/>
            <a:ext cx="4389120" cy="274320"/>
          </a:xfrm>
          <a:prstGeom prst="rect">
            <a:avLst/>
          </a:prstGeom>
          <a:noFill/>
          <a:ln/>
        </p:spPr>
        <p:txBody>
          <a:bodyPr wrap="square" lIns="0" tIns="0" rIns="0" bIns="0" rtlCol="0" anchor="t"/>
          <a:lstStyle/>
          <a:p>
            <a:pPr indent="0" marL="0">
              <a:buNone/>
            </a:pPr>
            <a:r>
              <a:rPr lang="en-US" sz="1200" b="1" spc="200" kern="0" dirty="0">
                <a:solidFill>
                  <a:schemeClr val="tx2"/>
                </a:solidFill>
              </a:rPr>
              <a:t>IN ONE SENTENCE</a:t>
            </a:r>
            <a:endParaRPr lang="en-US" sz="1200" dirty="0"/>
          </a:p>
        </p:txBody>
      </p:sp>
      <p:sp>
        <p:nvSpPr>
          <p:cNvPr id="7" name="Definition"/>
          <p:cNvSpPr txBox="1"/>
          <p:nvPr/>
        </p:nvSpPr>
        <p:spPr>
          <a:xfrm>
            <a:off x="914400" y="2240280"/>
            <a:ext cx="4389120" cy="2194560"/>
          </a:xfrm>
          <a:prstGeom prst="rect">
            <a:avLst/>
          </a:prstGeom>
          <a:noFill/>
          <a:ln/>
        </p:spPr>
        <p:txBody>
          <a:bodyPr wrap="square" lIns="0" tIns="0" rIns="0" bIns="0" rtlCol="0" anchor="t"/>
          <a:lstStyle/>
          <a:p>
            <a:pPr indent="0" marL="0">
              <a:buNone/>
            </a:pPr>
            <a:r>
              <a:rPr lang="en-US" sz="2600" dirty="0">
                <a:solidFill>
                  <a:schemeClr val="tx1"/>
                </a:solidFill>
                <a:latin typeface="Cambria" pitchFamily="34" charset="0"/>
                <a:ea typeface="Cambria" pitchFamily="34" charset="-122"/>
                <a:cs typeface="Cambria" pitchFamily="34" charset="-120"/>
              </a:rPr>
              <a:t>Merge Sort splits an array into halves, sorts each half, and merges the halves back in order.</a:t>
            </a:r>
            <a:endParaRPr lang="en-US" sz="2600" dirty="0"/>
          </a:p>
        </p:txBody>
      </p:sp>
      <p:sp>
        <p:nvSpPr>
          <p:cNvPr id="8" name="Definition note"/>
          <p:cNvSpPr txBox="1"/>
          <p:nvPr/>
        </p:nvSpPr>
        <p:spPr>
          <a:xfrm>
            <a:off x="914400" y="4297680"/>
            <a:ext cx="4389120" cy="731520"/>
          </a:xfrm>
          <a:prstGeom prst="rect">
            <a:avLst/>
          </a:prstGeom>
          <a:noFill/>
          <a:ln/>
        </p:spPr>
        <p:txBody>
          <a:bodyPr wrap="square" lIns="0" tIns="0" rIns="0" bIns="0" rtlCol="0" anchor="t"/>
          <a:lstStyle/>
          <a:p>
            <a:pPr indent="0" marL="0">
              <a:buNone/>
            </a:pPr>
            <a:r>
              <a:rPr lang="en-US" sz="1700" dirty="0">
                <a:solidFill>
                  <a:schemeClr val="tx2"/>
                </a:solidFill>
              </a:rPr>
              <a:t>A comparison-based, recursive, divide-and-conquer sorting algorithm.</a:t>
            </a:r>
            <a:endParaRPr lang="en-US" sz="1700" dirty="0"/>
          </a:p>
        </p:txBody>
      </p:sp>
      <p:sp>
        <p:nvSpPr>
          <p:cNvPr id="9" name="Fact card 1"/>
          <p:cNvSpPr/>
          <p:nvPr/>
        </p:nvSpPr>
        <p:spPr>
          <a:xfrm>
            <a:off x="5943600" y="1508760"/>
            <a:ext cx="2779776" cy="2103120"/>
          </a:xfrm>
          <a:prstGeom prst="roundRect">
            <a:avLst>
              <a:gd name="adj" fmla="val 5217"/>
            </a:avLst>
          </a:prstGeom>
          <a:solidFill>
            <a:schemeClr val="accent4"/>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10" name="Text 7"/>
          <p:cNvSpPr txBox="1"/>
          <p:nvPr/>
        </p:nvSpPr>
        <p:spPr>
          <a:xfrm>
            <a:off x="6172200" y="1920240"/>
            <a:ext cx="2331720" cy="73152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3 steps</a:t>
            </a:r>
            <a:endParaRPr lang="en-US" sz="3000" dirty="0"/>
          </a:p>
        </p:txBody>
      </p:sp>
      <p:sp>
        <p:nvSpPr>
          <p:cNvPr id="11" name="Text 8"/>
          <p:cNvSpPr txBox="1"/>
          <p:nvPr/>
        </p:nvSpPr>
        <p:spPr>
          <a:xfrm>
            <a:off x="6172200" y="2788920"/>
            <a:ext cx="2331720" cy="594360"/>
          </a:xfrm>
          <a:prstGeom prst="rect">
            <a:avLst/>
          </a:prstGeom>
          <a:noFill/>
          <a:ln/>
        </p:spPr>
        <p:txBody>
          <a:bodyPr wrap="square" lIns="0" tIns="0" rIns="0" bIns="0" rtlCol="0" anchor="t"/>
          <a:lstStyle/>
          <a:p>
            <a:pPr indent="0" marL="0">
              <a:buNone/>
            </a:pPr>
            <a:r>
              <a:rPr lang="en-US" sz="1500" dirty="0">
                <a:solidFill>
                  <a:schemeClr val="tx2"/>
                </a:solidFill>
              </a:rPr>
              <a:t>Divide, Conquer and Combine</a:t>
            </a:r>
            <a:endParaRPr lang="en-US" sz="1500" dirty="0"/>
          </a:p>
        </p:txBody>
      </p:sp>
      <p:sp>
        <p:nvSpPr>
          <p:cNvPr id="12" name="Fact card 2"/>
          <p:cNvSpPr/>
          <p:nvPr/>
        </p:nvSpPr>
        <p:spPr>
          <a:xfrm>
            <a:off x="8860536" y="1508760"/>
            <a:ext cx="2779776" cy="2103120"/>
          </a:xfrm>
          <a:prstGeom prst="roundRect">
            <a:avLst>
              <a:gd name="adj" fmla="val 5217"/>
            </a:avLst>
          </a:prstGeom>
          <a:solidFill>
            <a:schemeClr val="accent5"/>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13" name="Text 10"/>
          <p:cNvSpPr txBox="1"/>
          <p:nvPr/>
        </p:nvSpPr>
        <p:spPr>
          <a:xfrm>
            <a:off x="9089136" y="1920240"/>
            <a:ext cx="2331720" cy="73152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1945</a:t>
            </a:r>
            <a:endParaRPr lang="en-US" sz="3000" dirty="0"/>
          </a:p>
        </p:txBody>
      </p:sp>
      <p:sp>
        <p:nvSpPr>
          <p:cNvPr id="14" name="Text 11"/>
          <p:cNvSpPr txBox="1"/>
          <p:nvPr/>
        </p:nvSpPr>
        <p:spPr>
          <a:xfrm>
            <a:off x="9089136" y="2788920"/>
            <a:ext cx="2331720" cy="594360"/>
          </a:xfrm>
          <a:prstGeom prst="rect">
            <a:avLst/>
          </a:prstGeom>
          <a:noFill/>
          <a:ln/>
        </p:spPr>
        <p:txBody>
          <a:bodyPr wrap="square" lIns="0" tIns="0" rIns="0" bIns="0" rtlCol="0" anchor="t"/>
          <a:lstStyle/>
          <a:p>
            <a:pPr indent="0" marL="0">
              <a:buNone/>
            </a:pPr>
            <a:r>
              <a:rPr lang="en-US" sz="1500" dirty="0">
                <a:solidFill>
                  <a:schemeClr val="tx2"/>
                </a:solidFill>
              </a:rPr>
              <a:t>Invented by John von Neumann</a:t>
            </a:r>
            <a:endParaRPr lang="en-US" sz="1500" dirty="0"/>
          </a:p>
        </p:txBody>
      </p:sp>
      <p:sp>
        <p:nvSpPr>
          <p:cNvPr id="15" name="Fact card 3"/>
          <p:cNvSpPr/>
          <p:nvPr/>
        </p:nvSpPr>
        <p:spPr>
          <a:xfrm>
            <a:off x="5943600" y="3749040"/>
            <a:ext cx="2779776" cy="2103120"/>
          </a:xfrm>
          <a:prstGeom prst="roundRect">
            <a:avLst>
              <a:gd name="adj" fmla="val 5217"/>
            </a:avLst>
          </a:prstGeom>
          <a:solidFill>
            <a:schemeClr val="accent6"/>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16" name="Text 13"/>
          <p:cNvSpPr txBox="1"/>
          <p:nvPr/>
        </p:nvSpPr>
        <p:spPr>
          <a:xfrm>
            <a:off x="6172200" y="4160520"/>
            <a:ext cx="2331720" cy="73152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O(n log n)</a:t>
            </a:r>
            <a:endParaRPr lang="en-US" sz="3000" dirty="0"/>
          </a:p>
        </p:txBody>
      </p:sp>
      <p:sp>
        <p:nvSpPr>
          <p:cNvPr id="17" name="Text 14"/>
          <p:cNvSpPr txBox="1"/>
          <p:nvPr/>
        </p:nvSpPr>
        <p:spPr>
          <a:xfrm>
            <a:off x="6172200" y="5029200"/>
            <a:ext cx="2331720" cy="594360"/>
          </a:xfrm>
          <a:prstGeom prst="rect">
            <a:avLst/>
          </a:prstGeom>
          <a:noFill/>
          <a:ln/>
        </p:spPr>
        <p:txBody>
          <a:bodyPr wrap="square" lIns="0" tIns="0" rIns="0" bIns="0" rtlCol="0" anchor="t"/>
          <a:lstStyle/>
          <a:p>
            <a:pPr indent="0" marL="0">
              <a:buNone/>
            </a:pPr>
            <a:r>
              <a:rPr lang="en-US" sz="1500" dirty="0">
                <a:solidFill>
                  <a:schemeClr val="tx2"/>
                </a:solidFill>
              </a:rPr>
              <a:t>Same running time in every case</a:t>
            </a:r>
            <a:endParaRPr lang="en-US" sz="1500" dirty="0"/>
          </a:p>
        </p:txBody>
      </p:sp>
      <p:sp>
        <p:nvSpPr>
          <p:cNvPr id="18" name="Fact card 4"/>
          <p:cNvSpPr/>
          <p:nvPr/>
        </p:nvSpPr>
        <p:spPr>
          <a:xfrm>
            <a:off x="8860536" y="3749040"/>
            <a:ext cx="2779776" cy="2103120"/>
          </a:xfrm>
          <a:prstGeom prst="roundRect">
            <a:avLst>
              <a:gd name="adj" fmla="val 5217"/>
            </a:avLst>
          </a:prstGeom>
          <a:solidFill>
            <a:schemeClr val="accent4"/>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19" name="Text 16"/>
          <p:cNvSpPr txBox="1"/>
          <p:nvPr/>
        </p:nvSpPr>
        <p:spPr>
          <a:xfrm>
            <a:off x="9089136" y="4160520"/>
            <a:ext cx="2331720" cy="73152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Stable</a:t>
            </a:r>
            <a:endParaRPr lang="en-US" sz="3000" dirty="0"/>
          </a:p>
        </p:txBody>
      </p:sp>
      <p:sp>
        <p:nvSpPr>
          <p:cNvPr id="20" name="Text 17"/>
          <p:cNvSpPr txBox="1"/>
          <p:nvPr/>
        </p:nvSpPr>
        <p:spPr>
          <a:xfrm>
            <a:off x="9089136" y="5029200"/>
            <a:ext cx="2331720" cy="594360"/>
          </a:xfrm>
          <a:prstGeom prst="rect">
            <a:avLst/>
          </a:prstGeom>
          <a:noFill/>
          <a:ln/>
        </p:spPr>
        <p:txBody>
          <a:bodyPr wrap="square" lIns="0" tIns="0" rIns="0" bIns="0" rtlCol="0" anchor="t"/>
          <a:lstStyle/>
          <a:p>
            <a:pPr indent="0" marL="0">
              <a:buNone/>
            </a:pPr>
            <a:r>
              <a:rPr lang="en-US" sz="1500" dirty="0">
                <a:solidFill>
                  <a:schemeClr val="tx2"/>
                </a:solidFill>
              </a:rPr>
              <a:t>Equal elements keep their order</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t"/>
          <a:lstStyle/>
          <a:p>
            <a:pPr indent="0" marL="0">
              <a:buNone/>
            </a:pPr>
            <a:r>
              <a:rPr lang="en-US" sz="1200" b="1" spc="300" kern="0" dirty="0">
                <a:solidFill>
                  <a:schemeClr val="tx2"/>
                </a:solidFill>
              </a:rPr>
              <a:t>CORE IDEA</a:t>
            </a:r>
            <a:endParaRPr lang="en-US" sz="1200" dirty="0"/>
          </a:p>
        </p:txBody>
      </p:sp>
      <p:sp>
        <p:nvSpPr>
          <p:cNvPr id="3" name="Text 2"/>
          <p:cNvSpPr/>
          <p:nvPr>
            <p:ph idx="102"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Divide, Conquer and Combine</a:t>
            </a:r>
            <a:endParaRPr lang="en-US" sz="3400" dirty="0"/>
          </a:p>
        </p:txBody>
      </p:sp>
      <p:sp>
        <p:nvSpPr>
          <p:cNvPr id="5" name="Stage card 1"/>
          <p:cNvSpPr/>
          <p:nvPr/>
        </p:nvSpPr>
        <p:spPr>
          <a:xfrm>
            <a:off x="566928" y="1508760"/>
            <a:ext cx="3383280" cy="3611880"/>
          </a:xfrm>
          <a:prstGeom prst="roundRect">
            <a:avLst>
              <a:gd name="adj" fmla="val 3243"/>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6" name="Badge"/>
          <p:cNvSpPr txBox="1"/>
          <p:nvPr/>
        </p:nvSpPr>
        <p:spPr>
          <a:xfrm>
            <a:off x="795528" y="1737360"/>
            <a:ext cx="457200" cy="457200"/>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Text 4"/>
          <p:cNvSpPr txBox="1"/>
          <p:nvPr/>
        </p:nvSpPr>
        <p:spPr>
          <a:xfrm>
            <a:off x="1435608" y="1737360"/>
            <a:ext cx="237744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Divide</a:t>
            </a:r>
            <a:endParaRPr lang="en-US" sz="2200" dirty="0"/>
          </a:p>
        </p:txBody>
      </p:sp>
      <p:sp>
        <p:nvSpPr>
          <p:cNvPr id="8" name="Text 5"/>
          <p:cNvSpPr txBox="1"/>
          <p:nvPr/>
        </p:nvSpPr>
        <p:spPr>
          <a:xfrm>
            <a:off x="841248" y="2377440"/>
            <a:ext cx="2834640" cy="548640"/>
          </a:xfrm>
          <a:prstGeom prst="rect">
            <a:avLst/>
          </a:prstGeom>
          <a:noFill/>
          <a:ln/>
        </p:spPr>
        <p:txBody>
          <a:bodyPr wrap="square" lIns="0" tIns="0" rIns="0" bIns="0" rtlCol="0" anchor="t"/>
          <a:lstStyle/>
          <a:p>
            <a:pPr indent="0" marL="0">
              <a:buNone/>
            </a:pPr>
            <a:r>
              <a:rPr lang="en-US" sz="1500" dirty="0">
                <a:solidFill>
                  <a:schemeClr val="tx2"/>
                </a:solidFill>
              </a:rPr>
              <a:t>Split the array at the middle index</a:t>
            </a:r>
            <a:endParaRPr lang="en-US" sz="1500" dirty="0"/>
          </a:p>
        </p:txBody>
      </p:sp>
      <p:sp>
        <p:nvSpPr>
          <p:cNvPr id="9" name="Chevron"/>
          <p:cNvSpPr/>
          <p:nvPr/>
        </p:nvSpPr>
        <p:spPr>
          <a:xfrm>
            <a:off x="4041648" y="3131820"/>
            <a:ext cx="274320" cy="365760"/>
          </a:xfrm>
          <a:prstGeom prst="rightArrow">
            <a:avLst/>
          </a:prstGeom>
          <a:solidFill>
            <a:schemeClr val="accent3"/>
          </a:solidFill>
          <a:ln/>
        </p:spPr>
      </p:sp>
      <p:sp>
        <p:nvSpPr>
          <p:cNvPr id="10" name="Array cell"/>
          <p:cNvSpPr txBox="1"/>
          <p:nvPr/>
        </p:nvSpPr>
        <p:spPr>
          <a:xfrm>
            <a:off x="868680" y="3200400"/>
            <a:ext cx="329184" cy="329184"/>
          </a:xfrm>
          <a:prstGeom prst="roundRect">
            <a:avLst>
              <a:gd name="adj" fmla="val 16667"/>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100" b="1" dirty="0">
                <a:solidFill>
                  <a:schemeClr val="tx1"/>
                </a:solidFill>
              </a:rPr>
              <a:t>38</a:t>
            </a:r>
            <a:endParaRPr lang="en-US" sz="1100" dirty="0"/>
          </a:p>
        </p:txBody>
      </p:sp>
      <p:sp>
        <p:nvSpPr>
          <p:cNvPr id="11" name="Array cell"/>
          <p:cNvSpPr txBox="1"/>
          <p:nvPr/>
        </p:nvSpPr>
        <p:spPr>
          <a:xfrm>
            <a:off x="1216152" y="3200400"/>
            <a:ext cx="329184" cy="329184"/>
          </a:xfrm>
          <a:prstGeom prst="roundRect">
            <a:avLst>
              <a:gd name="adj" fmla="val 16667"/>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100" b="1" dirty="0">
                <a:solidFill>
                  <a:schemeClr val="tx1"/>
                </a:solidFill>
              </a:rPr>
              <a:t>27</a:t>
            </a:r>
            <a:endParaRPr lang="en-US" sz="1100" dirty="0"/>
          </a:p>
        </p:txBody>
      </p:sp>
      <p:sp>
        <p:nvSpPr>
          <p:cNvPr id="12" name="Array cell"/>
          <p:cNvSpPr txBox="1"/>
          <p:nvPr/>
        </p:nvSpPr>
        <p:spPr>
          <a:xfrm>
            <a:off x="1563624" y="3200400"/>
            <a:ext cx="329184" cy="329184"/>
          </a:xfrm>
          <a:prstGeom prst="roundRect">
            <a:avLst>
              <a:gd name="adj" fmla="val 16667"/>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100" b="1" dirty="0">
                <a:solidFill>
                  <a:schemeClr val="tx1"/>
                </a:solidFill>
              </a:rPr>
              <a:t>43</a:t>
            </a:r>
            <a:endParaRPr lang="en-US" sz="1100" dirty="0"/>
          </a:p>
        </p:txBody>
      </p:sp>
      <p:sp>
        <p:nvSpPr>
          <p:cNvPr id="13" name="Array cell"/>
          <p:cNvSpPr txBox="1"/>
          <p:nvPr/>
        </p:nvSpPr>
        <p:spPr>
          <a:xfrm>
            <a:off x="1911096" y="3200400"/>
            <a:ext cx="329184" cy="329184"/>
          </a:xfrm>
          <a:prstGeom prst="roundRect">
            <a:avLst>
              <a:gd name="adj" fmla="val 16667"/>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14" name="Array cell"/>
          <p:cNvSpPr txBox="1"/>
          <p:nvPr/>
        </p:nvSpPr>
        <p:spPr>
          <a:xfrm>
            <a:off x="2258568" y="3200400"/>
            <a:ext cx="329184" cy="329184"/>
          </a:xfrm>
          <a:prstGeom prst="roundRect">
            <a:avLst>
              <a:gd name="adj" fmla="val 16667"/>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100" b="1" dirty="0">
                <a:solidFill>
                  <a:schemeClr val="tx1"/>
                </a:solidFill>
              </a:rPr>
              <a:t>9</a:t>
            </a:r>
            <a:endParaRPr lang="en-US" sz="1100" dirty="0"/>
          </a:p>
        </p:txBody>
      </p:sp>
      <p:sp>
        <p:nvSpPr>
          <p:cNvPr id="15" name="Array cell"/>
          <p:cNvSpPr txBox="1"/>
          <p:nvPr/>
        </p:nvSpPr>
        <p:spPr>
          <a:xfrm>
            <a:off x="2606040" y="3200400"/>
            <a:ext cx="329184" cy="329184"/>
          </a:xfrm>
          <a:prstGeom prst="roundRect">
            <a:avLst>
              <a:gd name="adj" fmla="val 16667"/>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100" b="1" dirty="0">
                <a:solidFill>
                  <a:schemeClr val="tx1"/>
                </a:solidFill>
              </a:rPr>
              <a:t>82</a:t>
            </a:r>
            <a:endParaRPr lang="en-US" sz="1100" dirty="0"/>
          </a:p>
        </p:txBody>
      </p:sp>
      <p:sp>
        <p:nvSpPr>
          <p:cNvPr id="16" name="Array cell"/>
          <p:cNvSpPr txBox="1"/>
          <p:nvPr/>
        </p:nvSpPr>
        <p:spPr>
          <a:xfrm>
            <a:off x="2953512" y="3200400"/>
            <a:ext cx="329184" cy="329184"/>
          </a:xfrm>
          <a:prstGeom prst="roundRect">
            <a:avLst>
              <a:gd name="adj" fmla="val 16667"/>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100" b="1" dirty="0">
                <a:solidFill>
                  <a:schemeClr val="tx1"/>
                </a:solidFill>
              </a:rPr>
              <a:t>10</a:t>
            </a:r>
            <a:endParaRPr lang="en-US" sz="1100" dirty="0"/>
          </a:p>
        </p:txBody>
      </p:sp>
      <p:sp>
        <p:nvSpPr>
          <p:cNvPr id="17" name="Array cell"/>
          <p:cNvSpPr txBox="1"/>
          <p:nvPr/>
        </p:nvSpPr>
        <p:spPr>
          <a:xfrm>
            <a:off x="3300984" y="3200400"/>
            <a:ext cx="329184" cy="329184"/>
          </a:xfrm>
          <a:prstGeom prst="roundRect">
            <a:avLst>
              <a:gd name="adj" fmla="val 16667"/>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100" b="1" dirty="0">
                <a:solidFill>
                  <a:schemeClr val="tx1"/>
                </a:solidFill>
              </a:rPr>
              <a:t>15</a:t>
            </a:r>
            <a:endParaRPr lang="en-US" sz="1100" dirty="0"/>
          </a:p>
        </p:txBody>
      </p:sp>
      <p:sp>
        <p:nvSpPr>
          <p:cNvPr id="18" name="Connector"/>
          <p:cNvSpPr/>
          <p:nvPr/>
        </p:nvSpPr>
        <p:spPr>
          <a:xfrm>
            <a:off x="2258568" y="3593592"/>
            <a:ext cx="0" cy="246888"/>
          </a:xfrm>
          <a:prstGeom prst="line">
            <a:avLst/>
          </a:prstGeom>
          <a:noFill/>
          <a:ln w="19050">
            <a:solidFill>
              <a:schemeClr val="accent3"/>
            </a:solidFill>
            <a:prstDash val="solid"/>
            <a:tailEnd type="triangle"/>
          </a:ln>
        </p:spPr>
      </p:sp>
      <p:sp>
        <p:nvSpPr>
          <p:cNvPr id="19" name="Array cell"/>
          <p:cNvSpPr txBox="1"/>
          <p:nvPr/>
        </p:nvSpPr>
        <p:spPr>
          <a:xfrm>
            <a:off x="731520" y="3886200"/>
            <a:ext cx="329184" cy="329184"/>
          </a:xfrm>
          <a:prstGeom prst="roundRect">
            <a:avLst>
              <a:gd name="adj" fmla="val 16667"/>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100" b="1" dirty="0">
                <a:solidFill>
                  <a:schemeClr val="tx1"/>
                </a:solidFill>
              </a:rPr>
              <a:t>38</a:t>
            </a:r>
            <a:endParaRPr lang="en-US" sz="1100" dirty="0"/>
          </a:p>
        </p:txBody>
      </p:sp>
      <p:sp>
        <p:nvSpPr>
          <p:cNvPr id="20" name="Array cell"/>
          <p:cNvSpPr txBox="1"/>
          <p:nvPr/>
        </p:nvSpPr>
        <p:spPr>
          <a:xfrm>
            <a:off x="1078992" y="3886200"/>
            <a:ext cx="329184" cy="329184"/>
          </a:xfrm>
          <a:prstGeom prst="roundRect">
            <a:avLst>
              <a:gd name="adj" fmla="val 16667"/>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100" b="1" dirty="0">
                <a:solidFill>
                  <a:schemeClr val="tx1"/>
                </a:solidFill>
              </a:rPr>
              <a:t>27</a:t>
            </a:r>
            <a:endParaRPr lang="en-US" sz="1100" dirty="0"/>
          </a:p>
        </p:txBody>
      </p:sp>
      <p:sp>
        <p:nvSpPr>
          <p:cNvPr id="21" name="Array cell"/>
          <p:cNvSpPr txBox="1"/>
          <p:nvPr/>
        </p:nvSpPr>
        <p:spPr>
          <a:xfrm>
            <a:off x="1426464" y="3886200"/>
            <a:ext cx="329184" cy="329184"/>
          </a:xfrm>
          <a:prstGeom prst="roundRect">
            <a:avLst>
              <a:gd name="adj" fmla="val 16667"/>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100" b="1" dirty="0">
                <a:solidFill>
                  <a:schemeClr val="tx1"/>
                </a:solidFill>
              </a:rPr>
              <a:t>43</a:t>
            </a:r>
            <a:endParaRPr lang="en-US" sz="1100" dirty="0"/>
          </a:p>
        </p:txBody>
      </p:sp>
      <p:sp>
        <p:nvSpPr>
          <p:cNvPr id="22" name="Array cell"/>
          <p:cNvSpPr txBox="1"/>
          <p:nvPr/>
        </p:nvSpPr>
        <p:spPr>
          <a:xfrm>
            <a:off x="1773936" y="3886200"/>
            <a:ext cx="329184" cy="329184"/>
          </a:xfrm>
          <a:prstGeom prst="roundRect">
            <a:avLst>
              <a:gd name="adj" fmla="val 16667"/>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23" name="Array cell"/>
          <p:cNvSpPr txBox="1"/>
          <p:nvPr/>
        </p:nvSpPr>
        <p:spPr>
          <a:xfrm>
            <a:off x="2359152" y="3886200"/>
            <a:ext cx="329184" cy="329184"/>
          </a:xfrm>
          <a:prstGeom prst="roundRect">
            <a:avLst>
              <a:gd name="adj" fmla="val 16667"/>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100" b="1" dirty="0">
                <a:solidFill>
                  <a:schemeClr val="tx1"/>
                </a:solidFill>
              </a:rPr>
              <a:t>9</a:t>
            </a:r>
            <a:endParaRPr lang="en-US" sz="1100" dirty="0"/>
          </a:p>
        </p:txBody>
      </p:sp>
      <p:sp>
        <p:nvSpPr>
          <p:cNvPr id="24" name="Array cell"/>
          <p:cNvSpPr txBox="1"/>
          <p:nvPr/>
        </p:nvSpPr>
        <p:spPr>
          <a:xfrm>
            <a:off x="2706624" y="3886200"/>
            <a:ext cx="329184" cy="329184"/>
          </a:xfrm>
          <a:prstGeom prst="roundRect">
            <a:avLst>
              <a:gd name="adj" fmla="val 16667"/>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100" b="1" dirty="0">
                <a:solidFill>
                  <a:schemeClr val="tx1"/>
                </a:solidFill>
              </a:rPr>
              <a:t>82</a:t>
            </a:r>
            <a:endParaRPr lang="en-US" sz="1100" dirty="0"/>
          </a:p>
        </p:txBody>
      </p:sp>
      <p:sp>
        <p:nvSpPr>
          <p:cNvPr id="25" name="Array cell"/>
          <p:cNvSpPr txBox="1"/>
          <p:nvPr/>
        </p:nvSpPr>
        <p:spPr>
          <a:xfrm>
            <a:off x="3054096" y="3886200"/>
            <a:ext cx="329184" cy="329184"/>
          </a:xfrm>
          <a:prstGeom prst="roundRect">
            <a:avLst>
              <a:gd name="adj" fmla="val 16667"/>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100" b="1" dirty="0">
                <a:solidFill>
                  <a:schemeClr val="tx1"/>
                </a:solidFill>
              </a:rPr>
              <a:t>10</a:t>
            </a:r>
            <a:endParaRPr lang="en-US" sz="1100" dirty="0"/>
          </a:p>
        </p:txBody>
      </p:sp>
      <p:sp>
        <p:nvSpPr>
          <p:cNvPr id="26" name="Array cell"/>
          <p:cNvSpPr txBox="1"/>
          <p:nvPr/>
        </p:nvSpPr>
        <p:spPr>
          <a:xfrm>
            <a:off x="3401568" y="3886200"/>
            <a:ext cx="329184" cy="329184"/>
          </a:xfrm>
          <a:prstGeom prst="roundRect">
            <a:avLst>
              <a:gd name="adj" fmla="val 16667"/>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100" b="1" dirty="0">
                <a:solidFill>
                  <a:schemeClr val="tx1"/>
                </a:solidFill>
              </a:rPr>
              <a:t>15</a:t>
            </a:r>
            <a:endParaRPr lang="en-US" sz="1100" dirty="0"/>
          </a:p>
        </p:txBody>
      </p:sp>
      <p:sp>
        <p:nvSpPr>
          <p:cNvPr id="27" name="Text 24"/>
          <p:cNvSpPr txBox="1"/>
          <p:nvPr/>
        </p:nvSpPr>
        <p:spPr>
          <a:xfrm>
            <a:off x="841248" y="4526280"/>
            <a:ext cx="2834640" cy="274320"/>
          </a:xfrm>
          <a:prstGeom prst="rect">
            <a:avLst/>
          </a:prstGeom>
          <a:noFill/>
          <a:ln/>
        </p:spPr>
        <p:txBody>
          <a:bodyPr wrap="square" lIns="0" tIns="0" rIns="0" bIns="0" rtlCol="0" anchor="t"/>
          <a:lstStyle/>
          <a:p>
            <a:pPr algn="ctr" indent="0" marL="0">
              <a:buNone/>
            </a:pPr>
            <a:r>
              <a:rPr lang="en-US" sz="1200" dirty="0">
                <a:solidFill>
                  <a:schemeClr val="tx2"/>
                </a:solidFill>
              </a:rPr>
              <a:t>mid = 3</a:t>
            </a:r>
            <a:endParaRPr lang="en-US" sz="1200" dirty="0"/>
          </a:p>
        </p:txBody>
      </p:sp>
      <p:sp>
        <p:nvSpPr>
          <p:cNvPr id="28" name="Stage card 2"/>
          <p:cNvSpPr/>
          <p:nvPr/>
        </p:nvSpPr>
        <p:spPr>
          <a:xfrm>
            <a:off x="4407408" y="1508760"/>
            <a:ext cx="3383280" cy="3611880"/>
          </a:xfrm>
          <a:prstGeom prst="roundRect">
            <a:avLst>
              <a:gd name="adj" fmla="val 3243"/>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29" name="Badge"/>
          <p:cNvSpPr txBox="1"/>
          <p:nvPr/>
        </p:nvSpPr>
        <p:spPr>
          <a:xfrm>
            <a:off x="4636008" y="1737360"/>
            <a:ext cx="457200" cy="457200"/>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30" name="Text 27"/>
          <p:cNvSpPr txBox="1"/>
          <p:nvPr/>
        </p:nvSpPr>
        <p:spPr>
          <a:xfrm>
            <a:off x="5276088" y="1737360"/>
            <a:ext cx="237744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Conquer</a:t>
            </a:r>
            <a:endParaRPr lang="en-US" sz="2200" dirty="0"/>
          </a:p>
        </p:txBody>
      </p:sp>
      <p:sp>
        <p:nvSpPr>
          <p:cNvPr id="31" name="Text 28"/>
          <p:cNvSpPr txBox="1"/>
          <p:nvPr/>
        </p:nvSpPr>
        <p:spPr>
          <a:xfrm>
            <a:off x="4681728" y="2377440"/>
            <a:ext cx="2834640" cy="548640"/>
          </a:xfrm>
          <a:prstGeom prst="rect">
            <a:avLst/>
          </a:prstGeom>
          <a:noFill/>
          <a:ln/>
        </p:spPr>
        <p:txBody>
          <a:bodyPr wrap="square" lIns="0" tIns="0" rIns="0" bIns="0" rtlCol="0" anchor="t"/>
          <a:lstStyle/>
          <a:p>
            <a:pPr indent="0" marL="0">
              <a:buNone/>
            </a:pPr>
            <a:r>
              <a:rPr lang="en-US" sz="1500" dirty="0">
                <a:solidFill>
                  <a:schemeClr val="tx2"/>
                </a:solidFill>
              </a:rPr>
              <a:t>Recursively sort both halves</a:t>
            </a:r>
            <a:endParaRPr lang="en-US" sz="1500" dirty="0"/>
          </a:p>
        </p:txBody>
      </p:sp>
      <p:sp>
        <p:nvSpPr>
          <p:cNvPr id="32" name="Chevron"/>
          <p:cNvSpPr/>
          <p:nvPr/>
        </p:nvSpPr>
        <p:spPr>
          <a:xfrm>
            <a:off x="7882128" y="3131820"/>
            <a:ext cx="274320" cy="365760"/>
          </a:xfrm>
          <a:prstGeom prst="rightArrow">
            <a:avLst/>
          </a:prstGeom>
          <a:solidFill>
            <a:schemeClr val="accent3"/>
          </a:solidFill>
          <a:ln/>
        </p:spPr>
      </p:sp>
      <p:sp>
        <p:nvSpPr>
          <p:cNvPr id="33" name="Array cell"/>
          <p:cNvSpPr txBox="1"/>
          <p:nvPr/>
        </p:nvSpPr>
        <p:spPr>
          <a:xfrm>
            <a:off x="4681728" y="3246120"/>
            <a:ext cx="1325880" cy="502920"/>
          </a:xfrm>
          <a:prstGeom prst="roundRect">
            <a:avLst>
              <a:gd name="adj" fmla="val 10909"/>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400" b="1" dirty="0">
                <a:solidFill>
                  <a:schemeClr val="tx1"/>
                </a:solidFill>
              </a:rPr>
              <a:t>sort(left)</a:t>
            </a:r>
            <a:endParaRPr lang="en-US" sz="1400" dirty="0"/>
          </a:p>
        </p:txBody>
      </p:sp>
      <p:sp>
        <p:nvSpPr>
          <p:cNvPr id="34" name="Array cell"/>
          <p:cNvSpPr txBox="1"/>
          <p:nvPr/>
        </p:nvSpPr>
        <p:spPr>
          <a:xfrm>
            <a:off x="6190488" y="3246120"/>
            <a:ext cx="1325880" cy="502920"/>
          </a:xfrm>
          <a:prstGeom prst="roundRect">
            <a:avLst>
              <a:gd name="adj" fmla="val 10909"/>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400" b="1" dirty="0">
                <a:solidFill>
                  <a:schemeClr val="tx1"/>
                </a:solidFill>
              </a:rPr>
              <a:t>sort(right)</a:t>
            </a:r>
            <a:endParaRPr lang="en-US" sz="1400" dirty="0"/>
          </a:p>
        </p:txBody>
      </p:sp>
      <p:sp>
        <p:nvSpPr>
          <p:cNvPr id="35" name="Connector"/>
          <p:cNvSpPr/>
          <p:nvPr/>
        </p:nvSpPr>
        <p:spPr>
          <a:xfrm>
            <a:off x="5344668" y="3794760"/>
            <a:ext cx="571500" cy="411480"/>
          </a:xfrm>
          <a:prstGeom prst="line">
            <a:avLst/>
          </a:prstGeom>
          <a:noFill/>
          <a:ln w="19050">
            <a:solidFill>
              <a:schemeClr val="accent3"/>
            </a:solidFill>
            <a:prstDash val="solid"/>
            <a:tailEnd type="triangle"/>
          </a:ln>
        </p:spPr>
      </p:sp>
      <p:sp>
        <p:nvSpPr>
          <p:cNvPr id="36" name="Connector"/>
          <p:cNvSpPr/>
          <p:nvPr/>
        </p:nvSpPr>
        <p:spPr>
          <a:xfrm flipH="1">
            <a:off x="6281928" y="3794760"/>
            <a:ext cx="571500" cy="411480"/>
          </a:xfrm>
          <a:prstGeom prst="line">
            <a:avLst/>
          </a:prstGeom>
          <a:noFill/>
          <a:ln w="19050">
            <a:solidFill>
              <a:schemeClr val="accent3"/>
            </a:solidFill>
            <a:prstDash val="solid"/>
            <a:tailEnd type="triangle"/>
          </a:ln>
        </p:spPr>
      </p:sp>
      <p:sp>
        <p:nvSpPr>
          <p:cNvPr id="37" name="Chip"/>
          <p:cNvSpPr txBox="1"/>
          <p:nvPr/>
        </p:nvSpPr>
        <p:spPr>
          <a:xfrm>
            <a:off x="4818888" y="4206240"/>
            <a:ext cx="2560320" cy="457200"/>
          </a:xfrm>
          <a:prstGeom prst="roundRect">
            <a:avLst>
              <a:gd name="adj" fmla="val 36000"/>
            </a:avLst>
          </a:prstGeom>
          <a:solidFill>
            <a:schemeClr val="accent5"/>
          </a:solidFill>
          <a:ln w="12700">
            <a:solidFill>
              <a:schemeClr val="accent4"/>
            </a:solidFill>
          </a:ln>
        </p:spPr>
        <p:txBody>
          <a:bodyPr wrap="square" lIns="635" tIns="635" rIns="635" bIns="635" rtlCol="0" anchor="ctr"/>
          <a:lstStyle/>
          <a:p>
            <a:pPr algn="ctr" indent="0" marL="0">
              <a:buNone/>
            </a:pPr>
            <a:r>
              <a:rPr lang="en-US" sz="1400" b="1" dirty="0">
                <a:solidFill>
                  <a:schemeClr val="tx1"/>
                </a:solidFill>
              </a:rPr>
              <a:t>base case: 1 element</a:t>
            </a:r>
            <a:endParaRPr lang="en-US" sz="1400" dirty="0"/>
          </a:p>
        </p:txBody>
      </p:sp>
      <p:sp>
        <p:nvSpPr>
          <p:cNvPr id="38" name="Stage card 3"/>
          <p:cNvSpPr/>
          <p:nvPr/>
        </p:nvSpPr>
        <p:spPr>
          <a:xfrm>
            <a:off x="8247888" y="1508760"/>
            <a:ext cx="3383280" cy="3611880"/>
          </a:xfrm>
          <a:prstGeom prst="roundRect">
            <a:avLst>
              <a:gd name="adj" fmla="val 3243"/>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39" name="Badge"/>
          <p:cNvSpPr txBox="1"/>
          <p:nvPr/>
        </p:nvSpPr>
        <p:spPr>
          <a:xfrm>
            <a:off x="8476488" y="1737360"/>
            <a:ext cx="457200" cy="457200"/>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40" name="Text 37"/>
          <p:cNvSpPr txBox="1"/>
          <p:nvPr/>
        </p:nvSpPr>
        <p:spPr>
          <a:xfrm>
            <a:off x="9116568" y="1737360"/>
            <a:ext cx="237744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Combine</a:t>
            </a:r>
            <a:endParaRPr lang="en-US" sz="2200" dirty="0"/>
          </a:p>
        </p:txBody>
      </p:sp>
      <p:sp>
        <p:nvSpPr>
          <p:cNvPr id="41" name="Text 38"/>
          <p:cNvSpPr txBox="1"/>
          <p:nvPr/>
        </p:nvSpPr>
        <p:spPr>
          <a:xfrm>
            <a:off x="8522208" y="2377440"/>
            <a:ext cx="2834640" cy="548640"/>
          </a:xfrm>
          <a:prstGeom prst="rect">
            <a:avLst/>
          </a:prstGeom>
          <a:noFill/>
          <a:ln/>
        </p:spPr>
        <p:txBody>
          <a:bodyPr wrap="square" lIns="0" tIns="0" rIns="0" bIns="0" rtlCol="0" anchor="t"/>
          <a:lstStyle/>
          <a:p>
            <a:pPr indent="0" marL="0">
              <a:buNone/>
            </a:pPr>
            <a:r>
              <a:rPr lang="en-US" sz="1500" dirty="0">
                <a:solidFill>
                  <a:schemeClr val="tx2"/>
                </a:solidFill>
              </a:rPr>
              <a:t>Merge two sorted halves into one</a:t>
            </a:r>
            <a:endParaRPr lang="en-US" sz="1500" dirty="0"/>
          </a:p>
        </p:txBody>
      </p:sp>
      <p:sp>
        <p:nvSpPr>
          <p:cNvPr id="42" name="Array cell"/>
          <p:cNvSpPr txBox="1"/>
          <p:nvPr/>
        </p:nvSpPr>
        <p:spPr>
          <a:xfrm>
            <a:off x="8750808" y="3200400"/>
            <a:ext cx="365760" cy="365760"/>
          </a:xfrm>
          <a:prstGeom prst="roundRect">
            <a:avLst>
              <a:gd name="adj" fmla="val 15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200" b="1" dirty="0">
                <a:solidFill>
                  <a:schemeClr val="tx1"/>
                </a:solidFill>
              </a:rPr>
              <a:t>27</a:t>
            </a:r>
            <a:endParaRPr lang="en-US" sz="1200" dirty="0"/>
          </a:p>
        </p:txBody>
      </p:sp>
      <p:sp>
        <p:nvSpPr>
          <p:cNvPr id="43" name="Array cell"/>
          <p:cNvSpPr txBox="1"/>
          <p:nvPr/>
        </p:nvSpPr>
        <p:spPr>
          <a:xfrm>
            <a:off x="9153144" y="3200400"/>
            <a:ext cx="365760" cy="365760"/>
          </a:xfrm>
          <a:prstGeom prst="roundRect">
            <a:avLst>
              <a:gd name="adj" fmla="val 15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200" b="1" dirty="0">
                <a:solidFill>
                  <a:schemeClr val="tx1"/>
                </a:solidFill>
              </a:rPr>
              <a:t>38</a:t>
            </a:r>
            <a:endParaRPr lang="en-US" sz="1200" dirty="0"/>
          </a:p>
        </p:txBody>
      </p:sp>
      <p:sp>
        <p:nvSpPr>
          <p:cNvPr id="44" name="Array cell"/>
          <p:cNvSpPr txBox="1"/>
          <p:nvPr/>
        </p:nvSpPr>
        <p:spPr>
          <a:xfrm>
            <a:off x="10076688" y="3200400"/>
            <a:ext cx="365760" cy="365760"/>
          </a:xfrm>
          <a:prstGeom prst="roundRect">
            <a:avLst>
              <a:gd name="adj" fmla="val 15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45" name="Array cell"/>
          <p:cNvSpPr txBox="1"/>
          <p:nvPr/>
        </p:nvSpPr>
        <p:spPr>
          <a:xfrm>
            <a:off x="10479024" y="3200400"/>
            <a:ext cx="365760" cy="365760"/>
          </a:xfrm>
          <a:prstGeom prst="roundRect">
            <a:avLst>
              <a:gd name="adj" fmla="val 15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200" b="1" dirty="0">
                <a:solidFill>
                  <a:schemeClr val="tx1"/>
                </a:solidFill>
              </a:rPr>
              <a:t>43</a:t>
            </a:r>
            <a:endParaRPr lang="en-US" sz="1200" dirty="0"/>
          </a:p>
        </p:txBody>
      </p:sp>
      <p:sp>
        <p:nvSpPr>
          <p:cNvPr id="46" name="Connector"/>
          <p:cNvSpPr/>
          <p:nvPr/>
        </p:nvSpPr>
        <p:spPr>
          <a:xfrm>
            <a:off x="9939528" y="3657600"/>
            <a:ext cx="0" cy="274320"/>
          </a:xfrm>
          <a:prstGeom prst="line">
            <a:avLst/>
          </a:prstGeom>
          <a:noFill/>
          <a:ln w="19050">
            <a:solidFill>
              <a:schemeClr val="accent3"/>
            </a:solidFill>
            <a:prstDash val="solid"/>
            <a:tailEnd type="triangle"/>
          </a:ln>
        </p:spPr>
      </p:sp>
      <p:sp>
        <p:nvSpPr>
          <p:cNvPr id="47" name="Array cell"/>
          <p:cNvSpPr txBox="1"/>
          <p:nvPr/>
        </p:nvSpPr>
        <p:spPr>
          <a:xfrm>
            <a:off x="8997696" y="3977640"/>
            <a:ext cx="457200" cy="457200"/>
          </a:xfrm>
          <a:prstGeom prst="roundRect">
            <a:avLst>
              <a:gd name="adj" fmla="val 12000"/>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48" name="Array cell"/>
          <p:cNvSpPr txBox="1"/>
          <p:nvPr/>
        </p:nvSpPr>
        <p:spPr>
          <a:xfrm>
            <a:off x="9500616" y="3977640"/>
            <a:ext cx="457200" cy="457200"/>
          </a:xfrm>
          <a:prstGeom prst="roundRect">
            <a:avLst>
              <a:gd name="adj" fmla="val 12000"/>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27</a:t>
            </a:r>
            <a:endParaRPr lang="en-US" sz="1400" dirty="0"/>
          </a:p>
        </p:txBody>
      </p:sp>
      <p:sp>
        <p:nvSpPr>
          <p:cNvPr id="49" name="Array cell"/>
          <p:cNvSpPr txBox="1"/>
          <p:nvPr/>
        </p:nvSpPr>
        <p:spPr>
          <a:xfrm>
            <a:off x="10003536" y="3977640"/>
            <a:ext cx="457200" cy="457200"/>
          </a:xfrm>
          <a:prstGeom prst="roundRect">
            <a:avLst>
              <a:gd name="adj" fmla="val 12000"/>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38</a:t>
            </a:r>
            <a:endParaRPr lang="en-US" sz="1400" dirty="0"/>
          </a:p>
        </p:txBody>
      </p:sp>
      <p:sp>
        <p:nvSpPr>
          <p:cNvPr id="50" name="Array cell"/>
          <p:cNvSpPr txBox="1"/>
          <p:nvPr/>
        </p:nvSpPr>
        <p:spPr>
          <a:xfrm>
            <a:off x="10506456" y="3977640"/>
            <a:ext cx="457200" cy="457200"/>
          </a:xfrm>
          <a:prstGeom prst="roundRect">
            <a:avLst>
              <a:gd name="adj" fmla="val 12000"/>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43</a:t>
            </a:r>
            <a:endParaRPr lang="en-US" sz="1400" dirty="0"/>
          </a:p>
        </p:txBody>
      </p:sp>
      <p:sp>
        <p:nvSpPr>
          <p:cNvPr id="51" name="Text 48"/>
          <p:cNvSpPr txBox="1"/>
          <p:nvPr/>
        </p:nvSpPr>
        <p:spPr>
          <a:xfrm>
            <a:off x="8522208" y="4617720"/>
            <a:ext cx="2834640" cy="274320"/>
          </a:xfrm>
          <a:prstGeom prst="rect">
            <a:avLst/>
          </a:prstGeom>
          <a:noFill/>
          <a:ln/>
        </p:spPr>
        <p:txBody>
          <a:bodyPr wrap="square" lIns="0" tIns="0" rIns="0" bIns="0" rtlCol="0" anchor="t"/>
          <a:lstStyle/>
          <a:p>
            <a:pPr algn="ctr" indent="0" marL="0">
              <a:buNone/>
            </a:pPr>
            <a:r>
              <a:rPr lang="en-US" sz="1200" dirty="0">
                <a:solidFill>
                  <a:schemeClr val="tx2"/>
                </a:solidFill>
              </a:rPr>
              <a:t>compare the front elements</a:t>
            </a:r>
            <a:endParaRPr lang="en-US" sz="1200" dirty="0"/>
          </a:p>
        </p:txBody>
      </p:sp>
      <p:sp>
        <p:nvSpPr>
          <p:cNvPr id="52" name="Chip"/>
          <p:cNvSpPr txBox="1"/>
          <p:nvPr/>
        </p:nvSpPr>
        <p:spPr>
          <a:xfrm>
            <a:off x="3566160" y="5440680"/>
            <a:ext cx="5029200" cy="594360"/>
          </a:xfrm>
          <a:prstGeom prst="roundRect">
            <a:avLst>
              <a:gd name="adj" fmla="val 27692"/>
            </a:avLst>
          </a:prstGeom>
          <a:solidFill>
            <a:schemeClr val="accent4"/>
          </a:solidFill>
          <a:ln w="12700">
            <a:solidFill>
              <a:schemeClr val="accent4"/>
            </a:solidFill>
          </a:ln>
        </p:spPr>
        <p:txBody>
          <a:bodyPr wrap="square" lIns="635" tIns="635" rIns="635" bIns="635" rtlCol="0" anchor="ctr"/>
          <a:lstStyle/>
          <a:p>
            <a:pPr algn="ctr" indent="0" marL="0">
              <a:buNone/>
            </a:pPr>
            <a:r>
              <a:rPr lang="en-US" sz="2200" b="1" dirty="0">
                <a:solidFill>
                  <a:schemeClr val="tx1"/>
                </a:solidFill>
                <a:latin typeface="Cambria" pitchFamily="34" charset="0"/>
                <a:ea typeface="Cambria" pitchFamily="34" charset="-122"/>
                <a:cs typeface="Cambria" pitchFamily="34" charset="-120"/>
              </a:rPr>
              <a:t>mid = ⌊(low + high) / 2⌋</a:t>
            </a:r>
            <a:endParaRPr lang="en-US" sz="2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t"/>
          <a:lstStyle/>
          <a:p>
            <a:pPr indent="0" marL="0">
              <a:buNone/>
            </a:pPr>
            <a:r>
              <a:rPr lang="en-US" sz="1200" b="1" spc="300" kern="0" dirty="0">
                <a:solidFill>
                  <a:schemeClr val="tx2"/>
                </a:solidFill>
              </a:rPr>
              <a:t>THE EXAMPLE</a:t>
            </a:r>
            <a:endParaRPr lang="en-US" sz="1200" dirty="0"/>
          </a:p>
        </p:txBody>
      </p:sp>
      <p:sp>
        <p:nvSpPr>
          <p:cNvPr id="3" name="Text 2"/>
          <p:cNvSpPr/>
          <p:nvPr>
            <p:ph idx="102"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Our Input Array</a:t>
            </a:r>
            <a:endParaRPr lang="en-US" sz="3400" dirty="0"/>
          </a:p>
        </p:txBody>
      </p:sp>
      <p:sp>
        <p:nvSpPr>
          <p:cNvPr id="5" name="Text 2"/>
          <p:cNvSpPr txBox="1"/>
          <p:nvPr/>
        </p:nvSpPr>
        <p:spPr>
          <a:xfrm>
            <a:off x="1591056" y="1508760"/>
            <a:ext cx="9006840" cy="320040"/>
          </a:xfrm>
          <a:prstGeom prst="rect">
            <a:avLst/>
          </a:prstGeom>
          <a:noFill/>
          <a:ln/>
        </p:spPr>
        <p:txBody>
          <a:bodyPr wrap="square" lIns="0" tIns="0" rIns="0" bIns="0" rtlCol="0" anchor="t"/>
          <a:lstStyle/>
          <a:p>
            <a:pPr algn="ctr" indent="0" marL="0">
              <a:buNone/>
            </a:pPr>
            <a:r>
              <a:rPr lang="en-US" sz="1800" b="1" dirty="0">
                <a:solidFill>
                  <a:schemeClr val="tx2"/>
                </a:solidFill>
              </a:rPr>
              <a:t>n = 8</a:t>
            </a:r>
            <a:endParaRPr lang="en-US" sz="1800" dirty="0"/>
          </a:p>
        </p:txBody>
      </p:sp>
      <p:sp>
        <p:nvSpPr>
          <p:cNvPr id="6" name="Connector"/>
          <p:cNvSpPr/>
          <p:nvPr/>
        </p:nvSpPr>
        <p:spPr>
          <a:xfrm>
            <a:off x="1591056" y="1965960"/>
            <a:ext cx="9006840" cy="0"/>
          </a:xfrm>
          <a:prstGeom prst="line">
            <a:avLst/>
          </a:prstGeom>
          <a:noFill/>
          <a:ln w="19050">
            <a:solidFill>
              <a:schemeClr val="accent3"/>
            </a:solidFill>
            <a:prstDash val="solid"/>
            <a:headEnd type="triangle"/>
            <a:tailEnd type="triangle"/>
          </a:ln>
        </p:spPr>
      </p:sp>
      <p:sp>
        <p:nvSpPr>
          <p:cNvPr id="7" name="Input cell"/>
          <p:cNvSpPr txBox="1"/>
          <p:nvPr/>
        </p:nvSpPr>
        <p:spPr>
          <a:xfrm>
            <a:off x="1591056" y="2286000"/>
            <a:ext cx="1005840" cy="1005840"/>
          </a:xfrm>
          <a:prstGeom prst="roundRect">
            <a:avLst>
              <a:gd name="adj" fmla="val 545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3200" b="1" dirty="0">
                <a:solidFill>
                  <a:schemeClr val="tx1"/>
                </a:solidFill>
              </a:rPr>
              <a:t>38</a:t>
            </a:r>
            <a:endParaRPr lang="en-US" sz="3200" dirty="0"/>
          </a:p>
        </p:txBody>
      </p:sp>
      <p:sp>
        <p:nvSpPr>
          <p:cNvPr id="8" name="Input cell"/>
          <p:cNvSpPr txBox="1"/>
          <p:nvPr/>
        </p:nvSpPr>
        <p:spPr>
          <a:xfrm>
            <a:off x="2734056" y="2286000"/>
            <a:ext cx="1005840" cy="1005840"/>
          </a:xfrm>
          <a:prstGeom prst="roundRect">
            <a:avLst>
              <a:gd name="adj" fmla="val 545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3200" b="1" dirty="0">
                <a:solidFill>
                  <a:schemeClr val="tx1"/>
                </a:solidFill>
              </a:rPr>
              <a:t>27</a:t>
            </a:r>
            <a:endParaRPr lang="en-US" sz="3200" dirty="0"/>
          </a:p>
        </p:txBody>
      </p:sp>
      <p:sp>
        <p:nvSpPr>
          <p:cNvPr id="9" name="Input cell"/>
          <p:cNvSpPr txBox="1"/>
          <p:nvPr/>
        </p:nvSpPr>
        <p:spPr>
          <a:xfrm>
            <a:off x="3877056" y="2286000"/>
            <a:ext cx="1005840" cy="1005840"/>
          </a:xfrm>
          <a:prstGeom prst="roundRect">
            <a:avLst>
              <a:gd name="adj" fmla="val 545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3200" b="1" dirty="0">
                <a:solidFill>
                  <a:schemeClr val="tx1"/>
                </a:solidFill>
              </a:rPr>
              <a:t>43</a:t>
            </a:r>
            <a:endParaRPr lang="en-US" sz="3200" dirty="0"/>
          </a:p>
        </p:txBody>
      </p:sp>
      <p:sp>
        <p:nvSpPr>
          <p:cNvPr id="10" name="Input cell"/>
          <p:cNvSpPr txBox="1"/>
          <p:nvPr/>
        </p:nvSpPr>
        <p:spPr>
          <a:xfrm>
            <a:off x="5020056" y="2286000"/>
            <a:ext cx="1005840" cy="1005840"/>
          </a:xfrm>
          <a:prstGeom prst="roundRect">
            <a:avLst>
              <a:gd name="adj" fmla="val 545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3200" b="1" dirty="0">
                <a:solidFill>
                  <a:schemeClr val="tx1"/>
                </a:solidFill>
              </a:rPr>
              <a:t>3</a:t>
            </a:r>
            <a:endParaRPr lang="en-US" sz="3200" dirty="0"/>
          </a:p>
        </p:txBody>
      </p:sp>
      <p:sp>
        <p:nvSpPr>
          <p:cNvPr id="11" name="Input cell"/>
          <p:cNvSpPr txBox="1"/>
          <p:nvPr/>
        </p:nvSpPr>
        <p:spPr>
          <a:xfrm>
            <a:off x="6163056" y="2286000"/>
            <a:ext cx="1005840" cy="1005840"/>
          </a:xfrm>
          <a:prstGeom prst="roundRect">
            <a:avLst>
              <a:gd name="adj" fmla="val 545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3200" b="1" dirty="0">
                <a:solidFill>
                  <a:schemeClr val="tx1"/>
                </a:solidFill>
              </a:rPr>
              <a:t>9</a:t>
            </a:r>
            <a:endParaRPr lang="en-US" sz="3200" dirty="0"/>
          </a:p>
        </p:txBody>
      </p:sp>
      <p:sp>
        <p:nvSpPr>
          <p:cNvPr id="12" name="Input cell"/>
          <p:cNvSpPr txBox="1"/>
          <p:nvPr/>
        </p:nvSpPr>
        <p:spPr>
          <a:xfrm>
            <a:off x="7306056" y="2286000"/>
            <a:ext cx="1005840" cy="1005840"/>
          </a:xfrm>
          <a:prstGeom prst="roundRect">
            <a:avLst>
              <a:gd name="adj" fmla="val 545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3200" b="1" dirty="0">
                <a:solidFill>
                  <a:schemeClr val="tx1"/>
                </a:solidFill>
              </a:rPr>
              <a:t>82</a:t>
            </a:r>
            <a:endParaRPr lang="en-US" sz="3200" dirty="0"/>
          </a:p>
        </p:txBody>
      </p:sp>
      <p:sp>
        <p:nvSpPr>
          <p:cNvPr id="13" name="Input cell"/>
          <p:cNvSpPr txBox="1"/>
          <p:nvPr/>
        </p:nvSpPr>
        <p:spPr>
          <a:xfrm>
            <a:off x="8449056" y="2286000"/>
            <a:ext cx="1005840" cy="1005840"/>
          </a:xfrm>
          <a:prstGeom prst="roundRect">
            <a:avLst>
              <a:gd name="adj" fmla="val 545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3200" b="1" dirty="0">
                <a:solidFill>
                  <a:schemeClr val="tx1"/>
                </a:solidFill>
              </a:rPr>
              <a:t>10</a:t>
            </a:r>
            <a:endParaRPr lang="en-US" sz="3200" dirty="0"/>
          </a:p>
        </p:txBody>
      </p:sp>
      <p:sp>
        <p:nvSpPr>
          <p:cNvPr id="14" name="Input cell"/>
          <p:cNvSpPr txBox="1"/>
          <p:nvPr/>
        </p:nvSpPr>
        <p:spPr>
          <a:xfrm>
            <a:off x="9592056" y="2286000"/>
            <a:ext cx="1005840" cy="1005840"/>
          </a:xfrm>
          <a:prstGeom prst="roundRect">
            <a:avLst>
              <a:gd name="adj" fmla="val 5455"/>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3200" b="1" dirty="0">
                <a:solidFill>
                  <a:schemeClr val="tx1"/>
                </a:solidFill>
              </a:rPr>
              <a:t>15</a:t>
            </a:r>
            <a:endParaRPr lang="en-US" sz="3200" dirty="0"/>
          </a:p>
        </p:txBody>
      </p:sp>
      <p:sp>
        <p:nvSpPr>
          <p:cNvPr id="15" name="Text 12"/>
          <p:cNvSpPr txBox="1"/>
          <p:nvPr/>
        </p:nvSpPr>
        <p:spPr>
          <a:xfrm>
            <a:off x="548640" y="3456432"/>
            <a:ext cx="914400" cy="274320"/>
          </a:xfrm>
          <a:prstGeom prst="rect">
            <a:avLst/>
          </a:prstGeom>
          <a:noFill/>
          <a:ln/>
        </p:spPr>
        <p:txBody>
          <a:bodyPr wrap="square" lIns="0" tIns="0" rIns="0" bIns="0" rtlCol="0" anchor="t"/>
          <a:lstStyle/>
          <a:p>
            <a:pPr indent="0" marL="0">
              <a:buNone/>
            </a:pPr>
            <a:r>
              <a:rPr lang="en-US" sz="1200" dirty="0">
                <a:solidFill>
                  <a:schemeClr val="tx2"/>
                </a:solidFill>
              </a:rPr>
              <a:t>index</a:t>
            </a:r>
            <a:endParaRPr lang="en-US" sz="1200" dirty="0"/>
          </a:p>
        </p:txBody>
      </p:sp>
      <p:sp>
        <p:nvSpPr>
          <p:cNvPr id="16" name="Text 13"/>
          <p:cNvSpPr txBox="1"/>
          <p:nvPr/>
        </p:nvSpPr>
        <p:spPr>
          <a:xfrm>
            <a:off x="1591056" y="3401568"/>
            <a:ext cx="1005840" cy="320040"/>
          </a:xfrm>
          <a:prstGeom prst="rect">
            <a:avLst/>
          </a:prstGeom>
          <a:noFill/>
          <a:ln/>
        </p:spPr>
        <p:txBody>
          <a:bodyPr wrap="square" lIns="0" tIns="0" rIns="0" bIns="0" rtlCol="0" anchor="t"/>
          <a:lstStyle/>
          <a:p>
            <a:pPr algn="ctr" indent="0" marL="0">
              <a:buNone/>
            </a:pPr>
            <a:r>
              <a:rPr lang="en-US" sz="1500" dirty="0">
                <a:solidFill>
                  <a:schemeClr val="tx2"/>
                </a:solidFill>
              </a:rPr>
              <a:t>0</a:t>
            </a:r>
            <a:endParaRPr lang="en-US" sz="1500" dirty="0"/>
          </a:p>
        </p:txBody>
      </p:sp>
      <p:sp>
        <p:nvSpPr>
          <p:cNvPr id="17" name="Text 14"/>
          <p:cNvSpPr txBox="1"/>
          <p:nvPr/>
        </p:nvSpPr>
        <p:spPr>
          <a:xfrm>
            <a:off x="2734056" y="3401568"/>
            <a:ext cx="1005840" cy="320040"/>
          </a:xfrm>
          <a:prstGeom prst="rect">
            <a:avLst/>
          </a:prstGeom>
          <a:noFill/>
          <a:ln/>
        </p:spPr>
        <p:txBody>
          <a:bodyPr wrap="square" lIns="0" tIns="0" rIns="0" bIns="0" rtlCol="0" anchor="t"/>
          <a:lstStyle/>
          <a:p>
            <a:pPr algn="ctr" indent="0" marL="0">
              <a:buNone/>
            </a:pPr>
            <a:r>
              <a:rPr lang="en-US" sz="1500" dirty="0">
                <a:solidFill>
                  <a:schemeClr val="tx2"/>
                </a:solidFill>
              </a:rPr>
              <a:t>1</a:t>
            </a:r>
            <a:endParaRPr lang="en-US" sz="1500" dirty="0"/>
          </a:p>
        </p:txBody>
      </p:sp>
      <p:sp>
        <p:nvSpPr>
          <p:cNvPr id="18" name="Text 15"/>
          <p:cNvSpPr txBox="1"/>
          <p:nvPr/>
        </p:nvSpPr>
        <p:spPr>
          <a:xfrm>
            <a:off x="3877056" y="3401568"/>
            <a:ext cx="1005840" cy="320040"/>
          </a:xfrm>
          <a:prstGeom prst="rect">
            <a:avLst/>
          </a:prstGeom>
          <a:noFill/>
          <a:ln/>
        </p:spPr>
        <p:txBody>
          <a:bodyPr wrap="square" lIns="0" tIns="0" rIns="0" bIns="0" rtlCol="0" anchor="t"/>
          <a:lstStyle/>
          <a:p>
            <a:pPr algn="ctr" indent="0" marL="0">
              <a:buNone/>
            </a:pPr>
            <a:r>
              <a:rPr lang="en-US" sz="1500" dirty="0">
                <a:solidFill>
                  <a:schemeClr val="tx2"/>
                </a:solidFill>
              </a:rPr>
              <a:t>2</a:t>
            </a:r>
            <a:endParaRPr lang="en-US" sz="1500" dirty="0"/>
          </a:p>
        </p:txBody>
      </p:sp>
      <p:sp>
        <p:nvSpPr>
          <p:cNvPr id="19" name="Text 16"/>
          <p:cNvSpPr txBox="1"/>
          <p:nvPr/>
        </p:nvSpPr>
        <p:spPr>
          <a:xfrm>
            <a:off x="5020056" y="3401568"/>
            <a:ext cx="1005840" cy="320040"/>
          </a:xfrm>
          <a:prstGeom prst="rect">
            <a:avLst/>
          </a:prstGeom>
          <a:noFill/>
          <a:ln/>
        </p:spPr>
        <p:txBody>
          <a:bodyPr wrap="square" lIns="0" tIns="0" rIns="0" bIns="0" rtlCol="0" anchor="t"/>
          <a:lstStyle/>
          <a:p>
            <a:pPr algn="ctr" indent="0" marL="0">
              <a:buNone/>
            </a:pPr>
            <a:r>
              <a:rPr lang="en-US" sz="1500" dirty="0">
                <a:solidFill>
                  <a:schemeClr val="tx2"/>
                </a:solidFill>
              </a:rPr>
              <a:t>3</a:t>
            </a:r>
            <a:endParaRPr lang="en-US" sz="1500" dirty="0"/>
          </a:p>
        </p:txBody>
      </p:sp>
      <p:sp>
        <p:nvSpPr>
          <p:cNvPr id="20" name="Text 17"/>
          <p:cNvSpPr txBox="1"/>
          <p:nvPr/>
        </p:nvSpPr>
        <p:spPr>
          <a:xfrm>
            <a:off x="6163056" y="3401568"/>
            <a:ext cx="1005840" cy="320040"/>
          </a:xfrm>
          <a:prstGeom prst="rect">
            <a:avLst/>
          </a:prstGeom>
          <a:noFill/>
          <a:ln/>
        </p:spPr>
        <p:txBody>
          <a:bodyPr wrap="square" lIns="0" tIns="0" rIns="0" bIns="0" rtlCol="0" anchor="t"/>
          <a:lstStyle/>
          <a:p>
            <a:pPr algn="ctr" indent="0" marL="0">
              <a:buNone/>
            </a:pPr>
            <a:r>
              <a:rPr lang="en-US" sz="1500" dirty="0">
                <a:solidFill>
                  <a:schemeClr val="tx2"/>
                </a:solidFill>
              </a:rPr>
              <a:t>4</a:t>
            </a:r>
            <a:endParaRPr lang="en-US" sz="1500" dirty="0"/>
          </a:p>
        </p:txBody>
      </p:sp>
      <p:sp>
        <p:nvSpPr>
          <p:cNvPr id="21" name="Text 18"/>
          <p:cNvSpPr txBox="1"/>
          <p:nvPr/>
        </p:nvSpPr>
        <p:spPr>
          <a:xfrm>
            <a:off x="7306056" y="3401568"/>
            <a:ext cx="1005840" cy="320040"/>
          </a:xfrm>
          <a:prstGeom prst="rect">
            <a:avLst/>
          </a:prstGeom>
          <a:noFill/>
          <a:ln/>
        </p:spPr>
        <p:txBody>
          <a:bodyPr wrap="square" lIns="0" tIns="0" rIns="0" bIns="0" rtlCol="0" anchor="t"/>
          <a:lstStyle/>
          <a:p>
            <a:pPr algn="ctr" indent="0" marL="0">
              <a:buNone/>
            </a:pPr>
            <a:r>
              <a:rPr lang="en-US" sz="1500" dirty="0">
                <a:solidFill>
                  <a:schemeClr val="tx2"/>
                </a:solidFill>
              </a:rPr>
              <a:t>5</a:t>
            </a:r>
            <a:endParaRPr lang="en-US" sz="1500" dirty="0"/>
          </a:p>
        </p:txBody>
      </p:sp>
      <p:sp>
        <p:nvSpPr>
          <p:cNvPr id="22" name="Text 19"/>
          <p:cNvSpPr txBox="1"/>
          <p:nvPr/>
        </p:nvSpPr>
        <p:spPr>
          <a:xfrm>
            <a:off x="8449056" y="3401568"/>
            <a:ext cx="1005840" cy="320040"/>
          </a:xfrm>
          <a:prstGeom prst="rect">
            <a:avLst/>
          </a:prstGeom>
          <a:noFill/>
          <a:ln/>
        </p:spPr>
        <p:txBody>
          <a:bodyPr wrap="square" lIns="0" tIns="0" rIns="0" bIns="0" rtlCol="0" anchor="t"/>
          <a:lstStyle/>
          <a:p>
            <a:pPr algn="ctr" indent="0" marL="0">
              <a:buNone/>
            </a:pPr>
            <a:r>
              <a:rPr lang="en-US" sz="1500" dirty="0">
                <a:solidFill>
                  <a:schemeClr val="tx2"/>
                </a:solidFill>
              </a:rPr>
              <a:t>6</a:t>
            </a:r>
            <a:endParaRPr lang="en-US" sz="1500" dirty="0"/>
          </a:p>
        </p:txBody>
      </p:sp>
      <p:sp>
        <p:nvSpPr>
          <p:cNvPr id="23" name="Text 20"/>
          <p:cNvSpPr txBox="1"/>
          <p:nvPr/>
        </p:nvSpPr>
        <p:spPr>
          <a:xfrm>
            <a:off x="9592056" y="3401568"/>
            <a:ext cx="1005840" cy="320040"/>
          </a:xfrm>
          <a:prstGeom prst="rect">
            <a:avLst/>
          </a:prstGeom>
          <a:noFill/>
          <a:ln/>
        </p:spPr>
        <p:txBody>
          <a:bodyPr wrap="square" lIns="0" tIns="0" rIns="0" bIns="0" rtlCol="0" anchor="t"/>
          <a:lstStyle/>
          <a:p>
            <a:pPr algn="ctr" indent="0" marL="0">
              <a:buNone/>
            </a:pPr>
            <a:r>
              <a:rPr lang="en-US" sz="1500" dirty="0">
                <a:solidFill>
                  <a:schemeClr val="tx2"/>
                </a:solidFill>
              </a:rPr>
              <a:t>7</a:t>
            </a:r>
            <a:endParaRPr lang="en-US" sz="1500" dirty="0"/>
          </a:p>
        </p:txBody>
      </p:sp>
      <p:sp>
        <p:nvSpPr>
          <p:cNvPr id="24" name="Info card 1"/>
          <p:cNvSpPr/>
          <p:nvPr/>
        </p:nvSpPr>
        <p:spPr>
          <a:xfrm>
            <a:off x="640080" y="4114800"/>
            <a:ext cx="3474720" cy="1143000"/>
          </a:xfrm>
          <a:prstGeom prst="roundRect">
            <a:avLst>
              <a:gd name="adj" fmla="val 9600"/>
            </a:avLst>
          </a:prstGeom>
          <a:solidFill>
            <a:schemeClr val="accent4"/>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25" name="Text 22"/>
          <p:cNvSpPr txBox="1"/>
          <p:nvPr/>
        </p:nvSpPr>
        <p:spPr>
          <a:xfrm>
            <a:off x="868680" y="4297680"/>
            <a:ext cx="3017520" cy="274320"/>
          </a:xfrm>
          <a:prstGeom prst="rect">
            <a:avLst/>
          </a:prstGeom>
          <a:noFill/>
          <a:ln/>
        </p:spPr>
        <p:txBody>
          <a:bodyPr wrap="square" lIns="0" tIns="0" rIns="0" bIns="0" rtlCol="0" anchor="t"/>
          <a:lstStyle/>
          <a:p>
            <a:pPr indent="0" marL="0">
              <a:buNone/>
            </a:pPr>
            <a:r>
              <a:rPr lang="en-US" sz="1200" b="1" spc="200" kern="0" dirty="0">
                <a:solidFill>
                  <a:schemeClr val="tx2"/>
                </a:solidFill>
              </a:rPr>
              <a:t>INPUT SIZE</a:t>
            </a:r>
            <a:endParaRPr lang="en-US" sz="1200" dirty="0"/>
          </a:p>
        </p:txBody>
      </p:sp>
      <p:sp>
        <p:nvSpPr>
          <p:cNvPr id="26" name="Text 23"/>
          <p:cNvSpPr txBox="1"/>
          <p:nvPr/>
        </p:nvSpPr>
        <p:spPr>
          <a:xfrm>
            <a:off x="868680" y="4617720"/>
            <a:ext cx="301752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 = 8</a:t>
            </a:r>
            <a:endParaRPr lang="en-US" sz="2000" dirty="0"/>
          </a:p>
        </p:txBody>
      </p:sp>
      <p:sp>
        <p:nvSpPr>
          <p:cNvPr id="27" name="Info card 2"/>
          <p:cNvSpPr/>
          <p:nvPr/>
        </p:nvSpPr>
        <p:spPr>
          <a:xfrm>
            <a:off x="4361688" y="4114800"/>
            <a:ext cx="3474720" cy="1143000"/>
          </a:xfrm>
          <a:prstGeom prst="roundRect">
            <a:avLst>
              <a:gd name="adj" fmla="val 9600"/>
            </a:avLst>
          </a:prstGeom>
          <a:solidFill>
            <a:schemeClr val="accent5"/>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28" name="Text 25"/>
          <p:cNvSpPr txBox="1"/>
          <p:nvPr/>
        </p:nvSpPr>
        <p:spPr>
          <a:xfrm>
            <a:off x="4590288" y="4297680"/>
            <a:ext cx="3017520" cy="274320"/>
          </a:xfrm>
          <a:prstGeom prst="rect">
            <a:avLst/>
          </a:prstGeom>
          <a:noFill/>
          <a:ln/>
        </p:spPr>
        <p:txBody>
          <a:bodyPr wrap="square" lIns="0" tIns="0" rIns="0" bIns="0" rtlCol="0" anchor="t"/>
          <a:lstStyle/>
          <a:p>
            <a:pPr indent="0" marL="0">
              <a:buNone/>
            </a:pPr>
            <a:r>
              <a:rPr lang="en-US" sz="1200" b="1" spc="200" kern="0" dirty="0">
                <a:solidFill>
                  <a:schemeClr val="tx2"/>
                </a:solidFill>
              </a:rPr>
              <a:t>INDEX RANGE</a:t>
            </a:r>
            <a:endParaRPr lang="en-US" sz="1200" dirty="0"/>
          </a:p>
        </p:txBody>
      </p:sp>
      <p:sp>
        <p:nvSpPr>
          <p:cNvPr id="29" name="Text 26"/>
          <p:cNvSpPr txBox="1"/>
          <p:nvPr/>
        </p:nvSpPr>
        <p:spPr>
          <a:xfrm>
            <a:off x="4590288" y="4617720"/>
            <a:ext cx="301752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low = 0,  high = 7</a:t>
            </a:r>
            <a:endParaRPr lang="en-US" sz="2000" dirty="0"/>
          </a:p>
        </p:txBody>
      </p:sp>
      <p:sp>
        <p:nvSpPr>
          <p:cNvPr id="30" name="Info card 3"/>
          <p:cNvSpPr/>
          <p:nvPr/>
        </p:nvSpPr>
        <p:spPr>
          <a:xfrm>
            <a:off x="8083296" y="4114800"/>
            <a:ext cx="3474720" cy="1143000"/>
          </a:xfrm>
          <a:prstGeom prst="roundRect">
            <a:avLst>
              <a:gd name="adj" fmla="val 9600"/>
            </a:avLst>
          </a:prstGeom>
          <a:solidFill>
            <a:schemeClr val="accent6"/>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31" name="Text 28"/>
          <p:cNvSpPr txBox="1"/>
          <p:nvPr/>
        </p:nvSpPr>
        <p:spPr>
          <a:xfrm>
            <a:off x="8311896" y="4297680"/>
            <a:ext cx="3017520" cy="274320"/>
          </a:xfrm>
          <a:prstGeom prst="rect">
            <a:avLst/>
          </a:prstGeom>
          <a:noFill/>
          <a:ln/>
        </p:spPr>
        <p:txBody>
          <a:bodyPr wrap="square" lIns="0" tIns="0" rIns="0" bIns="0" rtlCol="0" anchor="t"/>
          <a:lstStyle/>
          <a:p>
            <a:pPr indent="0" marL="0">
              <a:buNone/>
            </a:pPr>
            <a:r>
              <a:rPr lang="en-US" sz="1200" b="1" spc="200" kern="0" dirty="0">
                <a:solidFill>
                  <a:schemeClr val="tx2"/>
                </a:solidFill>
              </a:rPr>
              <a:t>MIDDLE INDEX</a:t>
            </a:r>
            <a:endParaRPr lang="en-US" sz="1200" dirty="0"/>
          </a:p>
        </p:txBody>
      </p:sp>
      <p:sp>
        <p:nvSpPr>
          <p:cNvPr id="32" name="Text 29"/>
          <p:cNvSpPr txBox="1"/>
          <p:nvPr/>
        </p:nvSpPr>
        <p:spPr>
          <a:xfrm>
            <a:off x="8311896" y="4617720"/>
            <a:ext cx="301752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mid = ⌊(0 + 7) / 2⌋ = 3</a:t>
            </a:r>
            <a:endParaRPr lang="en-US" sz="2000" dirty="0"/>
          </a:p>
        </p:txBody>
      </p:sp>
      <p:sp>
        <p:nvSpPr>
          <p:cNvPr id="33" name="Chip"/>
          <p:cNvSpPr txBox="1"/>
          <p:nvPr/>
        </p:nvSpPr>
        <p:spPr>
          <a:xfrm>
            <a:off x="640080" y="5532120"/>
            <a:ext cx="10917936" cy="548640"/>
          </a:xfrm>
          <a:prstGeom prst="roundRect">
            <a:avLst>
              <a:gd name="adj" fmla="val 30000"/>
            </a:avLst>
          </a:prstGeom>
          <a:solidFill>
            <a:schemeClr val="bg1"/>
          </a:solidFill>
          <a:ln w="12700">
            <a:solidFill>
              <a:schemeClr val="accent4"/>
            </a:solidFill>
          </a:ln>
        </p:spPr>
        <p:txBody>
          <a:bodyPr wrap="square" lIns="635" tIns="635" rIns="635" bIns="635" rtlCol="0" anchor="ctr"/>
          <a:lstStyle/>
          <a:p>
            <a:pPr algn="ctr" indent="0" marL="0">
              <a:buNone/>
            </a:pPr>
            <a:r>
              <a:rPr lang="en-US" sz="1700" dirty="0">
                <a:solidFill>
                  <a:schemeClr val="tx2"/>
                </a:solidFill>
              </a:rPr>
              <a:t>Goal: arrange the eight elements in ascending order</a:t>
            </a:r>
            <a:endParaRPr lang="en-US" sz="17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t"/>
          <a:lstStyle/>
          <a:p>
            <a:pPr indent="0" marL="0">
              <a:buNone/>
            </a:pPr>
            <a:r>
              <a:rPr lang="en-US" sz="1200" b="1" spc="300" kern="0" dirty="0">
                <a:solidFill>
                  <a:schemeClr val="tx2"/>
                </a:solidFill>
              </a:rPr>
              <a:t>STEP 1 · DIVIDE</a:t>
            </a:r>
            <a:endParaRPr lang="en-US" sz="1200" dirty="0"/>
          </a:p>
        </p:txBody>
      </p:sp>
      <p:sp>
        <p:nvSpPr>
          <p:cNvPr id="3" name="Text 2"/>
          <p:cNvSpPr/>
          <p:nvPr>
            <p:ph idx="102"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Splitting Down to Single Elements</a:t>
            </a:r>
            <a:endParaRPr lang="en-US" sz="3400" dirty="0"/>
          </a:p>
        </p:txBody>
      </p:sp>
      <p:sp>
        <p:nvSpPr>
          <p:cNvPr id="5" name="Text 2"/>
          <p:cNvSpPr txBox="1"/>
          <p:nvPr/>
        </p:nvSpPr>
        <p:spPr>
          <a:xfrm>
            <a:off x="411480" y="1581912"/>
            <a:ext cx="1188720" cy="566928"/>
          </a:xfrm>
          <a:prstGeom prst="rect">
            <a:avLst/>
          </a:prstGeom>
          <a:noFill/>
          <a:ln/>
        </p:spPr>
        <p:txBody>
          <a:bodyPr wrap="square" lIns="0" tIns="0" rIns="0" bIns="0" rtlCol="0" anchor="ctr"/>
          <a:lstStyle/>
          <a:p>
            <a:pPr indent="0" marL="0">
              <a:buNone/>
            </a:pPr>
            <a:r>
              <a:rPr lang="en-US" sz="1300" b="1" dirty="0">
                <a:solidFill>
                  <a:schemeClr val="tx2"/>
                </a:solidFill>
              </a:rPr>
              <a:t>Level 0</a:t>
            </a:r>
            <a:endParaRPr lang="en-US" sz="1400" dirty="0"/>
          </a:p>
          <a:p>
            <a:pPr indent="0" marL="0">
              <a:buNone/>
            </a:pPr>
            <a:r>
              <a:rPr lang="en-US" sz="1200" dirty="0">
                <a:solidFill>
                  <a:schemeClr val="tx2"/>
                </a:solidFill>
              </a:rPr>
              <a:t>n = 8</a:t>
            </a:r>
            <a:endParaRPr lang="en-US" sz="1400" dirty="0"/>
          </a:p>
        </p:txBody>
      </p:sp>
      <p:sp>
        <p:nvSpPr>
          <p:cNvPr id="6" name="Level 0 cell"/>
          <p:cNvSpPr txBox="1"/>
          <p:nvPr/>
        </p:nvSpPr>
        <p:spPr>
          <a:xfrm>
            <a:off x="3767328" y="1600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38</a:t>
            </a:r>
            <a:endParaRPr lang="en-US" sz="1500" dirty="0"/>
          </a:p>
        </p:txBody>
      </p:sp>
      <p:sp>
        <p:nvSpPr>
          <p:cNvPr id="7" name="Level 0 cell"/>
          <p:cNvSpPr txBox="1"/>
          <p:nvPr/>
        </p:nvSpPr>
        <p:spPr>
          <a:xfrm>
            <a:off x="4315968" y="1600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27</a:t>
            </a:r>
            <a:endParaRPr lang="en-US" sz="1500" dirty="0"/>
          </a:p>
        </p:txBody>
      </p:sp>
      <p:sp>
        <p:nvSpPr>
          <p:cNvPr id="8" name="Level 0 cell"/>
          <p:cNvSpPr txBox="1"/>
          <p:nvPr/>
        </p:nvSpPr>
        <p:spPr>
          <a:xfrm>
            <a:off x="4864608" y="1600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43</a:t>
            </a:r>
            <a:endParaRPr lang="en-US" sz="1500" dirty="0"/>
          </a:p>
        </p:txBody>
      </p:sp>
      <p:sp>
        <p:nvSpPr>
          <p:cNvPr id="9" name="Level 0 cell"/>
          <p:cNvSpPr txBox="1"/>
          <p:nvPr/>
        </p:nvSpPr>
        <p:spPr>
          <a:xfrm>
            <a:off x="5413248" y="1600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0" name="Level 0 cell"/>
          <p:cNvSpPr txBox="1"/>
          <p:nvPr/>
        </p:nvSpPr>
        <p:spPr>
          <a:xfrm>
            <a:off x="5961888" y="1600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9</a:t>
            </a:r>
            <a:endParaRPr lang="en-US" sz="1500" dirty="0"/>
          </a:p>
        </p:txBody>
      </p:sp>
      <p:sp>
        <p:nvSpPr>
          <p:cNvPr id="11" name="Level 0 cell"/>
          <p:cNvSpPr txBox="1"/>
          <p:nvPr/>
        </p:nvSpPr>
        <p:spPr>
          <a:xfrm>
            <a:off x="6510528" y="1600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82</a:t>
            </a:r>
            <a:endParaRPr lang="en-US" sz="1500" dirty="0"/>
          </a:p>
        </p:txBody>
      </p:sp>
      <p:sp>
        <p:nvSpPr>
          <p:cNvPr id="12" name="Level 0 cell"/>
          <p:cNvSpPr txBox="1"/>
          <p:nvPr/>
        </p:nvSpPr>
        <p:spPr>
          <a:xfrm>
            <a:off x="7059168" y="1600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10</a:t>
            </a:r>
            <a:endParaRPr lang="en-US" sz="1500" dirty="0"/>
          </a:p>
        </p:txBody>
      </p:sp>
      <p:sp>
        <p:nvSpPr>
          <p:cNvPr id="13" name="Level 0 cell"/>
          <p:cNvSpPr txBox="1"/>
          <p:nvPr/>
        </p:nvSpPr>
        <p:spPr>
          <a:xfrm>
            <a:off x="7607808" y="1600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15</a:t>
            </a:r>
            <a:endParaRPr lang="en-US" sz="1500" dirty="0"/>
          </a:p>
        </p:txBody>
      </p:sp>
      <p:sp>
        <p:nvSpPr>
          <p:cNvPr id="14" name="Text 11"/>
          <p:cNvSpPr txBox="1"/>
          <p:nvPr/>
        </p:nvSpPr>
        <p:spPr>
          <a:xfrm>
            <a:off x="411480" y="2724912"/>
            <a:ext cx="1188720" cy="566928"/>
          </a:xfrm>
          <a:prstGeom prst="rect">
            <a:avLst/>
          </a:prstGeom>
          <a:noFill/>
          <a:ln/>
        </p:spPr>
        <p:txBody>
          <a:bodyPr wrap="square" lIns="0" tIns="0" rIns="0" bIns="0" rtlCol="0" anchor="ctr"/>
          <a:lstStyle/>
          <a:p>
            <a:pPr indent="0" marL="0">
              <a:buNone/>
            </a:pPr>
            <a:r>
              <a:rPr lang="en-US" sz="1300" b="1" dirty="0">
                <a:solidFill>
                  <a:schemeClr val="tx2"/>
                </a:solidFill>
              </a:rPr>
              <a:t>Level 1</a:t>
            </a:r>
            <a:endParaRPr lang="en-US" sz="1400" dirty="0"/>
          </a:p>
          <a:p>
            <a:pPr indent="0" marL="0">
              <a:buNone/>
            </a:pPr>
            <a:r>
              <a:rPr lang="en-US" sz="1200" dirty="0">
                <a:solidFill>
                  <a:schemeClr val="tx2"/>
                </a:solidFill>
              </a:rPr>
              <a:t>n = 4</a:t>
            </a:r>
            <a:endParaRPr lang="en-US" sz="1400" dirty="0"/>
          </a:p>
        </p:txBody>
      </p:sp>
      <p:sp>
        <p:nvSpPr>
          <p:cNvPr id="15" name="Level 1 cell"/>
          <p:cNvSpPr txBox="1"/>
          <p:nvPr/>
        </p:nvSpPr>
        <p:spPr>
          <a:xfrm>
            <a:off x="2670048" y="2743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38</a:t>
            </a:r>
            <a:endParaRPr lang="en-US" sz="1500" dirty="0"/>
          </a:p>
        </p:txBody>
      </p:sp>
      <p:sp>
        <p:nvSpPr>
          <p:cNvPr id="16" name="Level 1 cell"/>
          <p:cNvSpPr txBox="1"/>
          <p:nvPr/>
        </p:nvSpPr>
        <p:spPr>
          <a:xfrm>
            <a:off x="3218688" y="2743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27</a:t>
            </a:r>
            <a:endParaRPr lang="en-US" sz="1500" dirty="0"/>
          </a:p>
        </p:txBody>
      </p:sp>
      <p:sp>
        <p:nvSpPr>
          <p:cNvPr id="17" name="Level 1 cell"/>
          <p:cNvSpPr txBox="1"/>
          <p:nvPr/>
        </p:nvSpPr>
        <p:spPr>
          <a:xfrm>
            <a:off x="3767328" y="2743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43</a:t>
            </a:r>
            <a:endParaRPr lang="en-US" sz="1500" dirty="0"/>
          </a:p>
        </p:txBody>
      </p:sp>
      <p:sp>
        <p:nvSpPr>
          <p:cNvPr id="18" name="Level 1 cell"/>
          <p:cNvSpPr txBox="1"/>
          <p:nvPr/>
        </p:nvSpPr>
        <p:spPr>
          <a:xfrm>
            <a:off x="4315968" y="2743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9" name="Connector"/>
          <p:cNvSpPr/>
          <p:nvPr/>
        </p:nvSpPr>
        <p:spPr>
          <a:xfrm flipH="1">
            <a:off x="3749040" y="2112264"/>
            <a:ext cx="2194560" cy="630936"/>
          </a:xfrm>
          <a:prstGeom prst="line">
            <a:avLst/>
          </a:prstGeom>
          <a:noFill/>
          <a:ln w="15875">
            <a:solidFill>
              <a:schemeClr val="accent3"/>
            </a:solidFill>
            <a:prstDash val="solid"/>
            <a:tailEnd type="triangle"/>
          </a:ln>
        </p:spPr>
      </p:sp>
      <p:sp>
        <p:nvSpPr>
          <p:cNvPr id="20" name="Level 1 cell"/>
          <p:cNvSpPr txBox="1"/>
          <p:nvPr/>
        </p:nvSpPr>
        <p:spPr>
          <a:xfrm>
            <a:off x="7059168" y="2743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9</a:t>
            </a:r>
            <a:endParaRPr lang="en-US" sz="1500" dirty="0"/>
          </a:p>
        </p:txBody>
      </p:sp>
      <p:sp>
        <p:nvSpPr>
          <p:cNvPr id="21" name="Level 1 cell"/>
          <p:cNvSpPr txBox="1"/>
          <p:nvPr/>
        </p:nvSpPr>
        <p:spPr>
          <a:xfrm>
            <a:off x="7607808" y="2743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82</a:t>
            </a:r>
            <a:endParaRPr lang="en-US" sz="1500" dirty="0"/>
          </a:p>
        </p:txBody>
      </p:sp>
      <p:sp>
        <p:nvSpPr>
          <p:cNvPr id="22" name="Level 1 cell"/>
          <p:cNvSpPr txBox="1"/>
          <p:nvPr/>
        </p:nvSpPr>
        <p:spPr>
          <a:xfrm>
            <a:off x="8156448" y="2743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10</a:t>
            </a:r>
            <a:endParaRPr lang="en-US" sz="1500" dirty="0"/>
          </a:p>
        </p:txBody>
      </p:sp>
      <p:sp>
        <p:nvSpPr>
          <p:cNvPr id="23" name="Level 1 cell"/>
          <p:cNvSpPr txBox="1"/>
          <p:nvPr/>
        </p:nvSpPr>
        <p:spPr>
          <a:xfrm>
            <a:off x="8705088" y="2743200"/>
            <a:ext cx="512064" cy="512064"/>
          </a:xfrm>
          <a:prstGeom prst="roundRect">
            <a:avLst>
              <a:gd name="adj" fmla="val 10714"/>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15</a:t>
            </a:r>
            <a:endParaRPr lang="en-US" sz="1500" dirty="0"/>
          </a:p>
        </p:txBody>
      </p:sp>
      <p:sp>
        <p:nvSpPr>
          <p:cNvPr id="24" name="Connector"/>
          <p:cNvSpPr/>
          <p:nvPr/>
        </p:nvSpPr>
        <p:spPr>
          <a:xfrm>
            <a:off x="5943600" y="2112264"/>
            <a:ext cx="2194560" cy="630936"/>
          </a:xfrm>
          <a:prstGeom prst="line">
            <a:avLst/>
          </a:prstGeom>
          <a:noFill/>
          <a:ln w="15875">
            <a:solidFill>
              <a:schemeClr val="accent3"/>
            </a:solidFill>
            <a:prstDash val="solid"/>
            <a:tailEnd type="triangle"/>
          </a:ln>
        </p:spPr>
      </p:sp>
      <p:sp>
        <p:nvSpPr>
          <p:cNvPr id="25" name="Text 22"/>
          <p:cNvSpPr txBox="1"/>
          <p:nvPr/>
        </p:nvSpPr>
        <p:spPr>
          <a:xfrm>
            <a:off x="411480" y="3867912"/>
            <a:ext cx="1188720" cy="566928"/>
          </a:xfrm>
          <a:prstGeom prst="rect">
            <a:avLst/>
          </a:prstGeom>
          <a:noFill/>
          <a:ln/>
        </p:spPr>
        <p:txBody>
          <a:bodyPr wrap="square" lIns="0" tIns="0" rIns="0" bIns="0" rtlCol="0" anchor="ctr"/>
          <a:lstStyle/>
          <a:p>
            <a:pPr indent="0" marL="0">
              <a:buNone/>
            </a:pPr>
            <a:r>
              <a:rPr lang="en-US" sz="1300" b="1" dirty="0">
                <a:solidFill>
                  <a:schemeClr val="tx2"/>
                </a:solidFill>
              </a:rPr>
              <a:t>Level 2</a:t>
            </a:r>
            <a:endParaRPr lang="en-US" sz="1400" dirty="0"/>
          </a:p>
          <a:p>
            <a:pPr indent="0" marL="0">
              <a:buNone/>
            </a:pPr>
            <a:r>
              <a:rPr lang="en-US" sz="1200" dirty="0">
                <a:solidFill>
                  <a:schemeClr val="tx2"/>
                </a:solidFill>
              </a:rPr>
              <a:t>n = 2</a:t>
            </a:r>
            <a:endParaRPr lang="en-US" sz="1400" dirty="0"/>
          </a:p>
        </p:txBody>
      </p:sp>
      <p:sp>
        <p:nvSpPr>
          <p:cNvPr id="26" name="Level 2 cell"/>
          <p:cNvSpPr txBox="1"/>
          <p:nvPr/>
        </p:nvSpPr>
        <p:spPr>
          <a:xfrm>
            <a:off x="2121408" y="3886200"/>
            <a:ext cx="512064" cy="512064"/>
          </a:xfrm>
          <a:prstGeom prst="roundRect">
            <a:avLst>
              <a:gd name="adj" fmla="val 10714"/>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500" b="1" dirty="0">
                <a:solidFill>
                  <a:schemeClr val="tx1"/>
                </a:solidFill>
              </a:rPr>
              <a:t>38</a:t>
            </a:r>
            <a:endParaRPr lang="en-US" sz="1500" dirty="0"/>
          </a:p>
        </p:txBody>
      </p:sp>
      <p:sp>
        <p:nvSpPr>
          <p:cNvPr id="27" name="Level 2 cell"/>
          <p:cNvSpPr txBox="1"/>
          <p:nvPr/>
        </p:nvSpPr>
        <p:spPr>
          <a:xfrm>
            <a:off x="2670048" y="3886200"/>
            <a:ext cx="512064" cy="512064"/>
          </a:xfrm>
          <a:prstGeom prst="roundRect">
            <a:avLst>
              <a:gd name="adj" fmla="val 10714"/>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500" b="1" dirty="0">
                <a:solidFill>
                  <a:schemeClr val="tx1"/>
                </a:solidFill>
              </a:rPr>
              <a:t>27</a:t>
            </a:r>
            <a:endParaRPr lang="en-US" sz="1500" dirty="0"/>
          </a:p>
        </p:txBody>
      </p:sp>
      <p:sp>
        <p:nvSpPr>
          <p:cNvPr id="28" name="Connector"/>
          <p:cNvSpPr/>
          <p:nvPr/>
        </p:nvSpPr>
        <p:spPr>
          <a:xfrm flipH="1">
            <a:off x="2651760" y="3255264"/>
            <a:ext cx="1097280" cy="630936"/>
          </a:xfrm>
          <a:prstGeom prst="line">
            <a:avLst/>
          </a:prstGeom>
          <a:noFill/>
          <a:ln w="15875">
            <a:solidFill>
              <a:schemeClr val="accent3"/>
            </a:solidFill>
            <a:prstDash val="solid"/>
            <a:tailEnd type="triangle"/>
          </a:ln>
        </p:spPr>
      </p:sp>
      <p:sp>
        <p:nvSpPr>
          <p:cNvPr id="29" name="Level 2 cell"/>
          <p:cNvSpPr txBox="1"/>
          <p:nvPr/>
        </p:nvSpPr>
        <p:spPr>
          <a:xfrm>
            <a:off x="4315968" y="3886200"/>
            <a:ext cx="512064" cy="512064"/>
          </a:xfrm>
          <a:prstGeom prst="roundRect">
            <a:avLst>
              <a:gd name="adj" fmla="val 10714"/>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500" b="1" dirty="0">
                <a:solidFill>
                  <a:schemeClr val="tx1"/>
                </a:solidFill>
              </a:rPr>
              <a:t>43</a:t>
            </a:r>
            <a:endParaRPr lang="en-US" sz="1500" dirty="0"/>
          </a:p>
        </p:txBody>
      </p:sp>
      <p:sp>
        <p:nvSpPr>
          <p:cNvPr id="30" name="Level 2 cell"/>
          <p:cNvSpPr txBox="1"/>
          <p:nvPr/>
        </p:nvSpPr>
        <p:spPr>
          <a:xfrm>
            <a:off x="4864608" y="3886200"/>
            <a:ext cx="512064" cy="512064"/>
          </a:xfrm>
          <a:prstGeom prst="roundRect">
            <a:avLst>
              <a:gd name="adj" fmla="val 10714"/>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31" name="Connector"/>
          <p:cNvSpPr/>
          <p:nvPr/>
        </p:nvSpPr>
        <p:spPr>
          <a:xfrm>
            <a:off x="3749040" y="3255264"/>
            <a:ext cx="1097280" cy="630936"/>
          </a:xfrm>
          <a:prstGeom prst="line">
            <a:avLst/>
          </a:prstGeom>
          <a:noFill/>
          <a:ln w="15875">
            <a:solidFill>
              <a:schemeClr val="accent3"/>
            </a:solidFill>
            <a:prstDash val="solid"/>
            <a:tailEnd type="triangle"/>
          </a:ln>
        </p:spPr>
      </p:sp>
      <p:sp>
        <p:nvSpPr>
          <p:cNvPr id="32" name="Level 2 cell"/>
          <p:cNvSpPr txBox="1"/>
          <p:nvPr/>
        </p:nvSpPr>
        <p:spPr>
          <a:xfrm>
            <a:off x="6510528" y="3886200"/>
            <a:ext cx="512064" cy="512064"/>
          </a:xfrm>
          <a:prstGeom prst="roundRect">
            <a:avLst>
              <a:gd name="adj" fmla="val 10714"/>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500" b="1" dirty="0">
                <a:solidFill>
                  <a:schemeClr val="tx1"/>
                </a:solidFill>
              </a:rPr>
              <a:t>9</a:t>
            </a:r>
            <a:endParaRPr lang="en-US" sz="1500" dirty="0"/>
          </a:p>
        </p:txBody>
      </p:sp>
      <p:sp>
        <p:nvSpPr>
          <p:cNvPr id="33" name="Level 2 cell"/>
          <p:cNvSpPr txBox="1"/>
          <p:nvPr/>
        </p:nvSpPr>
        <p:spPr>
          <a:xfrm>
            <a:off x="7059168" y="3886200"/>
            <a:ext cx="512064" cy="512064"/>
          </a:xfrm>
          <a:prstGeom prst="roundRect">
            <a:avLst>
              <a:gd name="adj" fmla="val 10714"/>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500" b="1" dirty="0">
                <a:solidFill>
                  <a:schemeClr val="tx1"/>
                </a:solidFill>
              </a:rPr>
              <a:t>82</a:t>
            </a:r>
            <a:endParaRPr lang="en-US" sz="1500" dirty="0"/>
          </a:p>
        </p:txBody>
      </p:sp>
      <p:sp>
        <p:nvSpPr>
          <p:cNvPr id="34" name="Connector"/>
          <p:cNvSpPr/>
          <p:nvPr/>
        </p:nvSpPr>
        <p:spPr>
          <a:xfrm flipH="1">
            <a:off x="7040880" y="3255264"/>
            <a:ext cx="1097280" cy="630936"/>
          </a:xfrm>
          <a:prstGeom prst="line">
            <a:avLst/>
          </a:prstGeom>
          <a:noFill/>
          <a:ln w="15875">
            <a:solidFill>
              <a:schemeClr val="accent3"/>
            </a:solidFill>
            <a:prstDash val="solid"/>
            <a:tailEnd type="triangle"/>
          </a:ln>
        </p:spPr>
      </p:sp>
      <p:sp>
        <p:nvSpPr>
          <p:cNvPr id="35" name="Level 2 cell"/>
          <p:cNvSpPr txBox="1"/>
          <p:nvPr/>
        </p:nvSpPr>
        <p:spPr>
          <a:xfrm>
            <a:off x="8705088" y="3886200"/>
            <a:ext cx="512064" cy="512064"/>
          </a:xfrm>
          <a:prstGeom prst="roundRect">
            <a:avLst>
              <a:gd name="adj" fmla="val 10714"/>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500" b="1" dirty="0">
                <a:solidFill>
                  <a:schemeClr val="tx1"/>
                </a:solidFill>
              </a:rPr>
              <a:t>10</a:t>
            </a:r>
            <a:endParaRPr lang="en-US" sz="1500" dirty="0"/>
          </a:p>
        </p:txBody>
      </p:sp>
      <p:sp>
        <p:nvSpPr>
          <p:cNvPr id="36" name="Level 2 cell"/>
          <p:cNvSpPr txBox="1"/>
          <p:nvPr/>
        </p:nvSpPr>
        <p:spPr>
          <a:xfrm>
            <a:off x="9253728" y="3886200"/>
            <a:ext cx="512064" cy="512064"/>
          </a:xfrm>
          <a:prstGeom prst="roundRect">
            <a:avLst>
              <a:gd name="adj" fmla="val 10714"/>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500" b="1" dirty="0">
                <a:solidFill>
                  <a:schemeClr val="tx1"/>
                </a:solidFill>
              </a:rPr>
              <a:t>15</a:t>
            </a:r>
            <a:endParaRPr lang="en-US" sz="1500" dirty="0"/>
          </a:p>
        </p:txBody>
      </p:sp>
      <p:sp>
        <p:nvSpPr>
          <p:cNvPr id="37" name="Connector"/>
          <p:cNvSpPr/>
          <p:nvPr/>
        </p:nvSpPr>
        <p:spPr>
          <a:xfrm>
            <a:off x="8138160" y="3255264"/>
            <a:ext cx="1097280" cy="630936"/>
          </a:xfrm>
          <a:prstGeom prst="line">
            <a:avLst/>
          </a:prstGeom>
          <a:noFill/>
          <a:ln w="15875">
            <a:solidFill>
              <a:schemeClr val="accent3"/>
            </a:solidFill>
            <a:prstDash val="solid"/>
            <a:tailEnd type="triangle"/>
          </a:ln>
        </p:spPr>
      </p:sp>
      <p:sp>
        <p:nvSpPr>
          <p:cNvPr id="38" name="Text 35"/>
          <p:cNvSpPr txBox="1"/>
          <p:nvPr/>
        </p:nvSpPr>
        <p:spPr>
          <a:xfrm>
            <a:off x="411480" y="5010912"/>
            <a:ext cx="1188720" cy="566928"/>
          </a:xfrm>
          <a:prstGeom prst="rect">
            <a:avLst/>
          </a:prstGeom>
          <a:noFill/>
          <a:ln/>
        </p:spPr>
        <p:txBody>
          <a:bodyPr wrap="square" lIns="0" tIns="0" rIns="0" bIns="0" rtlCol="0" anchor="ctr"/>
          <a:lstStyle/>
          <a:p>
            <a:pPr indent="0" marL="0">
              <a:buNone/>
            </a:pPr>
            <a:r>
              <a:rPr lang="en-US" sz="1300" b="1" dirty="0">
                <a:solidFill>
                  <a:schemeClr val="tx2"/>
                </a:solidFill>
              </a:rPr>
              <a:t>Level 3</a:t>
            </a:r>
            <a:endParaRPr lang="en-US" sz="1400" dirty="0"/>
          </a:p>
          <a:p>
            <a:pPr indent="0" marL="0">
              <a:buNone/>
            </a:pPr>
            <a:r>
              <a:rPr lang="en-US" sz="1200" dirty="0">
                <a:solidFill>
                  <a:schemeClr val="tx2"/>
                </a:solidFill>
              </a:rPr>
              <a:t>n = 1</a:t>
            </a:r>
            <a:endParaRPr lang="en-US" sz="1400" dirty="0"/>
          </a:p>
        </p:txBody>
      </p:sp>
      <p:sp>
        <p:nvSpPr>
          <p:cNvPr id="39" name="Level 3 cell"/>
          <p:cNvSpPr txBox="1"/>
          <p:nvPr/>
        </p:nvSpPr>
        <p:spPr>
          <a:xfrm>
            <a:off x="1847088" y="5029200"/>
            <a:ext cx="512064" cy="512064"/>
          </a:xfrm>
          <a:prstGeom prst="roundRect">
            <a:avLst>
              <a:gd name="adj" fmla="val 10714"/>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500" b="1" dirty="0">
                <a:solidFill>
                  <a:schemeClr val="tx1"/>
                </a:solidFill>
              </a:rPr>
              <a:t>38</a:t>
            </a:r>
            <a:endParaRPr lang="en-US" sz="1500" dirty="0"/>
          </a:p>
        </p:txBody>
      </p:sp>
      <p:sp>
        <p:nvSpPr>
          <p:cNvPr id="40" name="Connector"/>
          <p:cNvSpPr/>
          <p:nvPr/>
        </p:nvSpPr>
        <p:spPr>
          <a:xfrm flipH="1">
            <a:off x="2103120" y="4398264"/>
            <a:ext cx="548640" cy="630936"/>
          </a:xfrm>
          <a:prstGeom prst="line">
            <a:avLst/>
          </a:prstGeom>
          <a:noFill/>
          <a:ln w="15875">
            <a:solidFill>
              <a:schemeClr val="accent3"/>
            </a:solidFill>
            <a:prstDash val="solid"/>
            <a:tailEnd type="triangle"/>
          </a:ln>
        </p:spPr>
      </p:sp>
      <p:sp>
        <p:nvSpPr>
          <p:cNvPr id="41" name="Level 3 cell"/>
          <p:cNvSpPr txBox="1"/>
          <p:nvPr/>
        </p:nvSpPr>
        <p:spPr>
          <a:xfrm>
            <a:off x="2944368" y="5029200"/>
            <a:ext cx="512064" cy="512064"/>
          </a:xfrm>
          <a:prstGeom prst="roundRect">
            <a:avLst>
              <a:gd name="adj" fmla="val 10714"/>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500" b="1" dirty="0">
                <a:solidFill>
                  <a:schemeClr val="tx1"/>
                </a:solidFill>
              </a:rPr>
              <a:t>27</a:t>
            </a:r>
            <a:endParaRPr lang="en-US" sz="1500" dirty="0"/>
          </a:p>
        </p:txBody>
      </p:sp>
      <p:sp>
        <p:nvSpPr>
          <p:cNvPr id="42" name="Connector"/>
          <p:cNvSpPr/>
          <p:nvPr/>
        </p:nvSpPr>
        <p:spPr>
          <a:xfrm>
            <a:off x="2651760" y="4398264"/>
            <a:ext cx="548640" cy="630936"/>
          </a:xfrm>
          <a:prstGeom prst="line">
            <a:avLst/>
          </a:prstGeom>
          <a:noFill/>
          <a:ln w="15875">
            <a:solidFill>
              <a:schemeClr val="accent3"/>
            </a:solidFill>
            <a:prstDash val="solid"/>
            <a:tailEnd type="triangle"/>
          </a:ln>
        </p:spPr>
      </p:sp>
      <p:sp>
        <p:nvSpPr>
          <p:cNvPr id="43" name="Level 3 cell"/>
          <p:cNvSpPr txBox="1"/>
          <p:nvPr/>
        </p:nvSpPr>
        <p:spPr>
          <a:xfrm>
            <a:off x="4041648" y="5029200"/>
            <a:ext cx="512064" cy="512064"/>
          </a:xfrm>
          <a:prstGeom prst="roundRect">
            <a:avLst>
              <a:gd name="adj" fmla="val 10714"/>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500" b="1" dirty="0">
                <a:solidFill>
                  <a:schemeClr val="tx1"/>
                </a:solidFill>
              </a:rPr>
              <a:t>43</a:t>
            </a:r>
            <a:endParaRPr lang="en-US" sz="1500" dirty="0"/>
          </a:p>
        </p:txBody>
      </p:sp>
      <p:sp>
        <p:nvSpPr>
          <p:cNvPr id="44" name="Connector"/>
          <p:cNvSpPr/>
          <p:nvPr/>
        </p:nvSpPr>
        <p:spPr>
          <a:xfrm flipH="1">
            <a:off x="4297680" y="4398264"/>
            <a:ext cx="548640" cy="630936"/>
          </a:xfrm>
          <a:prstGeom prst="line">
            <a:avLst/>
          </a:prstGeom>
          <a:noFill/>
          <a:ln w="15875">
            <a:solidFill>
              <a:schemeClr val="accent3"/>
            </a:solidFill>
            <a:prstDash val="solid"/>
            <a:tailEnd type="triangle"/>
          </a:ln>
        </p:spPr>
      </p:sp>
      <p:sp>
        <p:nvSpPr>
          <p:cNvPr id="45" name="Level 3 cell"/>
          <p:cNvSpPr txBox="1"/>
          <p:nvPr/>
        </p:nvSpPr>
        <p:spPr>
          <a:xfrm>
            <a:off x="5138928" y="5029200"/>
            <a:ext cx="512064" cy="512064"/>
          </a:xfrm>
          <a:prstGeom prst="roundRect">
            <a:avLst>
              <a:gd name="adj" fmla="val 10714"/>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46" name="Connector"/>
          <p:cNvSpPr/>
          <p:nvPr/>
        </p:nvSpPr>
        <p:spPr>
          <a:xfrm>
            <a:off x="4846320" y="4398264"/>
            <a:ext cx="548640" cy="630936"/>
          </a:xfrm>
          <a:prstGeom prst="line">
            <a:avLst/>
          </a:prstGeom>
          <a:noFill/>
          <a:ln w="15875">
            <a:solidFill>
              <a:schemeClr val="accent3"/>
            </a:solidFill>
            <a:prstDash val="solid"/>
            <a:tailEnd type="triangle"/>
          </a:ln>
        </p:spPr>
      </p:sp>
      <p:sp>
        <p:nvSpPr>
          <p:cNvPr id="47" name="Level 3 cell"/>
          <p:cNvSpPr txBox="1"/>
          <p:nvPr/>
        </p:nvSpPr>
        <p:spPr>
          <a:xfrm>
            <a:off x="6236208" y="5029200"/>
            <a:ext cx="512064" cy="512064"/>
          </a:xfrm>
          <a:prstGeom prst="roundRect">
            <a:avLst>
              <a:gd name="adj" fmla="val 10714"/>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500" b="1" dirty="0">
                <a:solidFill>
                  <a:schemeClr val="tx1"/>
                </a:solidFill>
              </a:rPr>
              <a:t>9</a:t>
            </a:r>
            <a:endParaRPr lang="en-US" sz="1500" dirty="0"/>
          </a:p>
        </p:txBody>
      </p:sp>
      <p:sp>
        <p:nvSpPr>
          <p:cNvPr id="48" name="Connector"/>
          <p:cNvSpPr/>
          <p:nvPr/>
        </p:nvSpPr>
        <p:spPr>
          <a:xfrm flipH="1">
            <a:off x="6492240" y="4398264"/>
            <a:ext cx="548640" cy="630936"/>
          </a:xfrm>
          <a:prstGeom prst="line">
            <a:avLst/>
          </a:prstGeom>
          <a:noFill/>
          <a:ln w="15875">
            <a:solidFill>
              <a:schemeClr val="accent3"/>
            </a:solidFill>
            <a:prstDash val="solid"/>
            <a:tailEnd type="triangle"/>
          </a:ln>
        </p:spPr>
      </p:sp>
      <p:sp>
        <p:nvSpPr>
          <p:cNvPr id="49" name="Level 3 cell"/>
          <p:cNvSpPr txBox="1"/>
          <p:nvPr/>
        </p:nvSpPr>
        <p:spPr>
          <a:xfrm>
            <a:off x="7333488" y="5029200"/>
            <a:ext cx="512064" cy="512064"/>
          </a:xfrm>
          <a:prstGeom prst="roundRect">
            <a:avLst>
              <a:gd name="adj" fmla="val 10714"/>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500" b="1" dirty="0">
                <a:solidFill>
                  <a:schemeClr val="tx1"/>
                </a:solidFill>
              </a:rPr>
              <a:t>82</a:t>
            </a:r>
            <a:endParaRPr lang="en-US" sz="1500" dirty="0"/>
          </a:p>
        </p:txBody>
      </p:sp>
      <p:sp>
        <p:nvSpPr>
          <p:cNvPr id="50" name="Connector"/>
          <p:cNvSpPr/>
          <p:nvPr/>
        </p:nvSpPr>
        <p:spPr>
          <a:xfrm>
            <a:off x="7040880" y="4398264"/>
            <a:ext cx="548640" cy="630936"/>
          </a:xfrm>
          <a:prstGeom prst="line">
            <a:avLst/>
          </a:prstGeom>
          <a:noFill/>
          <a:ln w="15875">
            <a:solidFill>
              <a:schemeClr val="accent3"/>
            </a:solidFill>
            <a:prstDash val="solid"/>
            <a:tailEnd type="triangle"/>
          </a:ln>
        </p:spPr>
      </p:sp>
      <p:sp>
        <p:nvSpPr>
          <p:cNvPr id="51" name="Level 3 cell"/>
          <p:cNvSpPr txBox="1"/>
          <p:nvPr/>
        </p:nvSpPr>
        <p:spPr>
          <a:xfrm>
            <a:off x="8430768" y="5029200"/>
            <a:ext cx="512064" cy="512064"/>
          </a:xfrm>
          <a:prstGeom prst="roundRect">
            <a:avLst>
              <a:gd name="adj" fmla="val 10714"/>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500" b="1" dirty="0">
                <a:solidFill>
                  <a:schemeClr val="tx1"/>
                </a:solidFill>
              </a:rPr>
              <a:t>10</a:t>
            </a:r>
            <a:endParaRPr lang="en-US" sz="1500" dirty="0"/>
          </a:p>
        </p:txBody>
      </p:sp>
      <p:sp>
        <p:nvSpPr>
          <p:cNvPr id="52" name="Connector"/>
          <p:cNvSpPr/>
          <p:nvPr/>
        </p:nvSpPr>
        <p:spPr>
          <a:xfrm flipH="1">
            <a:off x="8686800" y="4398264"/>
            <a:ext cx="548640" cy="630936"/>
          </a:xfrm>
          <a:prstGeom prst="line">
            <a:avLst/>
          </a:prstGeom>
          <a:noFill/>
          <a:ln w="15875">
            <a:solidFill>
              <a:schemeClr val="accent3"/>
            </a:solidFill>
            <a:prstDash val="solid"/>
            <a:tailEnd type="triangle"/>
          </a:ln>
        </p:spPr>
      </p:sp>
      <p:sp>
        <p:nvSpPr>
          <p:cNvPr id="53" name="Level 3 cell"/>
          <p:cNvSpPr txBox="1"/>
          <p:nvPr/>
        </p:nvSpPr>
        <p:spPr>
          <a:xfrm>
            <a:off x="9528048" y="5029200"/>
            <a:ext cx="512064" cy="512064"/>
          </a:xfrm>
          <a:prstGeom prst="roundRect">
            <a:avLst>
              <a:gd name="adj" fmla="val 10714"/>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500" b="1" dirty="0">
                <a:solidFill>
                  <a:schemeClr val="tx1"/>
                </a:solidFill>
              </a:rPr>
              <a:t>15</a:t>
            </a:r>
            <a:endParaRPr lang="en-US" sz="1500" dirty="0"/>
          </a:p>
        </p:txBody>
      </p:sp>
      <p:sp>
        <p:nvSpPr>
          <p:cNvPr id="54" name="Connector"/>
          <p:cNvSpPr/>
          <p:nvPr/>
        </p:nvSpPr>
        <p:spPr>
          <a:xfrm>
            <a:off x="9235440" y="4398264"/>
            <a:ext cx="548640" cy="630936"/>
          </a:xfrm>
          <a:prstGeom prst="line">
            <a:avLst/>
          </a:prstGeom>
          <a:noFill/>
          <a:ln w="15875">
            <a:solidFill>
              <a:schemeClr val="accent3"/>
            </a:solidFill>
            <a:prstDash val="solid"/>
            <a:tailEnd type="triangle"/>
          </a:ln>
        </p:spPr>
      </p:sp>
      <p:sp>
        <p:nvSpPr>
          <p:cNvPr id="55" name="Split count"/>
          <p:cNvSpPr/>
          <p:nvPr/>
        </p:nvSpPr>
        <p:spPr>
          <a:xfrm>
            <a:off x="10332720" y="2880360"/>
            <a:ext cx="1307592" cy="1325880"/>
          </a:xfrm>
          <a:prstGeom prst="roundRect">
            <a:avLst>
              <a:gd name="adj" fmla="val 8392"/>
            </a:avLst>
          </a:prstGeom>
          <a:solidFill>
            <a:schemeClr val="accent6"/>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56" name="Text 53"/>
          <p:cNvSpPr txBox="1"/>
          <p:nvPr/>
        </p:nvSpPr>
        <p:spPr>
          <a:xfrm>
            <a:off x="10332720" y="2880360"/>
            <a:ext cx="1307592" cy="1325880"/>
          </a:xfrm>
          <a:prstGeom prst="rect">
            <a:avLst/>
          </a:prstGeom>
          <a:noFill/>
          <a:ln/>
        </p:spPr>
        <p:txBody>
          <a:bodyPr wrap="square" lIns="0" tIns="0" rIns="0" bIns="0" rtlCol="0" anchor="ctr"/>
          <a:lstStyle/>
          <a:p>
            <a:pPr algn="ctr" indent="0" marL="0">
              <a:buNone/>
            </a:pPr>
            <a:r>
              <a:rPr lang="en-US" sz="1800" b="1" dirty="0">
                <a:solidFill>
                  <a:schemeClr val="tx1"/>
                </a:solidFill>
              </a:rPr>
              <a:t>3 splits</a:t>
            </a:r>
            <a:endParaRPr lang="en-US" sz="1400" dirty="0"/>
          </a:p>
          <a:p>
            <a:pPr algn="ctr" indent="0" marL="0">
              <a:buNone/>
            </a:pPr>
            <a:r>
              <a:rPr lang="en-US" sz="1500" dirty="0">
                <a:solidFill>
                  <a:schemeClr val="tx1"/>
                </a:solidFill>
              </a:rPr>
              <a:t>= log₂ 8</a:t>
            </a:r>
            <a:endParaRPr lang="en-US" sz="1400" dirty="0"/>
          </a:p>
        </p:txBody>
      </p:sp>
      <p:sp>
        <p:nvSpPr>
          <p:cNvPr id="57" name="Text 54"/>
          <p:cNvSpPr txBox="1"/>
          <p:nvPr/>
        </p:nvSpPr>
        <p:spPr>
          <a:xfrm>
            <a:off x="548640" y="5806440"/>
            <a:ext cx="11091672" cy="365760"/>
          </a:xfrm>
          <a:prstGeom prst="rect">
            <a:avLst/>
          </a:prstGeom>
          <a:noFill/>
          <a:ln/>
        </p:spPr>
        <p:txBody>
          <a:bodyPr wrap="square" lIns="0" tIns="0" rIns="0" bIns="0" rtlCol="0" anchor="t"/>
          <a:lstStyle/>
          <a:p>
            <a:pPr algn="ctr" indent="0" marL="0">
              <a:buNone/>
            </a:pPr>
            <a:r>
              <a:rPr lang="en-US" sz="1500" dirty="0">
                <a:solidFill>
                  <a:schemeClr val="tx2"/>
                </a:solidFill>
              </a:rPr>
              <a:t>Each split:  left half = low … mid,   right half = mid + 1 … high</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t"/>
          <a:lstStyle/>
          <a:p>
            <a:pPr indent="0" marL="0">
              <a:buNone/>
            </a:pPr>
            <a:r>
              <a:rPr lang="en-US" sz="1200" b="1" spc="300" kern="0" dirty="0">
                <a:solidFill>
                  <a:schemeClr val="tx2"/>
                </a:solidFill>
              </a:rPr>
              <a:t>BASE CASE</a:t>
            </a:r>
            <a:endParaRPr lang="en-US" sz="1200" dirty="0"/>
          </a:p>
        </p:txBody>
      </p:sp>
      <p:sp>
        <p:nvSpPr>
          <p:cNvPr id="3" name="Text 2"/>
          <p:cNvSpPr/>
          <p:nvPr>
            <p:ph idx="102"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When Does Splitting Stop?</a:t>
            </a:r>
            <a:endParaRPr lang="en-US" sz="3400" dirty="0"/>
          </a:p>
        </p:txBody>
      </p:sp>
      <p:sp>
        <p:nvSpPr>
          <p:cNvPr id="5" name="Base case card"/>
          <p:cNvSpPr/>
          <p:nvPr/>
        </p:nvSpPr>
        <p:spPr>
          <a:xfrm>
            <a:off x="548640" y="1508760"/>
            <a:ext cx="4937760" cy="4343400"/>
          </a:xfrm>
          <a:prstGeom prst="roundRect">
            <a:avLst>
              <a:gd name="adj" fmla="val 2526"/>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6" name="Text 3"/>
          <p:cNvSpPr txBox="1"/>
          <p:nvPr/>
        </p:nvSpPr>
        <p:spPr>
          <a:xfrm>
            <a:off x="914400" y="1783080"/>
            <a:ext cx="4206240" cy="457200"/>
          </a:xfrm>
          <a:prstGeom prst="rect">
            <a:avLst/>
          </a:prstGeom>
          <a:noFill/>
          <a:ln/>
        </p:spPr>
        <p:txBody>
          <a:bodyPr wrap="square" lIns="0" tIns="0" rIns="0" bIns="0" rtlCol="0" anchor="t"/>
          <a:lstStyle/>
          <a:p>
            <a:pPr indent="0" marL="0">
              <a:buNone/>
            </a:pPr>
            <a:r>
              <a:rPr lang="en-US" sz="2600" b="1" dirty="0">
                <a:solidFill>
                  <a:schemeClr val="tx1"/>
                </a:solidFill>
                <a:latin typeface="Cambria" pitchFamily="34" charset="0"/>
                <a:ea typeface="Cambria" pitchFamily="34" charset="-122"/>
                <a:cs typeface="Cambria" pitchFamily="34" charset="-120"/>
              </a:rPr>
              <a:t>Base case</a:t>
            </a:r>
            <a:endParaRPr lang="en-US" sz="2600" dirty="0"/>
          </a:p>
        </p:txBody>
      </p:sp>
      <p:sp>
        <p:nvSpPr>
          <p:cNvPr id="7" name="Chip"/>
          <p:cNvSpPr txBox="1"/>
          <p:nvPr/>
        </p:nvSpPr>
        <p:spPr>
          <a:xfrm>
            <a:off x="914400" y="2468880"/>
            <a:ext cx="4206240" cy="731520"/>
          </a:xfrm>
          <a:prstGeom prst="roundRect">
            <a:avLst>
              <a:gd name="adj" fmla="val 22500"/>
            </a:avLst>
          </a:prstGeom>
          <a:solidFill>
            <a:schemeClr val="accent5"/>
          </a:solidFill>
          <a:ln w="12700">
            <a:solidFill>
              <a:schemeClr val="accent4"/>
            </a:solidFill>
          </a:ln>
        </p:spPr>
        <p:txBody>
          <a:bodyPr wrap="square" lIns="635" tIns="635" rIns="635" bIns="635" rtlCol="0" anchor="ctr"/>
          <a:lstStyle/>
          <a:p>
            <a:pPr algn="ctr" indent="0" marL="0">
              <a:buNone/>
            </a:pPr>
            <a:r>
              <a:rPr lang="en-US" sz="2800" b="1" dirty="0">
                <a:solidFill>
                  <a:schemeClr val="tx1"/>
                </a:solidFill>
                <a:latin typeface="Courier New" pitchFamily="34" charset="0"/>
                <a:ea typeface="Courier New" pitchFamily="34" charset="-122"/>
                <a:cs typeface="Courier New" pitchFamily="34" charset="-120"/>
              </a:rPr>
              <a:t>low ≥ high</a:t>
            </a:r>
            <a:endParaRPr lang="en-US" sz="2800" dirty="0"/>
          </a:p>
        </p:txBody>
      </p:sp>
      <p:sp>
        <p:nvSpPr>
          <p:cNvPr id="8" name="Text 5"/>
          <p:cNvSpPr txBox="1"/>
          <p:nvPr/>
        </p:nvSpPr>
        <p:spPr>
          <a:xfrm>
            <a:off x="914400" y="3566160"/>
            <a:ext cx="4206240" cy="2103120"/>
          </a:xfrm>
          <a:prstGeom prst="rect">
            <a:avLst/>
          </a:prstGeom>
          <a:noFill/>
          <a:ln/>
        </p:spPr>
        <p:txBody>
          <a:bodyPr wrap="square" lIns="0" tIns="0" rIns="0" bIns="0" rtlCol="0" anchor="t"/>
          <a:lstStyle/>
          <a:p>
            <a:pPr marL="342900" indent="-342900">
              <a:spcAft>
                <a:spcPts val="1600"/>
              </a:spcAft>
              <a:buSzPct val="100000"/>
              <a:buChar char="•"/>
            </a:pPr>
            <a:r>
              <a:rPr lang="en-US" sz="1800" dirty="0">
                <a:solidFill>
                  <a:schemeClr val="tx1"/>
                </a:solidFill>
              </a:rPr>
              <a:t>The subarray has one element (or none)</a:t>
            </a:r>
            <a:endParaRPr lang="en-US" sz="1800" dirty="0"/>
          </a:p>
          <a:p>
            <a:pPr marL="342900" indent="-342900">
              <a:spcAft>
                <a:spcPts val="1600"/>
              </a:spcAft>
              <a:buSzPct val="100000"/>
              <a:buChar char="•"/>
            </a:pPr>
            <a:r>
              <a:rPr lang="en-US" sz="1800" dirty="0">
                <a:solidFill>
                  <a:schemeClr val="tx1"/>
                </a:solidFill>
              </a:rPr>
              <a:t>A single element is already sorted</a:t>
            </a:r>
            <a:endParaRPr lang="en-US" sz="1800" dirty="0"/>
          </a:p>
          <a:p>
            <a:pPr marL="342900" indent="-342900">
              <a:buSzPct val="100000"/>
              <a:buChar char="•"/>
            </a:pPr>
            <a:r>
              <a:rPr lang="en-US" sz="1800" dirty="0">
                <a:solidFill>
                  <a:schemeClr val="tx1"/>
                </a:solidFill>
              </a:rPr>
              <a:t>The function simply returns</a:t>
            </a:r>
            <a:endParaRPr lang="en-US" sz="1800" dirty="0"/>
          </a:p>
        </p:txBody>
      </p:sp>
      <p:sp>
        <p:nvSpPr>
          <p:cNvPr id="9" name="Text 6"/>
          <p:cNvSpPr txBox="1"/>
          <p:nvPr/>
        </p:nvSpPr>
        <p:spPr>
          <a:xfrm>
            <a:off x="5897880" y="1554480"/>
            <a:ext cx="566928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Eight single-element subarrays</a:t>
            </a:r>
            <a:endParaRPr lang="en-US" sz="2000" dirty="0"/>
          </a:p>
        </p:txBody>
      </p:sp>
      <p:sp>
        <p:nvSpPr>
          <p:cNvPr id="10" name="Base case cell"/>
          <p:cNvSpPr txBox="1"/>
          <p:nvPr/>
        </p:nvSpPr>
        <p:spPr>
          <a:xfrm>
            <a:off x="5897880" y="2103120"/>
            <a:ext cx="640080" cy="777240"/>
          </a:xfrm>
          <a:prstGeom prst="roundRect">
            <a:avLst>
              <a:gd name="adj" fmla="val 8571"/>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000" b="1" dirty="0">
                <a:solidFill>
                  <a:schemeClr val="tx1"/>
                </a:solidFill>
              </a:rPr>
              <a:t>38</a:t>
            </a:r>
            <a:endParaRPr lang="en-US" sz="2000" dirty="0"/>
          </a:p>
        </p:txBody>
      </p:sp>
      <p:sp>
        <p:nvSpPr>
          <p:cNvPr id="11" name="Base case cell"/>
          <p:cNvSpPr txBox="1"/>
          <p:nvPr/>
        </p:nvSpPr>
        <p:spPr>
          <a:xfrm>
            <a:off x="6611112" y="2103120"/>
            <a:ext cx="640080" cy="777240"/>
          </a:xfrm>
          <a:prstGeom prst="roundRect">
            <a:avLst>
              <a:gd name="adj" fmla="val 8571"/>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000" b="1" dirty="0">
                <a:solidFill>
                  <a:schemeClr val="tx1"/>
                </a:solidFill>
              </a:rPr>
              <a:t>27</a:t>
            </a:r>
            <a:endParaRPr lang="en-US" sz="2000" dirty="0"/>
          </a:p>
        </p:txBody>
      </p:sp>
      <p:sp>
        <p:nvSpPr>
          <p:cNvPr id="12" name="Base case cell"/>
          <p:cNvSpPr txBox="1"/>
          <p:nvPr/>
        </p:nvSpPr>
        <p:spPr>
          <a:xfrm>
            <a:off x="7324344" y="2103120"/>
            <a:ext cx="640080" cy="777240"/>
          </a:xfrm>
          <a:prstGeom prst="roundRect">
            <a:avLst>
              <a:gd name="adj" fmla="val 8571"/>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000" b="1" dirty="0">
                <a:solidFill>
                  <a:schemeClr val="tx1"/>
                </a:solidFill>
              </a:rPr>
              <a:t>43</a:t>
            </a:r>
            <a:endParaRPr lang="en-US" sz="2000" dirty="0"/>
          </a:p>
        </p:txBody>
      </p:sp>
      <p:sp>
        <p:nvSpPr>
          <p:cNvPr id="13" name="Base case cell"/>
          <p:cNvSpPr txBox="1"/>
          <p:nvPr/>
        </p:nvSpPr>
        <p:spPr>
          <a:xfrm>
            <a:off x="8037576" y="2103120"/>
            <a:ext cx="640080" cy="777240"/>
          </a:xfrm>
          <a:prstGeom prst="roundRect">
            <a:avLst>
              <a:gd name="adj" fmla="val 8571"/>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4" name="Base case cell"/>
          <p:cNvSpPr txBox="1"/>
          <p:nvPr/>
        </p:nvSpPr>
        <p:spPr>
          <a:xfrm>
            <a:off x="8750808" y="2103120"/>
            <a:ext cx="640080" cy="777240"/>
          </a:xfrm>
          <a:prstGeom prst="roundRect">
            <a:avLst>
              <a:gd name="adj" fmla="val 8571"/>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000" b="1" dirty="0">
                <a:solidFill>
                  <a:schemeClr val="tx1"/>
                </a:solidFill>
              </a:rPr>
              <a:t>9</a:t>
            </a:r>
            <a:endParaRPr lang="en-US" sz="2000" dirty="0"/>
          </a:p>
        </p:txBody>
      </p:sp>
      <p:sp>
        <p:nvSpPr>
          <p:cNvPr id="15" name="Base case cell"/>
          <p:cNvSpPr txBox="1"/>
          <p:nvPr/>
        </p:nvSpPr>
        <p:spPr>
          <a:xfrm>
            <a:off x="9464040" y="2103120"/>
            <a:ext cx="640080" cy="777240"/>
          </a:xfrm>
          <a:prstGeom prst="roundRect">
            <a:avLst>
              <a:gd name="adj" fmla="val 8571"/>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000" b="1" dirty="0">
                <a:solidFill>
                  <a:schemeClr val="tx1"/>
                </a:solidFill>
              </a:rPr>
              <a:t>82</a:t>
            </a:r>
            <a:endParaRPr lang="en-US" sz="2000" dirty="0"/>
          </a:p>
        </p:txBody>
      </p:sp>
      <p:sp>
        <p:nvSpPr>
          <p:cNvPr id="16" name="Base case cell"/>
          <p:cNvSpPr txBox="1"/>
          <p:nvPr/>
        </p:nvSpPr>
        <p:spPr>
          <a:xfrm>
            <a:off x="10177272" y="2103120"/>
            <a:ext cx="640080" cy="777240"/>
          </a:xfrm>
          <a:prstGeom prst="roundRect">
            <a:avLst>
              <a:gd name="adj" fmla="val 8571"/>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000" b="1" dirty="0">
                <a:solidFill>
                  <a:schemeClr val="tx1"/>
                </a:solidFill>
              </a:rPr>
              <a:t>10</a:t>
            </a:r>
            <a:endParaRPr lang="en-US" sz="2000" dirty="0"/>
          </a:p>
        </p:txBody>
      </p:sp>
      <p:sp>
        <p:nvSpPr>
          <p:cNvPr id="17" name="Base case cell"/>
          <p:cNvSpPr txBox="1"/>
          <p:nvPr/>
        </p:nvSpPr>
        <p:spPr>
          <a:xfrm>
            <a:off x="10890504" y="2103120"/>
            <a:ext cx="640080" cy="777240"/>
          </a:xfrm>
          <a:prstGeom prst="roundRect">
            <a:avLst>
              <a:gd name="adj" fmla="val 8571"/>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000" b="1" dirty="0">
                <a:solidFill>
                  <a:schemeClr val="tx1"/>
                </a:solidFill>
              </a:rPr>
              <a:t>15</a:t>
            </a:r>
            <a:endParaRPr lang="en-US" sz="2000" dirty="0"/>
          </a:p>
        </p:txBody>
      </p:sp>
      <p:sp>
        <p:nvSpPr>
          <p:cNvPr id="18" name="Text 15"/>
          <p:cNvSpPr txBox="1"/>
          <p:nvPr/>
        </p:nvSpPr>
        <p:spPr>
          <a:xfrm>
            <a:off x="5897880" y="3017520"/>
            <a:ext cx="5669280" cy="274320"/>
          </a:xfrm>
          <a:prstGeom prst="rect">
            <a:avLst/>
          </a:prstGeom>
          <a:noFill/>
          <a:ln/>
        </p:spPr>
        <p:txBody>
          <a:bodyPr wrap="square" lIns="0" tIns="0" rIns="0" bIns="0" rtlCol="0" anchor="t"/>
          <a:lstStyle/>
          <a:p>
            <a:pPr indent="0" marL="0">
              <a:buNone/>
            </a:pPr>
            <a:r>
              <a:rPr lang="en-US" sz="1400" dirty="0">
                <a:solidFill>
                  <a:schemeClr val="tx2"/>
                </a:solidFill>
              </a:rPr>
              <a:t>each one is a base case</a:t>
            </a:r>
            <a:endParaRPr lang="en-US" sz="1400" dirty="0"/>
          </a:p>
        </p:txBody>
      </p:sp>
      <p:sp>
        <p:nvSpPr>
          <p:cNvPr id="19" name="Stat 3"/>
          <p:cNvSpPr/>
          <p:nvPr/>
        </p:nvSpPr>
        <p:spPr>
          <a:xfrm>
            <a:off x="5897880" y="3657600"/>
            <a:ext cx="2743200" cy="2194560"/>
          </a:xfrm>
          <a:prstGeom prst="roundRect">
            <a:avLst>
              <a:gd name="adj" fmla="val 5000"/>
            </a:avLst>
          </a:prstGeom>
          <a:solidFill>
            <a:schemeClr val="accent5"/>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20" name="Text 17"/>
          <p:cNvSpPr txBox="1"/>
          <p:nvPr/>
        </p:nvSpPr>
        <p:spPr>
          <a:xfrm>
            <a:off x="5897880" y="3840480"/>
            <a:ext cx="2743200" cy="1005840"/>
          </a:xfrm>
          <a:prstGeom prst="rect">
            <a:avLst/>
          </a:prstGeom>
          <a:noFill/>
          <a:ln/>
        </p:spPr>
        <p:txBody>
          <a:bodyPr wrap="square" lIns="0" tIns="0" rIns="0" bIns="0" rtlCol="0" anchor="ctr"/>
          <a:lstStyle/>
          <a:p>
            <a:pPr algn="ctr" indent="0" marL="0">
              <a:buNone/>
            </a:pPr>
            <a:r>
              <a:rPr lang="en-US" sz="6400" b="1" dirty="0">
                <a:solidFill>
                  <a:schemeClr val="tx1"/>
                </a:solidFill>
                <a:latin typeface="Cambria" pitchFamily="34" charset="0"/>
                <a:ea typeface="Cambria" pitchFamily="34" charset="-122"/>
                <a:cs typeface="Cambria" pitchFamily="34" charset="-120"/>
              </a:rPr>
              <a:t>3</a:t>
            </a:r>
            <a:endParaRPr lang="en-US" sz="6400" dirty="0"/>
          </a:p>
        </p:txBody>
      </p:sp>
      <p:sp>
        <p:nvSpPr>
          <p:cNvPr id="21" name="Text 18"/>
          <p:cNvSpPr txBox="1"/>
          <p:nvPr/>
        </p:nvSpPr>
        <p:spPr>
          <a:xfrm>
            <a:off x="6126480" y="4937760"/>
            <a:ext cx="2286000" cy="640080"/>
          </a:xfrm>
          <a:prstGeom prst="rect">
            <a:avLst/>
          </a:prstGeom>
          <a:noFill/>
          <a:ln/>
        </p:spPr>
        <p:txBody>
          <a:bodyPr wrap="square" lIns="0" tIns="0" rIns="0" bIns="0" rtlCol="0" anchor="t"/>
          <a:lstStyle/>
          <a:p>
            <a:pPr algn="ctr" indent="0" marL="0">
              <a:buNone/>
            </a:pPr>
            <a:r>
              <a:rPr lang="en-US" sz="1500" dirty="0">
                <a:solidFill>
                  <a:schemeClr val="tx2"/>
                </a:solidFill>
              </a:rPr>
              <a:t>levels of splitting for n = 8</a:t>
            </a:r>
            <a:endParaRPr lang="en-US" sz="1500" dirty="0"/>
          </a:p>
        </p:txBody>
      </p:sp>
      <p:sp>
        <p:nvSpPr>
          <p:cNvPr id="22" name="Stat 8"/>
          <p:cNvSpPr/>
          <p:nvPr/>
        </p:nvSpPr>
        <p:spPr>
          <a:xfrm>
            <a:off x="8823960" y="3657600"/>
            <a:ext cx="2816352" cy="2194560"/>
          </a:xfrm>
          <a:prstGeom prst="roundRect">
            <a:avLst>
              <a:gd name="adj" fmla="val 5000"/>
            </a:avLst>
          </a:prstGeom>
          <a:solidFill>
            <a:schemeClr val="accent6"/>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23" name="Text 20"/>
          <p:cNvSpPr txBox="1"/>
          <p:nvPr/>
        </p:nvSpPr>
        <p:spPr>
          <a:xfrm>
            <a:off x="8823960" y="3840480"/>
            <a:ext cx="2816352" cy="1005840"/>
          </a:xfrm>
          <a:prstGeom prst="rect">
            <a:avLst/>
          </a:prstGeom>
          <a:noFill/>
          <a:ln/>
        </p:spPr>
        <p:txBody>
          <a:bodyPr wrap="square" lIns="0" tIns="0" rIns="0" bIns="0" rtlCol="0" anchor="ctr"/>
          <a:lstStyle/>
          <a:p>
            <a:pPr algn="ctr" indent="0" marL="0">
              <a:buNone/>
            </a:pPr>
            <a:r>
              <a:rPr lang="en-US" sz="6400" b="1" dirty="0">
                <a:solidFill>
                  <a:schemeClr val="tx1"/>
                </a:solidFill>
                <a:latin typeface="Cambria" pitchFamily="34" charset="0"/>
                <a:ea typeface="Cambria" pitchFamily="34" charset="-122"/>
                <a:cs typeface="Cambria" pitchFamily="34" charset="-120"/>
              </a:rPr>
              <a:t>8</a:t>
            </a:r>
            <a:endParaRPr lang="en-US" sz="6400" dirty="0"/>
          </a:p>
        </p:txBody>
      </p:sp>
      <p:sp>
        <p:nvSpPr>
          <p:cNvPr id="24" name="Text 21"/>
          <p:cNvSpPr txBox="1"/>
          <p:nvPr/>
        </p:nvSpPr>
        <p:spPr>
          <a:xfrm>
            <a:off x="9052560" y="4937760"/>
            <a:ext cx="2377440" cy="640080"/>
          </a:xfrm>
          <a:prstGeom prst="rect">
            <a:avLst/>
          </a:prstGeom>
          <a:noFill/>
          <a:ln/>
        </p:spPr>
        <p:txBody>
          <a:bodyPr wrap="square" lIns="0" tIns="0" rIns="0" bIns="0" rtlCol="0" anchor="t"/>
          <a:lstStyle/>
          <a:p>
            <a:pPr algn="ctr" indent="0" marL="0">
              <a:buNone/>
            </a:pPr>
            <a:r>
              <a:rPr lang="en-US" sz="1500" dirty="0">
                <a:solidFill>
                  <a:schemeClr val="tx2"/>
                </a:solidFill>
              </a:rPr>
              <a:t>single-element subarrays</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t"/>
          <a:lstStyle/>
          <a:p>
            <a:pPr indent="0" marL="0">
              <a:buNone/>
            </a:pPr>
            <a:r>
              <a:rPr lang="en-US" sz="1200" b="1" spc="300" kern="0" dirty="0">
                <a:solidFill>
                  <a:schemeClr val="tx2"/>
                </a:solidFill>
              </a:rPr>
              <a:t>STEP 2 · COMBINE, LEVEL 1</a:t>
            </a:r>
            <a:endParaRPr lang="en-US" sz="1200" dirty="0"/>
          </a:p>
        </p:txBody>
      </p:sp>
      <p:sp>
        <p:nvSpPr>
          <p:cNvPr id="3" name="Text 2"/>
          <p:cNvSpPr/>
          <p:nvPr>
            <p:ph idx="102"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Merging the Pairs</a:t>
            </a:r>
            <a:endParaRPr lang="en-US" sz="3400" dirty="0"/>
          </a:p>
        </p:txBody>
      </p:sp>
      <p:sp>
        <p:nvSpPr>
          <p:cNvPr id="5" name="Pair card 1"/>
          <p:cNvSpPr/>
          <p:nvPr/>
        </p:nvSpPr>
        <p:spPr>
          <a:xfrm>
            <a:off x="548640" y="1508760"/>
            <a:ext cx="5394960" cy="2057400"/>
          </a:xfrm>
          <a:prstGeom prst="roundRect">
            <a:avLst>
              <a:gd name="adj" fmla="val 5333"/>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6" name="Array cell"/>
          <p:cNvSpPr txBox="1"/>
          <p:nvPr/>
        </p:nvSpPr>
        <p:spPr>
          <a:xfrm>
            <a:off x="868680" y="1874520"/>
            <a:ext cx="822960" cy="731520"/>
          </a:xfrm>
          <a:prstGeom prst="roundRect">
            <a:avLst>
              <a:gd name="adj" fmla="val 75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2400" b="1" dirty="0">
                <a:solidFill>
                  <a:schemeClr val="tx1"/>
                </a:solidFill>
              </a:rPr>
              <a:t>38</a:t>
            </a:r>
            <a:endParaRPr lang="en-US" sz="2400" dirty="0"/>
          </a:p>
        </p:txBody>
      </p:sp>
      <p:sp>
        <p:nvSpPr>
          <p:cNvPr id="7" name="Text 4"/>
          <p:cNvSpPr txBox="1"/>
          <p:nvPr/>
        </p:nvSpPr>
        <p:spPr>
          <a:xfrm>
            <a:off x="1691640" y="1874520"/>
            <a:ext cx="548640" cy="731520"/>
          </a:xfrm>
          <a:prstGeom prst="rect">
            <a:avLst/>
          </a:prstGeom>
          <a:noFill/>
          <a:ln/>
        </p:spPr>
        <p:txBody>
          <a:bodyPr wrap="square" lIns="0" tIns="0" rIns="0" bIns="0" rtlCol="0" anchor="ctr"/>
          <a:lstStyle/>
          <a:p>
            <a:pPr algn="ctr" indent="0" marL="0">
              <a:buNone/>
            </a:pPr>
            <a:r>
              <a:rPr lang="en-US" sz="1600" dirty="0">
                <a:solidFill>
                  <a:schemeClr val="tx2"/>
                </a:solidFill>
              </a:rPr>
              <a:t>vs</a:t>
            </a:r>
            <a:endParaRPr lang="en-US" sz="1600" dirty="0"/>
          </a:p>
        </p:txBody>
      </p:sp>
      <p:sp>
        <p:nvSpPr>
          <p:cNvPr id="8" name="Array cell"/>
          <p:cNvSpPr txBox="1"/>
          <p:nvPr/>
        </p:nvSpPr>
        <p:spPr>
          <a:xfrm>
            <a:off x="2240280" y="1874520"/>
            <a:ext cx="822960" cy="731520"/>
          </a:xfrm>
          <a:prstGeom prst="roundRect">
            <a:avLst>
              <a:gd name="adj" fmla="val 7500"/>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2400" b="1" dirty="0">
                <a:solidFill>
                  <a:schemeClr val="tx1"/>
                </a:solidFill>
              </a:rPr>
              <a:t>27</a:t>
            </a:r>
            <a:endParaRPr lang="en-US" sz="2400" dirty="0"/>
          </a:p>
        </p:txBody>
      </p:sp>
      <p:sp>
        <p:nvSpPr>
          <p:cNvPr id="9" name="Arrow"/>
          <p:cNvSpPr/>
          <p:nvPr/>
        </p:nvSpPr>
        <p:spPr>
          <a:xfrm>
            <a:off x="3246120" y="2103120"/>
            <a:ext cx="457200" cy="274320"/>
          </a:xfrm>
          <a:prstGeom prst="rightArrow">
            <a:avLst/>
          </a:prstGeom>
          <a:solidFill>
            <a:schemeClr val="accent3"/>
          </a:solidFill>
          <a:ln/>
        </p:spPr>
      </p:sp>
      <p:sp>
        <p:nvSpPr>
          <p:cNvPr id="10" name="Array cell"/>
          <p:cNvSpPr txBox="1"/>
          <p:nvPr/>
        </p:nvSpPr>
        <p:spPr>
          <a:xfrm>
            <a:off x="3886200" y="1874520"/>
            <a:ext cx="731520" cy="731520"/>
          </a:xfrm>
          <a:prstGeom prst="roundRect">
            <a:avLst>
              <a:gd name="adj" fmla="val 7500"/>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400" b="1" dirty="0">
                <a:solidFill>
                  <a:schemeClr val="tx1"/>
                </a:solidFill>
              </a:rPr>
              <a:t>27</a:t>
            </a:r>
            <a:endParaRPr lang="en-US" sz="2400" dirty="0"/>
          </a:p>
        </p:txBody>
      </p:sp>
      <p:sp>
        <p:nvSpPr>
          <p:cNvPr id="11" name="Array cell"/>
          <p:cNvSpPr txBox="1"/>
          <p:nvPr/>
        </p:nvSpPr>
        <p:spPr>
          <a:xfrm>
            <a:off x="4709160" y="1874520"/>
            <a:ext cx="731520" cy="731520"/>
          </a:xfrm>
          <a:prstGeom prst="roundRect">
            <a:avLst>
              <a:gd name="adj" fmla="val 7500"/>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400" b="1" dirty="0">
                <a:solidFill>
                  <a:schemeClr val="tx1"/>
                </a:solidFill>
              </a:rPr>
              <a:t>38</a:t>
            </a:r>
            <a:endParaRPr lang="en-US" sz="2400" dirty="0"/>
          </a:p>
        </p:txBody>
      </p:sp>
      <p:sp>
        <p:nvSpPr>
          <p:cNvPr id="12" name="Text 9"/>
          <p:cNvSpPr txBox="1"/>
          <p:nvPr/>
        </p:nvSpPr>
        <p:spPr>
          <a:xfrm>
            <a:off x="868680" y="2788920"/>
            <a:ext cx="4754880" cy="640080"/>
          </a:xfrm>
          <a:prstGeom prst="rect">
            <a:avLst/>
          </a:prstGeom>
          <a:noFill/>
          <a:ln/>
        </p:spPr>
        <p:txBody>
          <a:bodyPr wrap="square" lIns="0" tIns="0" rIns="0" bIns="0" rtlCol="0" anchor="t"/>
          <a:lstStyle/>
          <a:p>
            <a:pPr indent="0" marL="0">
              <a:buNone/>
            </a:pPr>
            <a:r>
              <a:rPr lang="en-US" sz="1700" b="1" dirty="0">
                <a:solidFill>
                  <a:schemeClr val="tx1"/>
                </a:solidFill>
              </a:rPr>
              <a:t>27 &lt; 38  →  [27, 38]</a:t>
            </a:r>
            <a:endParaRPr lang="en-US" sz="1400" dirty="0"/>
          </a:p>
          <a:p>
            <a:pPr indent="0" marL="0">
              <a:buNone/>
            </a:pPr>
            <a:r>
              <a:rPr lang="en-US" sz="1400" dirty="0">
                <a:solidFill>
                  <a:schemeClr val="tx2"/>
                </a:solidFill>
              </a:rPr>
              <a:t>27 is smaller, so it goes first</a:t>
            </a:r>
            <a:endParaRPr lang="en-US" sz="1400" dirty="0"/>
          </a:p>
        </p:txBody>
      </p:sp>
      <p:sp>
        <p:nvSpPr>
          <p:cNvPr id="13" name="Pair card 2"/>
          <p:cNvSpPr/>
          <p:nvPr/>
        </p:nvSpPr>
        <p:spPr>
          <a:xfrm>
            <a:off x="6245352" y="1508760"/>
            <a:ext cx="5394960" cy="2057400"/>
          </a:xfrm>
          <a:prstGeom prst="roundRect">
            <a:avLst>
              <a:gd name="adj" fmla="val 5333"/>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14" name="Array cell"/>
          <p:cNvSpPr txBox="1"/>
          <p:nvPr/>
        </p:nvSpPr>
        <p:spPr>
          <a:xfrm>
            <a:off x="6565392" y="1874520"/>
            <a:ext cx="822960" cy="731520"/>
          </a:xfrm>
          <a:prstGeom prst="roundRect">
            <a:avLst>
              <a:gd name="adj" fmla="val 75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2400" b="1" dirty="0">
                <a:solidFill>
                  <a:schemeClr val="tx1"/>
                </a:solidFill>
              </a:rPr>
              <a:t>43</a:t>
            </a:r>
            <a:endParaRPr lang="en-US" sz="2400" dirty="0"/>
          </a:p>
        </p:txBody>
      </p:sp>
      <p:sp>
        <p:nvSpPr>
          <p:cNvPr id="15" name="Text 12"/>
          <p:cNvSpPr txBox="1"/>
          <p:nvPr/>
        </p:nvSpPr>
        <p:spPr>
          <a:xfrm>
            <a:off x="7388352" y="1874520"/>
            <a:ext cx="548640" cy="731520"/>
          </a:xfrm>
          <a:prstGeom prst="rect">
            <a:avLst/>
          </a:prstGeom>
          <a:noFill/>
          <a:ln/>
        </p:spPr>
        <p:txBody>
          <a:bodyPr wrap="square" lIns="0" tIns="0" rIns="0" bIns="0" rtlCol="0" anchor="ctr"/>
          <a:lstStyle/>
          <a:p>
            <a:pPr algn="ctr" indent="0" marL="0">
              <a:buNone/>
            </a:pPr>
            <a:r>
              <a:rPr lang="en-US" sz="1600" dirty="0">
                <a:solidFill>
                  <a:schemeClr val="tx2"/>
                </a:solidFill>
              </a:rPr>
              <a:t>vs</a:t>
            </a:r>
            <a:endParaRPr lang="en-US" sz="1600" dirty="0"/>
          </a:p>
        </p:txBody>
      </p:sp>
      <p:sp>
        <p:nvSpPr>
          <p:cNvPr id="16" name="Array cell"/>
          <p:cNvSpPr txBox="1"/>
          <p:nvPr/>
        </p:nvSpPr>
        <p:spPr>
          <a:xfrm>
            <a:off x="7936992" y="1874520"/>
            <a:ext cx="822960" cy="731520"/>
          </a:xfrm>
          <a:prstGeom prst="roundRect">
            <a:avLst>
              <a:gd name="adj" fmla="val 7500"/>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2400" b="1" dirty="0">
                <a:solidFill>
                  <a:schemeClr val="tx1"/>
                </a:solidFill>
              </a:rPr>
              <a:t>3</a:t>
            </a:r>
            <a:endParaRPr lang="en-US" sz="2400" dirty="0"/>
          </a:p>
        </p:txBody>
      </p:sp>
      <p:sp>
        <p:nvSpPr>
          <p:cNvPr id="17" name="Arrow"/>
          <p:cNvSpPr/>
          <p:nvPr/>
        </p:nvSpPr>
        <p:spPr>
          <a:xfrm>
            <a:off x="8942832" y="2103120"/>
            <a:ext cx="457200" cy="274320"/>
          </a:xfrm>
          <a:prstGeom prst="rightArrow">
            <a:avLst/>
          </a:prstGeom>
          <a:solidFill>
            <a:schemeClr val="accent3"/>
          </a:solidFill>
          <a:ln/>
        </p:spPr>
      </p:sp>
      <p:sp>
        <p:nvSpPr>
          <p:cNvPr id="18" name="Array cell"/>
          <p:cNvSpPr txBox="1"/>
          <p:nvPr/>
        </p:nvSpPr>
        <p:spPr>
          <a:xfrm>
            <a:off x="9582912" y="1874520"/>
            <a:ext cx="731520" cy="731520"/>
          </a:xfrm>
          <a:prstGeom prst="roundRect">
            <a:avLst>
              <a:gd name="adj" fmla="val 7500"/>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400" b="1" dirty="0">
                <a:solidFill>
                  <a:schemeClr val="tx1"/>
                </a:solidFill>
              </a:rPr>
              <a:t>3</a:t>
            </a:r>
            <a:endParaRPr lang="en-US" sz="2400" dirty="0"/>
          </a:p>
        </p:txBody>
      </p:sp>
      <p:sp>
        <p:nvSpPr>
          <p:cNvPr id="19" name="Array cell"/>
          <p:cNvSpPr txBox="1"/>
          <p:nvPr/>
        </p:nvSpPr>
        <p:spPr>
          <a:xfrm>
            <a:off x="10405872" y="1874520"/>
            <a:ext cx="731520" cy="731520"/>
          </a:xfrm>
          <a:prstGeom prst="roundRect">
            <a:avLst>
              <a:gd name="adj" fmla="val 7500"/>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400" b="1" dirty="0">
                <a:solidFill>
                  <a:schemeClr val="tx1"/>
                </a:solidFill>
              </a:rPr>
              <a:t>43</a:t>
            </a:r>
            <a:endParaRPr lang="en-US" sz="2400" dirty="0"/>
          </a:p>
        </p:txBody>
      </p:sp>
      <p:sp>
        <p:nvSpPr>
          <p:cNvPr id="20" name="Text 17"/>
          <p:cNvSpPr txBox="1"/>
          <p:nvPr/>
        </p:nvSpPr>
        <p:spPr>
          <a:xfrm>
            <a:off x="6565392" y="2788920"/>
            <a:ext cx="4754880" cy="640080"/>
          </a:xfrm>
          <a:prstGeom prst="rect">
            <a:avLst/>
          </a:prstGeom>
          <a:noFill/>
          <a:ln/>
        </p:spPr>
        <p:txBody>
          <a:bodyPr wrap="square" lIns="0" tIns="0" rIns="0" bIns="0" rtlCol="0" anchor="t"/>
          <a:lstStyle/>
          <a:p>
            <a:pPr indent="0" marL="0">
              <a:buNone/>
            </a:pPr>
            <a:r>
              <a:rPr lang="en-US" sz="1700" b="1" dirty="0">
                <a:solidFill>
                  <a:schemeClr val="tx1"/>
                </a:solidFill>
              </a:rPr>
              <a:t>3 &lt; 43  →  [3, 43]</a:t>
            </a:r>
            <a:endParaRPr lang="en-US" sz="1400" dirty="0"/>
          </a:p>
          <a:p>
            <a:pPr indent="0" marL="0">
              <a:buNone/>
            </a:pPr>
            <a:r>
              <a:rPr lang="en-US" sz="1400" dirty="0">
                <a:solidFill>
                  <a:schemeClr val="tx2"/>
                </a:solidFill>
              </a:rPr>
              <a:t>3 is smaller, so it goes first</a:t>
            </a:r>
            <a:endParaRPr lang="en-US" sz="1400" dirty="0"/>
          </a:p>
        </p:txBody>
      </p:sp>
      <p:sp>
        <p:nvSpPr>
          <p:cNvPr id="21" name="Pair card 3"/>
          <p:cNvSpPr/>
          <p:nvPr/>
        </p:nvSpPr>
        <p:spPr>
          <a:xfrm>
            <a:off x="548640" y="3794760"/>
            <a:ext cx="5394960" cy="2057400"/>
          </a:xfrm>
          <a:prstGeom prst="roundRect">
            <a:avLst>
              <a:gd name="adj" fmla="val 5333"/>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22" name="Array cell"/>
          <p:cNvSpPr txBox="1"/>
          <p:nvPr/>
        </p:nvSpPr>
        <p:spPr>
          <a:xfrm>
            <a:off x="868680" y="4160520"/>
            <a:ext cx="822960" cy="731520"/>
          </a:xfrm>
          <a:prstGeom prst="roundRect">
            <a:avLst>
              <a:gd name="adj" fmla="val 7500"/>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2400" b="1" dirty="0">
                <a:solidFill>
                  <a:schemeClr val="tx1"/>
                </a:solidFill>
              </a:rPr>
              <a:t>9</a:t>
            </a:r>
            <a:endParaRPr lang="en-US" sz="2400" dirty="0"/>
          </a:p>
        </p:txBody>
      </p:sp>
      <p:sp>
        <p:nvSpPr>
          <p:cNvPr id="23" name="Text 20"/>
          <p:cNvSpPr txBox="1"/>
          <p:nvPr/>
        </p:nvSpPr>
        <p:spPr>
          <a:xfrm>
            <a:off x="1691640" y="4160520"/>
            <a:ext cx="548640" cy="731520"/>
          </a:xfrm>
          <a:prstGeom prst="rect">
            <a:avLst/>
          </a:prstGeom>
          <a:noFill/>
          <a:ln/>
        </p:spPr>
        <p:txBody>
          <a:bodyPr wrap="square" lIns="0" tIns="0" rIns="0" bIns="0" rtlCol="0" anchor="ctr"/>
          <a:lstStyle/>
          <a:p>
            <a:pPr algn="ctr" indent="0" marL="0">
              <a:buNone/>
            </a:pPr>
            <a:r>
              <a:rPr lang="en-US" sz="1600" dirty="0">
                <a:solidFill>
                  <a:schemeClr val="tx2"/>
                </a:solidFill>
              </a:rPr>
              <a:t>vs</a:t>
            </a:r>
            <a:endParaRPr lang="en-US" sz="1600" dirty="0"/>
          </a:p>
        </p:txBody>
      </p:sp>
      <p:sp>
        <p:nvSpPr>
          <p:cNvPr id="24" name="Array cell"/>
          <p:cNvSpPr txBox="1"/>
          <p:nvPr/>
        </p:nvSpPr>
        <p:spPr>
          <a:xfrm>
            <a:off x="2240280" y="4160520"/>
            <a:ext cx="822960" cy="731520"/>
          </a:xfrm>
          <a:prstGeom prst="roundRect">
            <a:avLst>
              <a:gd name="adj" fmla="val 75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2400" b="1" dirty="0">
                <a:solidFill>
                  <a:schemeClr val="tx1"/>
                </a:solidFill>
              </a:rPr>
              <a:t>82</a:t>
            </a:r>
            <a:endParaRPr lang="en-US" sz="2400" dirty="0"/>
          </a:p>
        </p:txBody>
      </p:sp>
      <p:sp>
        <p:nvSpPr>
          <p:cNvPr id="25" name="Arrow"/>
          <p:cNvSpPr/>
          <p:nvPr/>
        </p:nvSpPr>
        <p:spPr>
          <a:xfrm>
            <a:off x="3246120" y="4389120"/>
            <a:ext cx="457200" cy="274320"/>
          </a:xfrm>
          <a:prstGeom prst="rightArrow">
            <a:avLst/>
          </a:prstGeom>
          <a:solidFill>
            <a:schemeClr val="accent3"/>
          </a:solidFill>
          <a:ln/>
        </p:spPr>
      </p:sp>
      <p:sp>
        <p:nvSpPr>
          <p:cNvPr id="26" name="Array cell"/>
          <p:cNvSpPr txBox="1"/>
          <p:nvPr/>
        </p:nvSpPr>
        <p:spPr>
          <a:xfrm>
            <a:off x="3886200" y="4160520"/>
            <a:ext cx="731520" cy="731520"/>
          </a:xfrm>
          <a:prstGeom prst="roundRect">
            <a:avLst>
              <a:gd name="adj" fmla="val 7500"/>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400" b="1" dirty="0">
                <a:solidFill>
                  <a:schemeClr val="tx1"/>
                </a:solidFill>
              </a:rPr>
              <a:t>9</a:t>
            </a:r>
            <a:endParaRPr lang="en-US" sz="2400" dirty="0"/>
          </a:p>
        </p:txBody>
      </p:sp>
      <p:sp>
        <p:nvSpPr>
          <p:cNvPr id="27" name="Array cell"/>
          <p:cNvSpPr txBox="1"/>
          <p:nvPr/>
        </p:nvSpPr>
        <p:spPr>
          <a:xfrm>
            <a:off x="4709160" y="4160520"/>
            <a:ext cx="731520" cy="731520"/>
          </a:xfrm>
          <a:prstGeom prst="roundRect">
            <a:avLst>
              <a:gd name="adj" fmla="val 7500"/>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400" b="1" dirty="0">
                <a:solidFill>
                  <a:schemeClr val="tx1"/>
                </a:solidFill>
              </a:rPr>
              <a:t>82</a:t>
            </a:r>
            <a:endParaRPr lang="en-US" sz="2400" dirty="0"/>
          </a:p>
        </p:txBody>
      </p:sp>
      <p:sp>
        <p:nvSpPr>
          <p:cNvPr id="28" name="Text 25"/>
          <p:cNvSpPr txBox="1"/>
          <p:nvPr/>
        </p:nvSpPr>
        <p:spPr>
          <a:xfrm>
            <a:off x="868680" y="5074920"/>
            <a:ext cx="4754880" cy="640080"/>
          </a:xfrm>
          <a:prstGeom prst="rect">
            <a:avLst/>
          </a:prstGeom>
          <a:noFill/>
          <a:ln/>
        </p:spPr>
        <p:txBody>
          <a:bodyPr wrap="square" lIns="0" tIns="0" rIns="0" bIns="0" rtlCol="0" anchor="t"/>
          <a:lstStyle/>
          <a:p>
            <a:pPr indent="0" marL="0">
              <a:buNone/>
            </a:pPr>
            <a:r>
              <a:rPr lang="en-US" sz="1700" b="1" dirty="0">
                <a:solidFill>
                  <a:schemeClr val="tx1"/>
                </a:solidFill>
              </a:rPr>
              <a:t>9 &lt; 82  →  [9, 82]</a:t>
            </a:r>
            <a:endParaRPr lang="en-US" sz="1400" dirty="0"/>
          </a:p>
          <a:p>
            <a:pPr indent="0" marL="0">
              <a:buNone/>
            </a:pPr>
            <a:r>
              <a:rPr lang="en-US" sz="1400" dirty="0">
                <a:solidFill>
                  <a:schemeClr val="tx2"/>
                </a:solidFill>
              </a:rPr>
              <a:t>9 is already smaller; order unchanged</a:t>
            </a:r>
            <a:endParaRPr lang="en-US" sz="1400" dirty="0"/>
          </a:p>
        </p:txBody>
      </p:sp>
      <p:sp>
        <p:nvSpPr>
          <p:cNvPr id="29" name="Pair card 4"/>
          <p:cNvSpPr/>
          <p:nvPr/>
        </p:nvSpPr>
        <p:spPr>
          <a:xfrm>
            <a:off x="6245352" y="3794760"/>
            <a:ext cx="5394960" cy="2057400"/>
          </a:xfrm>
          <a:prstGeom prst="roundRect">
            <a:avLst>
              <a:gd name="adj" fmla="val 5333"/>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30" name="Array cell"/>
          <p:cNvSpPr txBox="1"/>
          <p:nvPr/>
        </p:nvSpPr>
        <p:spPr>
          <a:xfrm>
            <a:off x="6565392" y="4160520"/>
            <a:ext cx="822960" cy="731520"/>
          </a:xfrm>
          <a:prstGeom prst="roundRect">
            <a:avLst>
              <a:gd name="adj" fmla="val 7500"/>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2400" b="1" dirty="0">
                <a:solidFill>
                  <a:schemeClr val="tx1"/>
                </a:solidFill>
              </a:rPr>
              <a:t>10</a:t>
            </a:r>
            <a:endParaRPr lang="en-US" sz="2400" dirty="0"/>
          </a:p>
        </p:txBody>
      </p:sp>
      <p:sp>
        <p:nvSpPr>
          <p:cNvPr id="31" name="Text 28"/>
          <p:cNvSpPr txBox="1"/>
          <p:nvPr/>
        </p:nvSpPr>
        <p:spPr>
          <a:xfrm>
            <a:off x="7388352" y="4160520"/>
            <a:ext cx="548640" cy="731520"/>
          </a:xfrm>
          <a:prstGeom prst="rect">
            <a:avLst/>
          </a:prstGeom>
          <a:noFill/>
          <a:ln/>
        </p:spPr>
        <p:txBody>
          <a:bodyPr wrap="square" lIns="0" tIns="0" rIns="0" bIns="0" rtlCol="0" anchor="ctr"/>
          <a:lstStyle/>
          <a:p>
            <a:pPr algn="ctr" indent="0" marL="0">
              <a:buNone/>
            </a:pPr>
            <a:r>
              <a:rPr lang="en-US" sz="1600" dirty="0">
                <a:solidFill>
                  <a:schemeClr val="tx2"/>
                </a:solidFill>
              </a:rPr>
              <a:t>vs</a:t>
            </a:r>
            <a:endParaRPr lang="en-US" sz="1600" dirty="0"/>
          </a:p>
        </p:txBody>
      </p:sp>
      <p:sp>
        <p:nvSpPr>
          <p:cNvPr id="32" name="Array cell"/>
          <p:cNvSpPr txBox="1"/>
          <p:nvPr/>
        </p:nvSpPr>
        <p:spPr>
          <a:xfrm>
            <a:off x="7936992" y="4160520"/>
            <a:ext cx="822960" cy="731520"/>
          </a:xfrm>
          <a:prstGeom prst="roundRect">
            <a:avLst>
              <a:gd name="adj" fmla="val 75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2400" b="1" dirty="0">
                <a:solidFill>
                  <a:schemeClr val="tx1"/>
                </a:solidFill>
              </a:rPr>
              <a:t>15</a:t>
            </a:r>
            <a:endParaRPr lang="en-US" sz="2400" dirty="0"/>
          </a:p>
        </p:txBody>
      </p:sp>
      <p:sp>
        <p:nvSpPr>
          <p:cNvPr id="33" name="Arrow"/>
          <p:cNvSpPr/>
          <p:nvPr/>
        </p:nvSpPr>
        <p:spPr>
          <a:xfrm>
            <a:off x="8942832" y="4389120"/>
            <a:ext cx="457200" cy="274320"/>
          </a:xfrm>
          <a:prstGeom prst="rightArrow">
            <a:avLst/>
          </a:prstGeom>
          <a:solidFill>
            <a:schemeClr val="accent3"/>
          </a:solidFill>
          <a:ln/>
        </p:spPr>
      </p:sp>
      <p:sp>
        <p:nvSpPr>
          <p:cNvPr id="34" name="Array cell"/>
          <p:cNvSpPr txBox="1"/>
          <p:nvPr/>
        </p:nvSpPr>
        <p:spPr>
          <a:xfrm>
            <a:off x="9582912" y="4160520"/>
            <a:ext cx="731520" cy="731520"/>
          </a:xfrm>
          <a:prstGeom prst="roundRect">
            <a:avLst>
              <a:gd name="adj" fmla="val 7500"/>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400" b="1" dirty="0">
                <a:solidFill>
                  <a:schemeClr val="tx1"/>
                </a:solidFill>
              </a:rPr>
              <a:t>10</a:t>
            </a:r>
            <a:endParaRPr lang="en-US" sz="2400" dirty="0"/>
          </a:p>
        </p:txBody>
      </p:sp>
      <p:sp>
        <p:nvSpPr>
          <p:cNvPr id="35" name="Array cell"/>
          <p:cNvSpPr txBox="1"/>
          <p:nvPr/>
        </p:nvSpPr>
        <p:spPr>
          <a:xfrm>
            <a:off x="10405872" y="4160520"/>
            <a:ext cx="731520" cy="731520"/>
          </a:xfrm>
          <a:prstGeom prst="roundRect">
            <a:avLst>
              <a:gd name="adj" fmla="val 7500"/>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400" b="1" dirty="0">
                <a:solidFill>
                  <a:schemeClr val="tx1"/>
                </a:solidFill>
              </a:rPr>
              <a:t>15</a:t>
            </a:r>
            <a:endParaRPr lang="en-US" sz="2400" dirty="0"/>
          </a:p>
        </p:txBody>
      </p:sp>
      <p:sp>
        <p:nvSpPr>
          <p:cNvPr id="36" name="Text 33"/>
          <p:cNvSpPr txBox="1"/>
          <p:nvPr/>
        </p:nvSpPr>
        <p:spPr>
          <a:xfrm>
            <a:off x="6565392" y="5074920"/>
            <a:ext cx="4754880" cy="640080"/>
          </a:xfrm>
          <a:prstGeom prst="rect">
            <a:avLst/>
          </a:prstGeom>
          <a:noFill/>
          <a:ln/>
        </p:spPr>
        <p:txBody>
          <a:bodyPr wrap="square" lIns="0" tIns="0" rIns="0" bIns="0" rtlCol="0" anchor="t"/>
          <a:lstStyle/>
          <a:p>
            <a:pPr indent="0" marL="0">
              <a:buNone/>
            </a:pPr>
            <a:r>
              <a:rPr lang="en-US" sz="1700" b="1" dirty="0">
                <a:solidFill>
                  <a:schemeClr val="tx1"/>
                </a:solidFill>
              </a:rPr>
              <a:t>10 &lt; 15  →  [10, 15]</a:t>
            </a:r>
            <a:endParaRPr lang="en-US" sz="1400" dirty="0"/>
          </a:p>
          <a:p>
            <a:pPr indent="0" marL="0">
              <a:buNone/>
            </a:pPr>
            <a:r>
              <a:rPr lang="en-US" sz="1400" dirty="0">
                <a:solidFill>
                  <a:schemeClr val="tx2"/>
                </a:solidFill>
              </a:rPr>
              <a:t>10 is already smaller; order unchanged</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t"/>
          <a:lstStyle/>
          <a:p>
            <a:pPr indent="0" marL="0">
              <a:buNone/>
            </a:pPr>
            <a:r>
              <a:rPr lang="en-US" sz="1200" b="1" spc="300" kern="0" dirty="0">
                <a:solidFill>
                  <a:schemeClr val="tx2"/>
                </a:solidFill>
              </a:rPr>
              <a:t>STEP 2 · COMBINE, LEVEL 2</a:t>
            </a:r>
            <a:endParaRPr lang="en-US" sz="1200" dirty="0"/>
          </a:p>
        </p:txBody>
      </p:sp>
      <p:sp>
        <p:nvSpPr>
          <p:cNvPr id="3" name="Text 2"/>
          <p:cNvSpPr/>
          <p:nvPr>
            <p:ph idx="102"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Merging Sorted Pairs into Fours</a:t>
            </a:r>
            <a:endParaRPr lang="en-US" sz="3400" dirty="0"/>
          </a:p>
        </p:txBody>
      </p:sp>
      <p:sp>
        <p:nvSpPr>
          <p:cNvPr id="5" name="Merge card"/>
          <p:cNvSpPr/>
          <p:nvPr/>
        </p:nvSpPr>
        <p:spPr>
          <a:xfrm>
            <a:off x="548640" y="1508760"/>
            <a:ext cx="5394960" cy="4389120"/>
          </a:xfrm>
          <a:prstGeom prst="roundRect">
            <a:avLst>
              <a:gd name="adj" fmla="val 2500"/>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6" name="Text 3"/>
          <p:cNvSpPr txBox="1"/>
          <p:nvPr/>
        </p:nvSpPr>
        <p:spPr>
          <a:xfrm>
            <a:off x="822960" y="1691640"/>
            <a:ext cx="484632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Merge [27, 38]  and  [3, 43]</a:t>
            </a:r>
            <a:endParaRPr lang="en-US" sz="1800" dirty="0"/>
          </a:p>
        </p:txBody>
      </p:sp>
      <p:sp>
        <p:nvSpPr>
          <p:cNvPr id="7" name="Text 4"/>
          <p:cNvSpPr txBox="1"/>
          <p:nvPr/>
        </p:nvSpPr>
        <p:spPr>
          <a:xfrm>
            <a:off x="822960" y="2194560"/>
            <a:ext cx="365760" cy="457200"/>
          </a:xfrm>
          <a:prstGeom prst="rect">
            <a:avLst/>
          </a:prstGeom>
          <a:noFill/>
          <a:ln/>
        </p:spPr>
        <p:txBody>
          <a:bodyPr wrap="square" lIns="0" tIns="0" rIns="0" bIns="0" rtlCol="0" anchor="ctr"/>
          <a:lstStyle/>
          <a:p>
            <a:pPr indent="0" marL="0">
              <a:buNone/>
            </a:pPr>
            <a:r>
              <a:rPr lang="en-US" sz="1600" b="1" dirty="0">
                <a:solidFill>
                  <a:schemeClr val="tx2"/>
                </a:solidFill>
              </a:rPr>
              <a:t>L</a:t>
            </a:r>
            <a:endParaRPr lang="en-US" sz="1600" dirty="0"/>
          </a:p>
        </p:txBody>
      </p:sp>
      <p:sp>
        <p:nvSpPr>
          <p:cNvPr id="8" name="Array cell"/>
          <p:cNvSpPr txBox="1"/>
          <p:nvPr/>
        </p:nvSpPr>
        <p:spPr>
          <a:xfrm>
            <a:off x="1188720" y="2194560"/>
            <a:ext cx="457200" cy="457200"/>
          </a:xfrm>
          <a:prstGeom prst="roundRect">
            <a:avLst>
              <a:gd name="adj" fmla="val 120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27</a:t>
            </a:r>
            <a:endParaRPr lang="en-US" sz="1500" dirty="0"/>
          </a:p>
        </p:txBody>
      </p:sp>
      <p:sp>
        <p:nvSpPr>
          <p:cNvPr id="9" name="Array cell"/>
          <p:cNvSpPr txBox="1"/>
          <p:nvPr/>
        </p:nvSpPr>
        <p:spPr>
          <a:xfrm>
            <a:off x="1700784" y="2194560"/>
            <a:ext cx="457200" cy="457200"/>
          </a:xfrm>
          <a:prstGeom prst="roundRect">
            <a:avLst>
              <a:gd name="adj" fmla="val 120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38</a:t>
            </a:r>
            <a:endParaRPr lang="en-US" sz="1500" dirty="0"/>
          </a:p>
        </p:txBody>
      </p:sp>
      <p:sp>
        <p:nvSpPr>
          <p:cNvPr id="10" name="Text 7"/>
          <p:cNvSpPr txBox="1"/>
          <p:nvPr/>
        </p:nvSpPr>
        <p:spPr>
          <a:xfrm>
            <a:off x="3291840" y="2194560"/>
            <a:ext cx="365760" cy="457200"/>
          </a:xfrm>
          <a:prstGeom prst="rect">
            <a:avLst/>
          </a:prstGeom>
          <a:noFill/>
          <a:ln/>
        </p:spPr>
        <p:txBody>
          <a:bodyPr wrap="square" lIns="0" tIns="0" rIns="0" bIns="0" rtlCol="0" anchor="ctr"/>
          <a:lstStyle/>
          <a:p>
            <a:pPr indent="0" marL="0">
              <a:buNone/>
            </a:pPr>
            <a:r>
              <a:rPr lang="en-US" sz="1600" b="1" dirty="0">
                <a:solidFill>
                  <a:schemeClr val="tx2"/>
                </a:solidFill>
              </a:rPr>
              <a:t>R</a:t>
            </a:r>
            <a:endParaRPr lang="en-US" sz="1600" dirty="0"/>
          </a:p>
        </p:txBody>
      </p:sp>
      <p:sp>
        <p:nvSpPr>
          <p:cNvPr id="11" name="Array cell"/>
          <p:cNvSpPr txBox="1"/>
          <p:nvPr/>
        </p:nvSpPr>
        <p:spPr>
          <a:xfrm>
            <a:off x="3657600" y="2194560"/>
            <a:ext cx="457200" cy="457200"/>
          </a:xfrm>
          <a:prstGeom prst="roundRect">
            <a:avLst>
              <a:gd name="adj" fmla="val 12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2" name="Array cell"/>
          <p:cNvSpPr txBox="1"/>
          <p:nvPr/>
        </p:nvSpPr>
        <p:spPr>
          <a:xfrm>
            <a:off x="4169664" y="2194560"/>
            <a:ext cx="457200" cy="457200"/>
          </a:xfrm>
          <a:prstGeom prst="roundRect">
            <a:avLst>
              <a:gd name="adj" fmla="val 12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500" b="1" dirty="0">
                <a:solidFill>
                  <a:schemeClr val="tx1"/>
                </a:solidFill>
              </a:rPr>
              <a:t>43</a:t>
            </a:r>
            <a:endParaRPr lang="en-US" sz="1500" dirty="0"/>
          </a:p>
        </p:txBody>
      </p:sp>
      <p:sp>
        <p:nvSpPr>
          <p:cNvPr id="13" name="Badge"/>
          <p:cNvSpPr txBox="1"/>
          <p:nvPr/>
        </p:nvSpPr>
        <p:spPr>
          <a:xfrm>
            <a:off x="822960" y="3063240"/>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14" name="Text 11"/>
          <p:cNvSpPr txBox="1"/>
          <p:nvPr/>
        </p:nvSpPr>
        <p:spPr>
          <a:xfrm>
            <a:off x="1280160" y="2880360"/>
            <a:ext cx="2331720" cy="694944"/>
          </a:xfrm>
          <a:prstGeom prst="rect">
            <a:avLst/>
          </a:prstGeom>
          <a:noFill/>
          <a:ln/>
        </p:spPr>
        <p:txBody>
          <a:bodyPr wrap="square" lIns="0" tIns="0" rIns="0" bIns="0" rtlCol="0" anchor="ctr"/>
          <a:lstStyle/>
          <a:p>
            <a:pPr indent="0" marL="0">
              <a:buNone/>
            </a:pPr>
            <a:r>
              <a:rPr lang="en-US" sz="1400" dirty="0">
                <a:solidFill>
                  <a:schemeClr val="tx1"/>
                </a:solidFill>
              </a:rPr>
              <a:t>27 vs 3  →  </a:t>
            </a:r>
            <a:pPr indent="0" marL="0">
              <a:buNone/>
            </a:pPr>
            <a:r>
              <a:rPr lang="en-US" sz="1400" b="1" dirty="0">
                <a:solidFill>
                  <a:schemeClr val="tx1"/>
                </a:solidFill>
              </a:rPr>
              <a:t>take 3</a:t>
            </a:r>
            <a:endParaRPr lang="en-US" sz="1400" dirty="0"/>
          </a:p>
        </p:txBody>
      </p:sp>
      <p:sp>
        <p:nvSpPr>
          <p:cNvPr id="15" name="Output cell"/>
          <p:cNvSpPr txBox="1"/>
          <p:nvPr/>
        </p:nvSpPr>
        <p:spPr>
          <a:xfrm>
            <a:off x="3611880" y="3017520"/>
            <a:ext cx="420624" cy="420624"/>
          </a:xfrm>
          <a:prstGeom prst="roundRect">
            <a:avLst>
              <a:gd name="adj" fmla="val 13043"/>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6" name="Empty slot"/>
          <p:cNvSpPr txBox="1"/>
          <p:nvPr/>
        </p:nvSpPr>
        <p:spPr>
          <a:xfrm>
            <a:off x="4069080" y="3017520"/>
            <a:ext cx="420624" cy="420624"/>
          </a:xfrm>
          <a:prstGeom prst="roundRect">
            <a:avLst>
              <a:gd name="adj" fmla="val 13043"/>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400" b="1" dirty="0">
                <a:solidFill>
                  <a:schemeClr val="tx2"/>
                </a:solidFill>
              </a:rPr>
              <a:t> </a:t>
            </a:r>
            <a:endParaRPr lang="en-US" sz="1400" dirty="0"/>
          </a:p>
        </p:txBody>
      </p:sp>
      <p:sp>
        <p:nvSpPr>
          <p:cNvPr id="17" name="Empty slot"/>
          <p:cNvSpPr txBox="1"/>
          <p:nvPr/>
        </p:nvSpPr>
        <p:spPr>
          <a:xfrm>
            <a:off x="4526280" y="3017520"/>
            <a:ext cx="420624" cy="420624"/>
          </a:xfrm>
          <a:prstGeom prst="roundRect">
            <a:avLst>
              <a:gd name="adj" fmla="val 13043"/>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400" b="1" dirty="0">
                <a:solidFill>
                  <a:schemeClr val="tx2"/>
                </a:solidFill>
              </a:rPr>
              <a:t> </a:t>
            </a:r>
            <a:endParaRPr lang="en-US" sz="1400" dirty="0"/>
          </a:p>
        </p:txBody>
      </p:sp>
      <p:sp>
        <p:nvSpPr>
          <p:cNvPr id="18" name="Empty slot"/>
          <p:cNvSpPr txBox="1"/>
          <p:nvPr/>
        </p:nvSpPr>
        <p:spPr>
          <a:xfrm>
            <a:off x="4983480" y="3017520"/>
            <a:ext cx="420624" cy="420624"/>
          </a:xfrm>
          <a:prstGeom prst="roundRect">
            <a:avLst>
              <a:gd name="adj" fmla="val 13043"/>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400" b="1" dirty="0">
                <a:solidFill>
                  <a:schemeClr val="tx2"/>
                </a:solidFill>
              </a:rPr>
              <a:t> </a:t>
            </a:r>
            <a:endParaRPr lang="en-US" sz="1400" dirty="0"/>
          </a:p>
        </p:txBody>
      </p:sp>
      <p:sp>
        <p:nvSpPr>
          <p:cNvPr id="19" name="Badge"/>
          <p:cNvSpPr txBox="1"/>
          <p:nvPr/>
        </p:nvSpPr>
        <p:spPr>
          <a:xfrm>
            <a:off x="822960" y="3758184"/>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20" name="Text 17"/>
          <p:cNvSpPr txBox="1"/>
          <p:nvPr/>
        </p:nvSpPr>
        <p:spPr>
          <a:xfrm>
            <a:off x="1280160" y="3575304"/>
            <a:ext cx="2331720" cy="694944"/>
          </a:xfrm>
          <a:prstGeom prst="rect">
            <a:avLst/>
          </a:prstGeom>
          <a:noFill/>
          <a:ln/>
        </p:spPr>
        <p:txBody>
          <a:bodyPr wrap="square" lIns="0" tIns="0" rIns="0" bIns="0" rtlCol="0" anchor="ctr"/>
          <a:lstStyle/>
          <a:p>
            <a:pPr indent="0" marL="0">
              <a:buNone/>
            </a:pPr>
            <a:r>
              <a:rPr lang="en-US" sz="1400" dirty="0">
                <a:solidFill>
                  <a:schemeClr val="tx1"/>
                </a:solidFill>
              </a:rPr>
              <a:t>27 vs 43  →  </a:t>
            </a:r>
            <a:pPr indent="0" marL="0">
              <a:buNone/>
            </a:pPr>
            <a:r>
              <a:rPr lang="en-US" sz="1400" b="1" dirty="0">
                <a:solidFill>
                  <a:schemeClr val="tx1"/>
                </a:solidFill>
              </a:rPr>
              <a:t>take 27</a:t>
            </a:r>
            <a:endParaRPr lang="en-US" sz="1400" dirty="0"/>
          </a:p>
        </p:txBody>
      </p:sp>
      <p:sp>
        <p:nvSpPr>
          <p:cNvPr id="21" name="Output cell"/>
          <p:cNvSpPr txBox="1"/>
          <p:nvPr/>
        </p:nvSpPr>
        <p:spPr>
          <a:xfrm>
            <a:off x="3611880" y="3712464"/>
            <a:ext cx="420624" cy="420624"/>
          </a:xfrm>
          <a:prstGeom prst="roundRect">
            <a:avLst>
              <a:gd name="adj" fmla="val 13043"/>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2" name="Output cell"/>
          <p:cNvSpPr txBox="1"/>
          <p:nvPr/>
        </p:nvSpPr>
        <p:spPr>
          <a:xfrm>
            <a:off x="4069080" y="3712464"/>
            <a:ext cx="420624" cy="420624"/>
          </a:xfrm>
          <a:prstGeom prst="roundRect">
            <a:avLst>
              <a:gd name="adj" fmla="val 13043"/>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27</a:t>
            </a:r>
            <a:endParaRPr lang="en-US" sz="1400" dirty="0"/>
          </a:p>
        </p:txBody>
      </p:sp>
      <p:sp>
        <p:nvSpPr>
          <p:cNvPr id="23" name="Empty slot"/>
          <p:cNvSpPr txBox="1"/>
          <p:nvPr/>
        </p:nvSpPr>
        <p:spPr>
          <a:xfrm>
            <a:off x="4526280" y="3712464"/>
            <a:ext cx="420624" cy="420624"/>
          </a:xfrm>
          <a:prstGeom prst="roundRect">
            <a:avLst>
              <a:gd name="adj" fmla="val 13043"/>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400" b="1" dirty="0">
                <a:solidFill>
                  <a:schemeClr val="tx2"/>
                </a:solidFill>
              </a:rPr>
              <a:t> </a:t>
            </a:r>
            <a:endParaRPr lang="en-US" sz="1400" dirty="0"/>
          </a:p>
        </p:txBody>
      </p:sp>
      <p:sp>
        <p:nvSpPr>
          <p:cNvPr id="24" name="Empty slot"/>
          <p:cNvSpPr txBox="1"/>
          <p:nvPr/>
        </p:nvSpPr>
        <p:spPr>
          <a:xfrm>
            <a:off x="4983480" y="3712464"/>
            <a:ext cx="420624" cy="420624"/>
          </a:xfrm>
          <a:prstGeom prst="roundRect">
            <a:avLst>
              <a:gd name="adj" fmla="val 13043"/>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400" b="1" dirty="0">
                <a:solidFill>
                  <a:schemeClr val="tx2"/>
                </a:solidFill>
              </a:rPr>
              <a:t> </a:t>
            </a:r>
            <a:endParaRPr lang="en-US" sz="1400" dirty="0"/>
          </a:p>
        </p:txBody>
      </p:sp>
      <p:sp>
        <p:nvSpPr>
          <p:cNvPr id="25" name="Badge"/>
          <p:cNvSpPr txBox="1"/>
          <p:nvPr/>
        </p:nvSpPr>
        <p:spPr>
          <a:xfrm>
            <a:off x="822960" y="4453128"/>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26" name="Text 23"/>
          <p:cNvSpPr txBox="1"/>
          <p:nvPr/>
        </p:nvSpPr>
        <p:spPr>
          <a:xfrm>
            <a:off x="1280160" y="4270248"/>
            <a:ext cx="2331720" cy="694944"/>
          </a:xfrm>
          <a:prstGeom prst="rect">
            <a:avLst/>
          </a:prstGeom>
          <a:noFill/>
          <a:ln/>
        </p:spPr>
        <p:txBody>
          <a:bodyPr wrap="square" lIns="0" tIns="0" rIns="0" bIns="0" rtlCol="0" anchor="ctr"/>
          <a:lstStyle/>
          <a:p>
            <a:pPr indent="0" marL="0">
              <a:buNone/>
            </a:pPr>
            <a:r>
              <a:rPr lang="en-US" sz="1400" dirty="0">
                <a:solidFill>
                  <a:schemeClr val="tx1"/>
                </a:solidFill>
              </a:rPr>
              <a:t>38 vs 43  →  </a:t>
            </a:r>
            <a:pPr indent="0" marL="0">
              <a:buNone/>
            </a:pPr>
            <a:r>
              <a:rPr lang="en-US" sz="1400" b="1" dirty="0">
                <a:solidFill>
                  <a:schemeClr val="tx1"/>
                </a:solidFill>
              </a:rPr>
              <a:t>take 38</a:t>
            </a:r>
            <a:endParaRPr lang="en-US" sz="1400" dirty="0"/>
          </a:p>
        </p:txBody>
      </p:sp>
      <p:sp>
        <p:nvSpPr>
          <p:cNvPr id="27" name="Output cell"/>
          <p:cNvSpPr txBox="1"/>
          <p:nvPr/>
        </p:nvSpPr>
        <p:spPr>
          <a:xfrm>
            <a:off x="3611880" y="4407408"/>
            <a:ext cx="420624" cy="420624"/>
          </a:xfrm>
          <a:prstGeom prst="roundRect">
            <a:avLst>
              <a:gd name="adj" fmla="val 13043"/>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8" name="Output cell"/>
          <p:cNvSpPr txBox="1"/>
          <p:nvPr/>
        </p:nvSpPr>
        <p:spPr>
          <a:xfrm>
            <a:off x="4069080" y="4407408"/>
            <a:ext cx="420624" cy="420624"/>
          </a:xfrm>
          <a:prstGeom prst="roundRect">
            <a:avLst>
              <a:gd name="adj" fmla="val 13043"/>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27</a:t>
            </a:r>
            <a:endParaRPr lang="en-US" sz="1400" dirty="0"/>
          </a:p>
        </p:txBody>
      </p:sp>
      <p:sp>
        <p:nvSpPr>
          <p:cNvPr id="29" name="Output cell"/>
          <p:cNvSpPr txBox="1"/>
          <p:nvPr/>
        </p:nvSpPr>
        <p:spPr>
          <a:xfrm>
            <a:off x="4526280" y="4407408"/>
            <a:ext cx="420624" cy="420624"/>
          </a:xfrm>
          <a:prstGeom prst="roundRect">
            <a:avLst>
              <a:gd name="adj" fmla="val 13043"/>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38</a:t>
            </a:r>
            <a:endParaRPr lang="en-US" sz="1400" dirty="0"/>
          </a:p>
        </p:txBody>
      </p:sp>
      <p:sp>
        <p:nvSpPr>
          <p:cNvPr id="30" name="Empty slot"/>
          <p:cNvSpPr txBox="1"/>
          <p:nvPr/>
        </p:nvSpPr>
        <p:spPr>
          <a:xfrm>
            <a:off x="4983480" y="4407408"/>
            <a:ext cx="420624" cy="420624"/>
          </a:xfrm>
          <a:prstGeom prst="roundRect">
            <a:avLst>
              <a:gd name="adj" fmla="val 13043"/>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400" b="1" dirty="0">
                <a:solidFill>
                  <a:schemeClr val="tx2"/>
                </a:solidFill>
              </a:rPr>
              <a:t> </a:t>
            </a:r>
            <a:endParaRPr lang="en-US" sz="1400" dirty="0"/>
          </a:p>
        </p:txBody>
      </p:sp>
      <p:sp>
        <p:nvSpPr>
          <p:cNvPr id="31" name="Badge"/>
          <p:cNvSpPr txBox="1"/>
          <p:nvPr/>
        </p:nvSpPr>
        <p:spPr>
          <a:xfrm>
            <a:off x="822960" y="5148072"/>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32" name="Text 29"/>
          <p:cNvSpPr txBox="1"/>
          <p:nvPr/>
        </p:nvSpPr>
        <p:spPr>
          <a:xfrm>
            <a:off x="1280160" y="4965192"/>
            <a:ext cx="2331720" cy="694944"/>
          </a:xfrm>
          <a:prstGeom prst="rect">
            <a:avLst/>
          </a:prstGeom>
          <a:noFill/>
          <a:ln/>
        </p:spPr>
        <p:txBody>
          <a:bodyPr wrap="square" lIns="0" tIns="0" rIns="0" bIns="0" rtlCol="0" anchor="ctr"/>
          <a:lstStyle/>
          <a:p>
            <a:pPr indent="0" marL="0">
              <a:buNone/>
            </a:pPr>
            <a:r>
              <a:rPr lang="en-US" sz="1400" dirty="0">
                <a:solidFill>
                  <a:schemeClr val="tx1"/>
                </a:solidFill>
              </a:rPr>
              <a:t>Left empty  →  </a:t>
            </a:r>
            <a:pPr indent="0" marL="0">
              <a:buNone/>
            </a:pPr>
            <a:r>
              <a:rPr lang="en-US" sz="1400" b="1" dirty="0">
                <a:solidFill>
                  <a:schemeClr val="tx1"/>
                </a:solidFill>
              </a:rPr>
              <a:t>copy 43</a:t>
            </a:r>
            <a:endParaRPr lang="en-US" sz="1400" dirty="0"/>
          </a:p>
        </p:txBody>
      </p:sp>
      <p:sp>
        <p:nvSpPr>
          <p:cNvPr id="33" name="Output cell"/>
          <p:cNvSpPr txBox="1"/>
          <p:nvPr/>
        </p:nvSpPr>
        <p:spPr>
          <a:xfrm>
            <a:off x="3611880" y="5102352"/>
            <a:ext cx="420624" cy="420624"/>
          </a:xfrm>
          <a:prstGeom prst="roundRect">
            <a:avLst>
              <a:gd name="adj" fmla="val 13043"/>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34" name="Output cell"/>
          <p:cNvSpPr txBox="1"/>
          <p:nvPr/>
        </p:nvSpPr>
        <p:spPr>
          <a:xfrm>
            <a:off x="4069080" y="5102352"/>
            <a:ext cx="420624" cy="420624"/>
          </a:xfrm>
          <a:prstGeom prst="roundRect">
            <a:avLst>
              <a:gd name="adj" fmla="val 13043"/>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27</a:t>
            </a:r>
            <a:endParaRPr lang="en-US" sz="1400" dirty="0"/>
          </a:p>
        </p:txBody>
      </p:sp>
      <p:sp>
        <p:nvSpPr>
          <p:cNvPr id="35" name="Output cell"/>
          <p:cNvSpPr txBox="1"/>
          <p:nvPr/>
        </p:nvSpPr>
        <p:spPr>
          <a:xfrm>
            <a:off x="4526280" y="5102352"/>
            <a:ext cx="420624" cy="420624"/>
          </a:xfrm>
          <a:prstGeom prst="roundRect">
            <a:avLst>
              <a:gd name="adj" fmla="val 13043"/>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38</a:t>
            </a:r>
            <a:endParaRPr lang="en-US" sz="1400" dirty="0"/>
          </a:p>
        </p:txBody>
      </p:sp>
      <p:sp>
        <p:nvSpPr>
          <p:cNvPr id="36" name="Output cell"/>
          <p:cNvSpPr txBox="1"/>
          <p:nvPr/>
        </p:nvSpPr>
        <p:spPr>
          <a:xfrm>
            <a:off x="4983480" y="5102352"/>
            <a:ext cx="420624" cy="420624"/>
          </a:xfrm>
          <a:prstGeom prst="roundRect">
            <a:avLst>
              <a:gd name="adj" fmla="val 13043"/>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43</a:t>
            </a:r>
            <a:endParaRPr lang="en-US" sz="1400" dirty="0"/>
          </a:p>
        </p:txBody>
      </p:sp>
      <p:sp>
        <p:nvSpPr>
          <p:cNvPr id="37" name="Merge card"/>
          <p:cNvSpPr/>
          <p:nvPr/>
        </p:nvSpPr>
        <p:spPr>
          <a:xfrm>
            <a:off x="6245352" y="1508760"/>
            <a:ext cx="5394960" cy="4389120"/>
          </a:xfrm>
          <a:prstGeom prst="roundRect">
            <a:avLst>
              <a:gd name="adj" fmla="val 2500"/>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38" name="Text 35"/>
          <p:cNvSpPr txBox="1"/>
          <p:nvPr/>
        </p:nvSpPr>
        <p:spPr>
          <a:xfrm>
            <a:off x="6519672" y="1691640"/>
            <a:ext cx="484632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Merge [9, 82]  and  [10, 15]</a:t>
            </a:r>
            <a:endParaRPr lang="en-US" sz="1800" dirty="0"/>
          </a:p>
        </p:txBody>
      </p:sp>
      <p:sp>
        <p:nvSpPr>
          <p:cNvPr id="39" name="Text 36"/>
          <p:cNvSpPr txBox="1"/>
          <p:nvPr/>
        </p:nvSpPr>
        <p:spPr>
          <a:xfrm>
            <a:off x="6519672" y="2194560"/>
            <a:ext cx="365760" cy="457200"/>
          </a:xfrm>
          <a:prstGeom prst="rect">
            <a:avLst/>
          </a:prstGeom>
          <a:noFill/>
          <a:ln/>
        </p:spPr>
        <p:txBody>
          <a:bodyPr wrap="square" lIns="0" tIns="0" rIns="0" bIns="0" rtlCol="0" anchor="ctr"/>
          <a:lstStyle/>
          <a:p>
            <a:pPr indent="0" marL="0">
              <a:buNone/>
            </a:pPr>
            <a:r>
              <a:rPr lang="en-US" sz="1600" b="1" dirty="0">
                <a:solidFill>
                  <a:schemeClr val="tx2"/>
                </a:solidFill>
              </a:rPr>
              <a:t>L</a:t>
            </a:r>
            <a:endParaRPr lang="en-US" sz="1600" dirty="0"/>
          </a:p>
        </p:txBody>
      </p:sp>
      <p:sp>
        <p:nvSpPr>
          <p:cNvPr id="40" name="Array cell"/>
          <p:cNvSpPr txBox="1"/>
          <p:nvPr/>
        </p:nvSpPr>
        <p:spPr>
          <a:xfrm>
            <a:off x="6885432" y="2194560"/>
            <a:ext cx="457200" cy="457200"/>
          </a:xfrm>
          <a:prstGeom prst="roundRect">
            <a:avLst>
              <a:gd name="adj" fmla="val 120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9</a:t>
            </a:r>
            <a:endParaRPr lang="en-US" sz="1500" dirty="0"/>
          </a:p>
        </p:txBody>
      </p:sp>
      <p:sp>
        <p:nvSpPr>
          <p:cNvPr id="41" name="Array cell"/>
          <p:cNvSpPr txBox="1"/>
          <p:nvPr/>
        </p:nvSpPr>
        <p:spPr>
          <a:xfrm>
            <a:off x="7397496" y="2194560"/>
            <a:ext cx="457200" cy="457200"/>
          </a:xfrm>
          <a:prstGeom prst="roundRect">
            <a:avLst>
              <a:gd name="adj" fmla="val 120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500" b="1" dirty="0">
                <a:solidFill>
                  <a:schemeClr val="tx1"/>
                </a:solidFill>
              </a:rPr>
              <a:t>82</a:t>
            </a:r>
            <a:endParaRPr lang="en-US" sz="1500" dirty="0"/>
          </a:p>
        </p:txBody>
      </p:sp>
      <p:sp>
        <p:nvSpPr>
          <p:cNvPr id="42" name="Text 39"/>
          <p:cNvSpPr txBox="1"/>
          <p:nvPr/>
        </p:nvSpPr>
        <p:spPr>
          <a:xfrm>
            <a:off x="8988552" y="2194560"/>
            <a:ext cx="365760" cy="457200"/>
          </a:xfrm>
          <a:prstGeom prst="rect">
            <a:avLst/>
          </a:prstGeom>
          <a:noFill/>
          <a:ln/>
        </p:spPr>
        <p:txBody>
          <a:bodyPr wrap="square" lIns="0" tIns="0" rIns="0" bIns="0" rtlCol="0" anchor="ctr"/>
          <a:lstStyle/>
          <a:p>
            <a:pPr indent="0" marL="0">
              <a:buNone/>
            </a:pPr>
            <a:r>
              <a:rPr lang="en-US" sz="1600" b="1" dirty="0">
                <a:solidFill>
                  <a:schemeClr val="tx2"/>
                </a:solidFill>
              </a:rPr>
              <a:t>R</a:t>
            </a:r>
            <a:endParaRPr lang="en-US" sz="1600" dirty="0"/>
          </a:p>
        </p:txBody>
      </p:sp>
      <p:sp>
        <p:nvSpPr>
          <p:cNvPr id="43" name="Array cell"/>
          <p:cNvSpPr txBox="1"/>
          <p:nvPr/>
        </p:nvSpPr>
        <p:spPr>
          <a:xfrm>
            <a:off x="9354312" y="2194560"/>
            <a:ext cx="457200" cy="457200"/>
          </a:xfrm>
          <a:prstGeom prst="roundRect">
            <a:avLst>
              <a:gd name="adj" fmla="val 12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500" b="1" dirty="0">
                <a:solidFill>
                  <a:schemeClr val="tx1"/>
                </a:solidFill>
              </a:rPr>
              <a:t>10</a:t>
            </a:r>
            <a:endParaRPr lang="en-US" sz="1500" dirty="0"/>
          </a:p>
        </p:txBody>
      </p:sp>
      <p:sp>
        <p:nvSpPr>
          <p:cNvPr id="44" name="Array cell"/>
          <p:cNvSpPr txBox="1"/>
          <p:nvPr/>
        </p:nvSpPr>
        <p:spPr>
          <a:xfrm>
            <a:off x="9866376" y="2194560"/>
            <a:ext cx="457200" cy="457200"/>
          </a:xfrm>
          <a:prstGeom prst="roundRect">
            <a:avLst>
              <a:gd name="adj" fmla="val 12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500" b="1" dirty="0">
                <a:solidFill>
                  <a:schemeClr val="tx1"/>
                </a:solidFill>
              </a:rPr>
              <a:t>15</a:t>
            </a:r>
            <a:endParaRPr lang="en-US" sz="1500" dirty="0"/>
          </a:p>
        </p:txBody>
      </p:sp>
      <p:sp>
        <p:nvSpPr>
          <p:cNvPr id="45" name="Badge"/>
          <p:cNvSpPr txBox="1"/>
          <p:nvPr/>
        </p:nvSpPr>
        <p:spPr>
          <a:xfrm>
            <a:off x="6519672" y="3063240"/>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46" name="Text 43"/>
          <p:cNvSpPr txBox="1"/>
          <p:nvPr/>
        </p:nvSpPr>
        <p:spPr>
          <a:xfrm>
            <a:off x="6976872" y="2880360"/>
            <a:ext cx="2331720" cy="694944"/>
          </a:xfrm>
          <a:prstGeom prst="rect">
            <a:avLst/>
          </a:prstGeom>
          <a:noFill/>
          <a:ln/>
        </p:spPr>
        <p:txBody>
          <a:bodyPr wrap="square" lIns="0" tIns="0" rIns="0" bIns="0" rtlCol="0" anchor="ctr"/>
          <a:lstStyle/>
          <a:p>
            <a:pPr indent="0" marL="0">
              <a:buNone/>
            </a:pPr>
            <a:r>
              <a:rPr lang="en-US" sz="1400" dirty="0">
                <a:solidFill>
                  <a:schemeClr val="tx1"/>
                </a:solidFill>
              </a:rPr>
              <a:t>9 vs 10  →  </a:t>
            </a:r>
            <a:pPr indent="0" marL="0">
              <a:buNone/>
            </a:pPr>
            <a:r>
              <a:rPr lang="en-US" sz="1400" b="1" dirty="0">
                <a:solidFill>
                  <a:schemeClr val="tx1"/>
                </a:solidFill>
              </a:rPr>
              <a:t>take 9</a:t>
            </a:r>
            <a:endParaRPr lang="en-US" sz="1400" dirty="0"/>
          </a:p>
        </p:txBody>
      </p:sp>
      <p:sp>
        <p:nvSpPr>
          <p:cNvPr id="47" name="Output cell"/>
          <p:cNvSpPr txBox="1"/>
          <p:nvPr/>
        </p:nvSpPr>
        <p:spPr>
          <a:xfrm>
            <a:off x="9308592" y="3017520"/>
            <a:ext cx="420624" cy="420624"/>
          </a:xfrm>
          <a:prstGeom prst="roundRect">
            <a:avLst>
              <a:gd name="adj" fmla="val 13043"/>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9</a:t>
            </a:r>
            <a:endParaRPr lang="en-US" sz="1400" dirty="0"/>
          </a:p>
        </p:txBody>
      </p:sp>
      <p:sp>
        <p:nvSpPr>
          <p:cNvPr id="48" name="Empty slot"/>
          <p:cNvSpPr txBox="1"/>
          <p:nvPr/>
        </p:nvSpPr>
        <p:spPr>
          <a:xfrm>
            <a:off x="9765792" y="3017520"/>
            <a:ext cx="420624" cy="420624"/>
          </a:xfrm>
          <a:prstGeom prst="roundRect">
            <a:avLst>
              <a:gd name="adj" fmla="val 13043"/>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400" b="1" dirty="0">
                <a:solidFill>
                  <a:schemeClr val="tx2"/>
                </a:solidFill>
              </a:rPr>
              <a:t> </a:t>
            </a:r>
            <a:endParaRPr lang="en-US" sz="1400" dirty="0"/>
          </a:p>
        </p:txBody>
      </p:sp>
      <p:sp>
        <p:nvSpPr>
          <p:cNvPr id="49" name="Empty slot"/>
          <p:cNvSpPr txBox="1"/>
          <p:nvPr/>
        </p:nvSpPr>
        <p:spPr>
          <a:xfrm>
            <a:off x="10222992" y="3017520"/>
            <a:ext cx="420624" cy="420624"/>
          </a:xfrm>
          <a:prstGeom prst="roundRect">
            <a:avLst>
              <a:gd name="adj" fmla="val 13043"/>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400" b="1" dirty="0">
                <a:solidFill>
                  <a:schemeClr val="tx2"/>
                </a:solidFill>
              </a:rPr>
              <a:t> </a:t>
            </a:r>
            <a:endParaRPr lang="en-US" sz="1400" dirty="0"/>
          </a:p>
        </p:txBody>
      </p:sp>
      <p:sp>
        <p:nvSpPr>
          <p:cNvPr id="50" name="Empty slot"/>
          <p:cNvSpPr txBox="1"/>
          <p:nvPr/>
        </p:nvSpPr>
        <p:spPr>
          <a:xfrm>
            <a:off x="10680192" y="3017520"/>
            <a:ext cx="420624" cy="420624"/>
          </a:xfrm>
          <a:prstGeom prst="roundRect">
            <a:avLst>
              <a:gd name="adj" fmla="val 13043"/>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400" b="1" dirty="0">
                <a:solidFill>
                  <a:schemeClr val="tx2"/>
                </a:solidFill>
              </a:rPr>
              <a:t> </a:t>
            </a:r>
            <a:endParaRPr lang="en-US" sz="1400" dirty="0"/>
          </a:p>
        </p:txBody>
      </p:sp>
      <p:sp>
        <p:nvSpPr>
          <p:cNvPr id="51" name="Badge"/>
          <p:cNvSpPr txBox="1"/>
          <p:nvPr/>
        </p:nvSpPr>
        <p:spPr>
          <a:xfrm>
            <a:off x="6519672" y="3758184"/>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52" name="Text 49"/>
          <p:cNvSpPr txBox="1"/>
          <p:nvPr/>
        </p:nvSpPr>
        <p:spPr>
          <a:xfrm>
            <a:off x="6976872" y="3575304"/>
            <a:ext cx="2331720" cy="694944"/>
          </a:xfrm>
          <a:prstGeom prst="rect">
            <a:avLst/>
          </a:prstGeom>
          <a:noFill/>
          <a:ln/>
        </p:spPr>
        <p:txBody>
          <a:bodyPr wrap="square" lIns="0" tIns="0" rIns="0" bIns="0" rtlCol="0" anchor="ctr"/>
          <a:lstStyle/>
          <a:p>
            <a:pPr indent="0" marL="0">
              <a:buNone/>
            </a:pPr>
            <a:r>
              <a:rPr lang="en-US" sz="1400" dirty="0">
                <a:solidFill>
                  <a:schemeClr val="tx1"/>
                </a:solidFill>
              </a:rPr>
              <a:t>82 vs 10  →  </a:t>
            </a:r>
            <a:pPr indent="0" marL="0">
              <a:buNone/>
            </a:pPr>
            <a:r>
              <a:rPr lang="en-US" sz="1400" b="1" dirty="0">
                <a:solidFill>
                  <a:schemeClr val="tx1"/>
                </a:solidFill>
              </a:rPr>
              <a:t>take 10</a:t>
            </a:r>
            <a:endParaRPr lang="en-US" sz="1400" dirty="0"/>
          </a:p>
        </p:txBody>
      </p:sp>
      <p:sp>
        <p:nvSpPr>
          <p:cNvPr id="53" name="Output cell"/>
          <p:cNvSpPr txBox="1"/>
          <p:nvPr/>
        </p:nvSpPr>
        <p:spPr>
          <a:xfrm>
            <a:off x="9308592" y="3712464"/>
            <a:ext cx="420624" cy="420624"/>
          </a:xfrm>
          <a:prstGeom prst="roundRect">
            <a:avLst>
              <a:gd name="adj" fmla="val 13043"/>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9</a:t>
            </a:r>
            <a:endParaRPr lang="en-US" sz="1400" dirty="0"/>
          </a:p>
        </p:txBody>
      </p:sp>
      <p:sp>
        <p:nvSpPr>
          <p:cNvPr id="54" name="Output cell"/>
          <p:cNvSpPr txBox="1"/>
          <p:nvPr/>
        </p:nvSpPr>
        <p:spPr>
          <a:xfrm>
            <a:off x="9765792" y="3712464"/>
            <a:ext cx="420624" cy="420624"/>
          </a:xfrm>
          <a:prstGeom prst="roundRect">
            <a:avLst>
              <a:gd name="adj" fmla="val 13043"/>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10</a:t>
            </a:r>
            <a:endParaRPr lang="en-US" sz="1400" dirty="0"/>
          </a:p>
        </p:txBody>
      </p:sp>
      <p:sp>
        <p:nvSpPr>
          <p:cNvPr id="55" name="Empty slot"/>
          <p:cNvSpPr txBox="1"/>
          <p:nvPr/>
        </p:nvSpPr>
        <p:spPr>
          <a:xfrm>
            <a:off x="10222992" y="3712464"/>
            <a:ext cx="420624" cy="420624"/>
          </a:xfrm>
          <a:prstGeom prst="roundRect">
            <a:avLst>
              <a:gd name="adj" fmla="val 13043"/>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400" b="1" dirty="0">
                <a:solidFill>
                  <a:schemeClr val="tx2"/>
                </a:solidFill>
              </a:rPr>
              <a:t> </a:t>
            </a:r>
            <a:endParaRPr lang="en-US" sz="1400" dirty="0"/>
          </a:p>
        </p:txBody>
      </p:sp>
      <p:sp>
        <p:nvSpPr>
          <p:cNvPr id="56" name="Empty slot"/>
          <p:cNvSpPr txBox="1"/>
          <p:nvPr/>
        </p:nvSpPr>
        <p:spPr>
          <a:xfrm>
            <a:off x="10680192" y="3712464"/>
            <a:ext cx="420624" cy="420624"/>
          </a:xfrm>
          <a:prstGeom prst="roundRect">
            <a:avLst>
              <a:gd name="adj" fmla="val 13043"/>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400" b="1" dirty="0">
                <a:solidFill>
                  <a:schemeClr val="tx2"/>
                </a:solidFill>
              </a:rPr>
              <a:t> </a:t>
            </a:r>
            <a:endParaRPr lang="en-US" sz="1400" dirty="0"/>
          </a:p>
        </p:txBody>
      </p:sp>
      <p:sp>
        <p:nvSpPr>
          <p:cNvPr id="57" name="Badge"/>
          <p:cNvSpPr txBox="1"/>
          <p:nvPr/>
        </p:nvSpPr>
        <p:spPr>
          <a:xfrm>
            <a:off x="6519672" y="4453128"/>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58" name="Text 55"/>
          <p:cNvSpPr txBox="1"/>
          <p:nvPr/>
        </p:nvSpPr>
        <p:spPr>
          <a:xfrm>
            <a:off x="6976872" y="4270248"/>
            <a:ext cx="2331720" cy="694944"/>
          </a:xfrm>
          <a:prstGeom prst="rect">
            <a:avLst/>
          </a:prstGeom>
          <a:noFill/>
          <a:ln/>
        </p:spPr>
        <p:txBody>
          <a:bodyPr wrap="square" lIns="0" tIns="0" rIns="0" bIns="0" rtlCol="0" anchor="ctr"/>
          <a:lstStyle/>
          <a:p>
            <a:pPr indent="0" marL="0">
              <a:buNone/>
            </a:pPr>
            <a:r>
              <a:rPr lang="en-US" sz="1400" dirty="0">
                <a:solidFill>
                  <a:schemeClr val="tx1"/>
                </a:solidFill>
              </a:rPr>
              <a:t>82 vs 15  →  </a:t>
            </a:r>
            <a:pPr indent="0" marL="0">
              <a:buNone/>
            </a:pPr>
            <a:r>
              <a:rPr lang="en-US" sz="1400" b="1" dirty="0">
                <a:solidFill>
                  <a:schemeClr val="tx1"/>
                </a:solidFill>
              </a:rPr>
              <a:t>take 15</a:t>
            </a:r>
            <a:endParaRPr lang="en-US" sz="1400" dirty="0"/>
          </a:p>
        </p:txBody>
      </p:sp>
      <p:sp>
        <p:nvSpPr>
          <p:cNvPr id="59" name="Output cell"/>
          <p:cNvSpPr txBox="1"/>
          <p:nvPr/>
        </p:nvSpPr>
        <p:spPr>
          <a:xfrm>
            <a:off x="9308592" y="4407408"/>
            <a:ext cx="420624" cy="420624"/>
          </a:xfrm>
          <a:prstGeom prst="roundRect">
            <a:avLst>
              <a:gd name="adj" fmla="val 13043"/>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9</a:t>
            </a:r>
            <a:endParaRPr lang="en-US" sz="1400" dirty="0"/>
          </a:p>
        </p:txBody>
      </p:sp>
      <p:sp>
        <p:nvSpPr>
          <p:cNvPr id="60" name="Output cell"/>
          <p:cNvSpPr txBox="1"/>
          <p:nvPr/>
        </p:nvSpPr>
        <p:spPr>
          <a:xfrm>
            <a:off x="9765792" y="4407408"/>
            <a:ext cx="420624" cy="420624"/>
          </a:xfrm>
          <a:prstGeom prst="roundRect">
            <a:avLst>
              <a:gd name="adj" fmla="val 13043"/>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10</a:t>
            </a:r>
            <a:endParaRPr lang="en-US" sz="1400" dirty="0"/>
          </a:p>
        </p:txBody>
      </p:sp>
      <p:sp>
        <p:nvSpPr>
          <p:cNvPr id="61" name="Output cell"/>
          <p:cNvSpPr txBox="1"/>
          <p:nvPr/>
        </p:nvSpPr>
        <p:spPr>
          <a:xfrm>
            <a:off x="10222992" y="4407408"/>
            <a:ext cx="420624" cy="420624"/>
          </a:xfrm>
          <a:prstGeom prst="roundRect">
            <a:avLst>
              <a:gd name="adj" fmla="val 13043"/>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15</a:t>
            </a:r>
            <a:endParaRPr lang="en-US" sz="1400" dirty="0"/>
          </a:p>
        </p:txBody>
      </p:sp>
      <p:sp>
        <p:nvSpPr>
          <p:cNvPr id="62" name="Empty slot"/>
          <p:cNvSpPr txBox="1"/>
          <p:nvPr/>
        </p:nvSpPr>
        <p:spPr>
          <a:xfrm>
            <a:off x="10680192" y="4407408"/>
            <a:ext cx="420624" cy="420624"/>
          </a:xfrm>
          <a:prstGeom prst="roundRect">
            <a:avLst>
              <a:gd name="adj" fmla="val 13043"/>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400" b="1" dirty="0">
                <a:solidFill>
                  <a:schemeClr val="tx2"/>
                </a:solidFill>
              </a:rPr>
              <a:t> </a:t>
            </a:r>
            <a:endParaRPr lang="en-US" sz="1400" dirty="0"/>
          </a:p>
        </p:txBody>
      </p:sp>
      <p:sp>
        <p:nvSpPr>
          <p:cNvPr id="63" name="Badge"/>
          <p:cNvSpPr txBox="1"/>
          <p:nvPr/>
        </p:nvSpPr>
        <p:spPr>
          <a:xfrm>
            <a:off x="6519672" y="5148072"/>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64" name="Text 61"/>
          <p:cNvSpPr txBox="1"/>
          <p:nvPr/>
        </p:nvSpPr>
        <p:spPr>
          <a:xfrm>
            <a:off x="6976872" y="4965192"/>
            <a:ext cx="2331720" cy="694944"/>
          </a:xfrm>
          <a:prstGeom prst="rect">
            <a:avLst/>
          </a:prstGeom>
          <a:noFill/>
          <a:ln/>
        </p:spPr>
        <p:txBody>
          <a:bodyPr wrap="square" lIns="0" tIns="0" rIns="0" bIns="0" rtlCol="0" anchor="ctr"/>
          <a:lstStyle/>
          <a:p>
            <a:pPr indent="0" marL="0">
              <a:buNone/>
            </a:pPr>
            <a:r>
              <a:rPr lang="en-US" sz="1400" dirty="0">
                <a:solidFill>
                  <a:schemeClr val="tx1"/>
                </a:solidFill>
              </a:rPr>
              <a:t>Right empty  →  </a:t>
            </a:r>
            <a:pPr indent="0" marL="0">
              <a:buNone/>
            </a:pPr>
            <a:r>
              <a:rPr lang="en-US" sz="1400" b="1" dirty="0">
                <a:solidFill>
                  <a:schemeClr val="tx1"/>
                </a:solidFill>
              </a:rPr>
              <a:t>copy 82</a:t>
            </a:r>
            <a:endParaRPr lang="en-US" sz="1400" dirty="0"/>
          </a:p>
        </p:txBody>
      </p:sp>
      <p:sp>
        <p:nvSpPr>
          <p:cNvPr id="65" name="Output cell"/>
          <p:cNvSpPr txBox="1"/>
          <p:nvPr/>
        </p:nvSpPr>
        <p:spPr>
          <a:xfrm>
            <a:off x="9308592" y="5102352"/>
            <a:ext cx="420624" cy="420624"/>
          </a:xfrm>
          <a:prstGeom prst="roundRect">
            <a:avLst>
              <a:gd name="adj" fmla="val 13043"/>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9</a:t>
            </a:r>
            <a:endParaRPr lang="en-US" sz="1400" dirty="0"/>
          </a:p>
        </p:txBody>
      </p:sp>
      <p:sp>
        <p:nvSpPr>
          <p:cNvPr id="66" name="Output cell"/>
          <p:cNvSpPr txBox="1"/>
          <p:nvPr/>
        </p:nvSpPr>
        <p:spPr>
          <a:xfrm>
            <a:off x="9765792" y="5102352"/>
            <a:ext cx="420624" cy="420624"/>
          </a:xfrm>
          <a:prstGeom prst="roundRect">
            <a:avLst>
              <a:gd name="adj" fmla="val 13043"/>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10</a:t>
            </a:r>
            <a:endParaRPr lang="en-US" sz="1400" dirty="0"/>
          </a:p>
        </p:txBody>
      </p:sp>
      <p:sp>
        <p:nvSpPr>
          <p:cNvPr id="67" name="Output cell"/>
          <p:cNvSpPr txBox="1"/>
          <p:nvPr/>
        </p:nvSpPr>
        <p:spPr>
          <a:xfrm>
            <a:off x="10222992" y="5102352"/>
            <a:ext cx="420624" cy="420624"/>
          </a:xfrm>
          <a:prstGeom prst="roundRect">
            <a:avLst>
              <a:gd name="adj" fmla="val 13043"/>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15</a:t>
            </a:r>
            <a:endParaRPr lang="en-US" sz="1400" dirty="0"/>
          </a:p>
        </p:txBody>
      </p:sp>
      <p:sp>
        <p:nvSpPr>
          <p:cNvPr id="68" name="Output cell"/>
          <p:cNvSpPr txBox="1"/>
          <p:nvPr/>
        </p:nvSpPr>
        <p:spPr>
          <a:xfrm>
            <a:off x="10680192" y="5102352"/>
            <a:ext cx="420624" cy="420624"/>
          </a:xfrm>
          <a:prstGeom prst="roundRect">
            <a:avLst>
              <a:gd name="adj" fmla="val 13043"/>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400" b="1" dirty="0">
                <a:solidFill>
                  <a:schemeClr val="tx1"/>
                </a:solidFill>
              </a:rPr>
              <a:t>82</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t"/>
          <a:lstStyle/>
          <a:p>
            <a:pPr indent="0" marL="0">
              <a:buNone/>
            </a:pPr>
            <a:r>
              <a:rPr lang="en-US" sz="1200" b="1" spc="300" kern="0" dirty="0">
                <a:solidFill>
                  <a:schemeClr val="tx2"/>
                </a:solidFill>
              </a:rPr>
              <a:t>STEP 2 · COMBINE, LEVEL 3</a:t>
            </a:r>
            <a:endParaRPr lang="en-US" sz="1200" dirty="0"/>
          </a:p>
        </p:txBody>
      </p:sp>
      <p:sp>
        <p:nvSpPr>
          <p:cNvPr id="3" name="Text 2"/>
          <p:cNvSpPr/>
          <p:nvPr>
            <p:ph idx="102"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The Final Merge</a:t>
            </a:r>
            <a:endParaRPr lang="en-US" sz="3400" dirty="0"/>
          </a:p>
        </p:txBody>
      </p:sp>
      <p:sp>
        <p:nvSpPr>
          <p:cNvPr id="5" name="Text 2"/>
          <p:cNvSpPr txBox="1"/>
          <p:nvPr/>
        </p:nvSpPr>
        <p:spPr>
          <a:xfrm>
            <a:off x="548640" y="1417320"/>
            <a:ext cx="3566160" cy="274320"/>
          </a:xfrm>
          <a:prstGeom prst="rect">
            <a:avLst/>
          </a:prstGeom>
          <a:noFill/>
          <a:ln/>
        </p:spPr>
        <p:txBody>
          <a:bodyPr wrap="square" lIns="0" tIns="0" rIns="0" bIns="0" rtlCol="0" anchor="t"/>
          <a:lstStyle/>
          <a:p>
            <a:pPr indent="0" marL="0">
              <a:buNone/>
            </a:pPr>
            <a:r>
              <a:rPr lang="en-US" sz="1200" b="1" spc="200" kern="0" dirty="0">
                <a:solidFill>
                  <a:schemeClr val="tx2"/>
                </a:solidFill>
              </a:rPr>
              <a:t>LEFT (sorted)</a:t>
            </a:r>
            <a:endParaRPr lang="en-US" sz="1200" dirty="0"/>
          </a:p>
        </p:txBody>
      </p:sp>
      <p:sp>
        <p:nvSpPr>
          <p:cNvPr id="6" name="Array cell"/>
          <p:cNvSpPr txBox="1"/>
          <p:nvPr/>
        </p:nvSpPr>
        <p:spPr>
          <a:xfrm>
            <a:off x="548640" y="1737360"/>
            <a:ext cx="822960" cy="640080"/>
          </a:xfrm>
          <a:prstGeom prst="roundRect">
            <a:avLst>
              <a:gd name="adj" fmla="val 8571"/>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2200" b="1" dirty="0">
                <a:solidFill>
                  <a:schemeClr val="tx1"/>
                </a:solidFill>
              </a:rPr>
              <a:t>3</a:t>
            </a:r>
            <a:endParaRPr lang="en-US" sz="2200" dirty="0"/>
          </a:p>
        </p:txBody>
      </p:sp>
      <p:sp>
        <p:nvSpPr>
          <p:cNvPr id="7" name="Array cell"/>
          <p:cNvSpPr txBox="1"/>
          <p:nvPr/>
        </p:nvSpPr>
        <p:spPr>
          <a:xfrm>
            <a:off x="1463040" y="1737360"/>
            <a:ext cx="822960" cy="640080"/>
          </a:xfrm>
          <a:prstGeom prst="roundRect">
            <a:avLst>
              <a:gd name="adj" fmla="val 8571"/>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2200" b="1" dirty="0">
                <a:solidFill>
                  <a:schemeClr val="tx1"/>
                </a:solidFill>
              </a:rPr>
              <a:t>27</a:t>
            </a:r>
            <a:endParaRPr lang="en-US" sz="2200" dirty="0"/>
          </a:p>
        </p:txBody>
      </p:sp>
      <p:sp>
        <p:nvSpPr>
          <p:cNvPr id="8" name="Array cell"/>
          <p:cNvSpPr txBox="1"/>
          <p:nvPr/>
        </p:nvSpPr>
        <p:spPr>
          <a:xfrm>
            <a:off x="2377440" y="1737360"/>
            <a:ext cx="822960" cy="640080"/>
          </a:xfrm>
          <a:prstGeom prst="roundRect">
            <a:avLst>
              <a:gd name="adj" fmla="val 8571"/>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2200" b="1" dirty="0">
                <a:solidFill>
                  <a:schemeClr val="tx1"/>
                </a:solidFill>
              </a:rPr>
              <a:t>38</a:t>
            </a:r>
            <a:endParaRPr lang="en-US" sz="2200" dirty="0"/>
          </a:p>
        </p:txBody>
      </p:sp>
      <p:sp>
        <p:nvSpPr>
          <p:cNvPr id="9" name="Array cell"/>
          <p:cNvSpPr txBox="1"/>
          <p:nvPr/>
        </p:nvSpPr>
        <p:spPr>
          <a:xfrm>
            <a:off x="3291840" y="1737360"/>
            <a:ext cx="822960" cy="640080"/>
          </a:xfrm>
          <a:prstGeom prst="roundRect">
            <a:avLst>
              <a:gd name="adj" fmla="val 8571"/>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2200" b="1" dirty="0">
                <a:solidFill>
                  <a:schemeClr val="tx1"/>
                </a:solidFill>
              </a:rPr>
              <a:t>43</a:t>
            </a:r>
            <a:endParaRPr lang="en-US" sz="2200" dirty="0"/>
          </a:p>
        </p:txBody>
      </p:sp>
      <p:sp>
        <p:nvSpPr>
          <p:cNvPr id="10" name="Text 7"/>
          <p:cNvSpPr txBox="1"/>
          <p:nvPr/>
        </p:nvSpPr>
        <p:spPr>
          <a:xfrm>
            <a:off x="8074152" y="1417320"/>
            <a:ext cx="3566160" cy="274320"/>
          </a:xfrm>
          <a:prstGeom prst="rect">
            <a:avLst/>
          </a:prstGeom>
          <a:noFill/>
          <a:ln/>
        </p:spPr>
        <p:txBody>
          <a:bodyPr wrap="square" lIns="0" tIns="0" rIns="0" bIns="0" rtlCol="0" anchor="t"/>
          <a:lstStyle/>
          <a:p>
            <a:pPr indent="0" marL="0">
              <a:buNone/>
            </a:pPr>
            <a:r>
              <a:rPr lang="en-US" sz="1200" b="1" spc="200" kern="0" dirty="0">
                <a:solidFill>
                  <a:schemeClr val="tx2"/>
                </a:solidFill>
              </a:rPr>
              <a:t>RIGHT (sorted)</a:t>
            </a:r>
            <a:endParaRPr lang="en-US" sz="1200" dirty="0"/>
          </a:p>
        </p:txBody>
      </p:sp>
      <p:sp>
        <p:nvSpPr>
          <p:cNvPr id="11" name="Array cell"/>
          <p:cNvSpPr txBox="1"/>
          <p:nvPr/>
        </p:nvSpPr>
        <p:spPr>
          <a:xfrm>
            <a:off x="8074152" y="1737360"/>
            <a:ext cx="822960" cy="640080"/>
          </a:xfrm>
          <a:prstGeom prst="roundRect">
            <a:avLst>
              <a:gd name="adj" fmla="val 8571"/>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2200" b="1" dirty="0">
                <a:solidFill>
                  <a:schemeClr val="tx1"/>
                </a:solidFill>
              </a:rPr>
              <a:t>9</a:t>
            </a:r>
            <a:endParaRPr lang="en-US" sz="2200" dirty="0"/>
          </a:p>
        </p:txBody>
      </p:sp>
      <p:sp>
        <p:nvSpPr>
          <p:cNvPr id="12" name="Array cell"/>
          <p:cNvSpPr txBox="1"/>
          <p:nvPr/>
        </p:nvSpPr>
        <p:spPr>
          <a:xfrm>
            <a:off x="8988552" y="1737360"/>
            <a:ext cx="822960" cy="640080"/>
          </a:xfrm>
          <a:prstGeom prst="roundRect">
            <a:avLst>
              <a:gd name="adj" fmla="val 8571"/>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2200" b="1" dirty="0">
                <a:solidFill>
                  <a:schemeClr val="tx1"/>
                </a:solidFill>
              </a:rPr>
              <a:t>10</a:t>
            </a:r>
            <a:endParaRPr lang="en-US" sz="2200" dirty="0"/>
          </a:p>
        </p:txBody>
      </p:sp>
      <p:sp>
        <p:nvSpPr>
          <p:cNvPr id="13" name="Array cell"/>
          <p:cNvSpPr txBox="1"/>
          <p:nvPr/>
        </p:nvSpPr>
        <p:spPr>
          <a:xfrm>
            <a:off x="9902952" y="1737360"/>
            <a:ext cx="822960" cy="640080"/>
          </a:xfrm>
          <a:prstGeom prst="roundRect">
            <a:avLst>
              <a:gd name="adj" fmla="val 8571"/>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2200" b="1" dirty="0">
                <a:solidFill>
                  <a:schemeClr val="tx1"/>
                </a:solidFill>
              </a:rPr>
              <a:t>15</a:t>
            </a:r>
            <a:endParaRPr lang="en-US" sz="2200" dirty="0"/>
          </a:p>
        </p:txBody>
      </p:sp>
      <p:sp>
        <p:nvSpPr>
          <p:cNvPr id="14" name="Array cell"/>
          <p:cNvSpPr txBox="1"/>
          <p:nvPr/>
        </p:nvSpPr>
        <p:spPr>
          <a:xfrm>
            <a:off x="10817352" y="1737360"/>
            <a:ext cx="822960" cy="640080"/>
          </a:xfrm>
          <a:prstGeom prst="roundRect">
            <a:avLst>
              <a:gd name="adj" fmla="val 8571"/>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2200" b="1" dirty="0">
                <a:solidFill>
                  <a:schemeClr val="tx1"/>
                </a:solidFill>
              </a:rPr>
              <a:t>82</a:t>
            </a:r>
            <a:endParaRPr lang="en-US" sz="2200" dirty="0"/>
          </a:p>
        </p:txBody>
      </p:sp>
      <p:sp>
        <p:nvSpPr>
          <p:cNvPr id="15" name="Chip"/>
          <p:cNvSpPr txBox="1"/>
          <p:nvPr/>
        </p:nvSpPr>
        <p:spPr>
          <a:xfrm>
            <a:off x="4434840" y="1737360"/>
            <a:ext cx="3337560" cy="640080"/>
          </a:xfrm>
          <a:prstGeom prst="roundRect">
            <a:avLst>
              <a:gd name="adj" fmla="val 25714"/>
            </a:avLst>
          </a:prstGeom>
          <a:solidFill>
            <a:schemeClr val="accent5"/>
          </a:solidFill>
          <a:ln w="12700">
            <a:solidFill>
              <a:schemeClr val="accent4"/>
            </a:solidFill>
          </a:ln>
        </p:spPr>
        <p:txBody>
          <a:bodyPr wrap="square" lIns="635" tIns="635" rIns="635" bIns="635" rtlCol="0" anchor="ctr"/>
          <a:lstStyle/>
          <a:p>
            <a:pPr algn="ctr" indent="0" marL="0">
              <a:buNone/>
            </a:pPr>
            <a:r>
              <a:rPr lang="en-US" sz="1600" dirty="0">
                <a:solidFill>
                  <a:schemeClr val="tx1"/>
                </a:solidFill>
              </a:rPr>
              <a:t>compare the front elements</a:t>
            </a:r>
            <a:endParaRPr lang="en-US" sz="1600" dirty="0"/>
          </a:p>
        </p:txBody>
      </p:sp>
      <p:sp>
        <p:nvSpPr>
          <p:cNvPr id="16" name="Text 13"/>
          <p:cNvSpPr txBox="1"/>
          <p:nvPr/>
        </p:nvSpPr>
        <p:spPr>
          <a:xfrm>
            <a:off x="548640" y="2606040"/>
            <a:ext cx="5486400" cy="274320"/>
          </a:xfrm>
          <a:prstGeom prst="rect">
            <a:avLst/>
          </a:prstGeom>
          <a:noFill/>
          <a:ln/>
        </p:spPr>
        <p:txBody>
          <a:bodyPr wrap="square" lIns="0" tIns="0" rIns="0" bIns="0" rtlCol="0" anchor="t"/>
          <a:lstStyle/>
          <a:p>
            <a:pPr indent="0" marL="0">
              <a:buNone/>
            </a:pPr>
            <a:r>
              <a:rPr lang="en-US" sz="1200" b="1" spc="200" kern="0" dirty="0">
                <a:solidFill>
                  <a:schemeClr val="tx2"/>
                </a:solidFill>
              </a:rPr>
              <a:t>OUTPUT AFTER EACH STEP</a:t>
            </a:r>
            <a:endParaRPr lang="en-US" sz="1200" dirty="0"/>
          </a:p>
        </p:txBody>
      </p:sp>
      <p:sp>
        <p:nvSpPr>
          <p:cNvPr id="17" name="Badge"/>
          <p:cNvSpPr txBox="1"/>
          <p:nvPr/>
        </p:nvSpPr>
        <p:spPr>
          <a:xfrm>
            <a:off x="548640" y="3218688"/>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18" name="Text 15"/>
          <p:cNvSpPr txBox="1"/>
          <p:nvPr/>
        </p:nvSpPr>
        <p:spPr>
          <a:xfrm>
            <a:off x="1005840" y="3017520"/>
            <a:ext cx="1965960" cy="731520"/>
          </a:xfrm>
          <a:prstGeom prst="rect">
            <a:avLst/>
          </a:prstGeom>
          <a:noFill/>
          <a:ln/>
        </p:spPr>
        <p:txBody>
          <a:bodyPr wrap="square" lIns="0" tIns="0" rIns="0" bIns="0" rtlCol="0" anchor="ctr"/>
          <a:lstStyle/>
          <a:p>
            <a:pPr indent="0" marL="0">
              <a:buNone/>
            </a:pPr>
            <a:r>
              <a:rPr lang="en-US" sz="1400" dirty="0">
                <a:solidFill>
                  <a:schemeClr val="tx1"/>
                </a:solidFill>
              </a:rPr>
              <a:t>3 vs 9  →  </a:t>
            </a:r>
            <a:pPr indent="0" marL="0">
              <a:buNone/>
            </a:pPr>
            <a:r>
              <a:rPr lang="en-US" sz="1400" b="1" dirty="0">
                <a:solidFill>
                  <a:schemeClr val="tx1"/>
                </a:solidFill>
              </a:rPr>
              <a:t>take 3</a:t>
            </a:r>
            <a:endParaRPr lang="en-US" sz="1400" dirty="0"/>
          </a:p>
        </p:txBody>
      </p:sp>
      <p:sp>
        <p:nvSpPr>
          <p:cNvPr id="19" name="Output cell"/>
          <p:cNvSpPr txBox="1"/>
          <p:nvPr/>
        </p:nvSpPr>
        <p:spPr>
          <a:xfrm>
            <a:off x="2971800" y="3218688"/>
            <a:ext cx="329184" cy="329184"/>
          </a:xfrm>
          <a:prstGeom prst="roundRect">
            <a:avLst>
              <a:gd name="adj" fmla="val 16667"/>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20" name="Empty slot"/>
          <p:cNvSpPr txBox="1"/>
          <p:nvPr/>
        </p:nvSpPr>
        <p:spPr>
          <a:xfrm>
            <a:off x="3337560" y="321868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21" name="Empty slot"/>
          <p:cNvSpPr txBox="1"/>
          <p:nvPr/>
        </p:nvSpPr>
        <p:spPr>
          <a:xfrm>
            <a:off x="3703320" y="321868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22" name="Empty slot"/>
          <p:cNvSpPr txBox="1"/>
          <p:nvPr/>
        </p:nvSpPr>
        <p:spPr>
          <a:xfrm>
            <a:off x="4069080" y="321868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23" name="Empty slot"/>
          <p:cNvSpPr txBox="1"/>
          <p:nvPr/>
        </p:nvSpPr>
        <p:spPr>
          <a:xfrm>
            <a:off x="4434840" y="321868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24" name="Empty slot"/>
          <p:cNvSpPr txBox="1"/>
          <p:nvPr/>
        </p:nvSpPr>
        <p:spPr>
          <a:xfrm>
            <a:off x="4800600" y="321868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25" name="Empty slot"/>
          <p:cNvSpPr txBox="1"/>
          <p:nvPr/>
        </p:nvSpPr>
        <p:spPr>
          <a:xfrm>
            <a:off x="5166360" y="321868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26" name="Empty slot"/>
          <p:cNvSpPr txBox="1"/>
          <p:nvPr/>
        </p:nvSpPr>
        <p:spPr>
          <a:xfrm>
            <a:off x="5532120" y="321868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27" name="Badge"/>
          <p:cNvSpPr txBox="1"/>
          <p:nvPr/>
        </p:nvSpPr>
        <p:spPr>
          <a:xfrm>
            <a:off x="548640" y="3950208"/>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28" name="Text 25"/>
          <p:cNvSpPr txBox="1"/>
          <p:nvPr/>
        </p:nvSpPr>
        <p:spPr>
          <a:xfrm>
            <a:off x="1005840" y="3749040"/>
            <a:ext cx="1965960" cy="731520"/>
          </a:xfrm>
          <a:prstGeom prst="rect">
            <a:avLst/>
          </a:prstGeom>
          <a:noFill/>
          <a:ln/>
        </p:spPr>
        <p:txBody>
          <a:bodyPr wrap="square" lIns="0" tIns="0" rIns="0" bIns="0" rtlCol="0" anchor="ctr"/>
          <a:lstStyle/>
          <a:p>
            <a:pPr indent="0" marL="0">
              <a:buNone/>
            </a:pPr>
            <a:r>
              <a:rPr lang="en-US" sz="1400" dirty="0">
                <a:solidFill>
                  <a:schemeClr val="tx1"/>
                </a:solidFill>
              </a:rPr>
              <a:t>27 vs 9  →  </a:t>
            </a:r>
            <a:pPr indent="0" marL="0">
              <a:buNone/>
            </a:pPr>
            <a:r>
              <a:rPr lang="en-US" sz="1400" b="1" dirty="0">
                <a:solidFill>
                  <a:schemeClr val="tx1"/>
                </a:solidFill>
              </a:rPr>
              <a:t>take 9</a:t>
            </a:r>
            <a:endParaRPr lang="en-US" sz="1400" dirty="0"/>
          </a:p>
        </p:txBody>
      </p:sp>
      <p:sp>
        <p:nvSpPr>
          <p:cNvPr id="29" name="Output cell"/>
          <p:cNvSpPr txBox="1"/>
          <p:nvPr/>
        </p:nvSpPr>
        <p:spPr>
          <a:xfrm>
            <a:off x="2971800" y="395020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30" name="Output cell"/>
          <p:cNvSpPr txBox="1"/>
          <p:nvPr/>
        </p:nvSpPr>
        <p:spPr>
          <a:xfrm>
            <a:off x="3337560" y="3950208"/>
            <a:ext cx="329184" cy="329184"/>
          </a:xfrm>
          <a:prstGeom prst="roundRect">
            <a:avLst>
              <a:gd name="adj" fmla="val 16667"/>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9</a:t>
            </a:r>
            <a:endParaRPr lang="en-US" sz="1200" dirty="0"/>
          </a:p>
        </p:txBody>
      </p:sp>
      <p:sp>
        <p:nvSpPr>
          <p:cNvPr id="31" name="Empty slot"/>
          <p:cNvSpPr txBox="1"/>
          <p:nvPr/>
        </p:nvSpPr>
        <p:spPr>
          <a:xfrm>
            <a:off x="3703320" y="395020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32" name="Empty slot"/>
          <p:cNvSpPr txBox="1"/>
          <p:nvPr/>
        </p:nvSpPr>
        <p:spPr>
          <a:xfrm>
            <a:off x="4069080" y="395020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33" name="Empty slot"/>
          <p:cNvSpPr txBox="1"/>
          <p:nvPr/>
        </p:nvSpPr>
        <p:spPr>
          <a:xfrm>
            <a:off x="4434840" y="395020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34" name="Empty slot"/>
          <p:cNvSpPr txBox="1"/>
          <p:nvPr/>
        </p:nvSpPr>
        <p:spPr>
          <a:xfrm>
            <a:off x="4800600" y="395020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35" name="Empty slot"/>
          <p:cNvSpPr txBox="1"/>
          <p:nvPr/>
        </p:nvSpPr>
        <p:spPr>
          <a:xfrm>
            <a:off x="5166360" y="395020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36" name="Empty slot"/>
          <p:cNvSpPr txBox="1"/>
          <p:nvPr/>
        </p:nvSpPr>
        <p:spPr>
          <a:xfrm>
            <a:off x="5532120" y="395020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37" name="Badge"/>
          <p:cNvSpPr txBox="1"/>
          <p:nvPr/>
        </p:nvSpPr>
        <p:spPr>
          <a:xfrm>
            <a:off x="548640" y="4681728"/>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38" name="Text 35"/>
          <p:cNvSpPr txBox="1"/>
          <p:nvPr/>
        </p:nvSpPr>
        <p:spPr>
          <a:xfrm>
            <a:off x="1005840" y="4480560"/>
            <a:ext cx="1965960" cy="731520"/>
          </a:xfrm>
          <a:prstGeom prst="rect">
            <a:avLst/>
          </a:prstGeom>
          <a:noFill/>
          <a:ln/>
        </p:spPr>
        <p:txBody>
          <a:bodyPr wrap="square" lIns="0" tIns="0" rIns="0" bIns="0" rtlCol="0" anchor="ctr"/>
          <a:lstStyle/>
          <a:p>
            <a:pPr indent="0" marL="0">
              <a:buNone/>
            </a:pPr>
            <a:r>
              <a:rPr lang="en-US" sz="1400" dirty="0">
                <a:solidFill>
                  <a:schemeClr val="tx1"/>
                </a:solidFill>
              </a:rPr>
              <a:t>27 vs 10  →  </a:t>
            </a:r>
            <a:pPr indent="0" marL="0">
              <a:buNone/>
            </a:pPr>
            <a:r>
              <a:rPr lang="en-US" sz="1400" b="1" dirty="0">
                <a:solidFill>
                  <a:schemeClr val="tx1"/>
                </a:solidFill>
              </a:rPr>
              <a:t>take 10</a:t>
            </a:r>
            <a:endParaRPr lang="en-US" sz="1400" dirty="0"/>
          </a:p>
        </p:txBody>
      </p:sp>
      <p:sp>
        <p:nvSpPr>
          <p:cNvPr id="39" name="Output cell"/>
          <p:cNvSpPr txBox="1"/>
          <p:nvPr/>
        </p:nvSpPr>
        <p:spPr>
          <a:xfrm>
            <a:off x="2971800" y="468172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40" name="Output cell"/>
          <p:cNvSpPr txBox="1"/>
          <p:nvPr/>
        </p:nvSpPr>
        <p:spPr>
          <a:xfrm>
            <a:off x="3337560" y="468172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9</a:t>
            </a:r>
            <a:endParaRPr lang="en-US" sz="1200" dirty="0"/>
          </a:p>
        </p:txBody>
      </p:sp>
      <p:sp>
        <p:nvSpPr>
          <p:cNvPr id="41" name="Output cell"/>
          <p:cNvSpPr txBox="1"/>
          <p:nvPr/>
        </p:nvSpPr>
        <p:spPr>
          <a:xfrm>
            <a:off x="3703320" y="4681728"/>
            <a:ext cx="329184" cy="329184"/>
          </a:xfrm>
          <a:prstGeom prst="roundRect">
            <a:avLst>
              <a:gd name="adj" fmla="val 16667"/>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10</a:t>
            </a:r>
            <a:endParaRPr lang="en-US" sz="1200" dirty="0"/>
          </a:p>
        </p:txBody>
      </p:sp>
      <p:sp>
        <p:nvSpPr>
          <p:cNvPr id="42" name="Empty slot"/>
          <p:cNvSpPr txBox="1"/>
          <p:nvPr/>
        </p:nvSpPr>
        <p:spPr>
          <a:xfrm>
            <a:off x="4069080" y="468172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43" name="Empty slot"/>
          <p:cNvSpPr txBox="1"/>
          <p:nvPr/>
        </p:nvSpPr>
        <p:spPr>
          <a:xfrm>
            <a:off x="4434840" y="468172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44" name="Empty slot"/>
          <p:cNvSpPr txBox="1"/>
          <p:nvPr/>
        </p:nvSpPr>
        <p:spPr>
          <a:xfrm>
            <a:off x="4800600" y="468172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45" name="Empty slot"/>
          <p:cNvSpPr txBox="1"/>
          <p:nvPr/>
        </p:nvSpPr>
        <p:spPr>
          <a:xfrm>
            <a:off x="5166360" y="468172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46" name="Empty slot"/>
          <p:cNvSpPr txBox="1"/>
          <p:nvPr/>
        </p:nvSpPr>
        <p:spPr>
          <a:xfrm>
            <a:off x="5532120" y="468172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47" name="Badge"/>
          <p:cNvSpPr txBox="1"/>
          <p:nvPr/>
        </p:nvSpPr>
        <p:spPr>
          <a:xfrm>
            <a:off x="548640" y="5413248"/>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48" name="Text 45"/>
          <p:cNvSpPr txBox="1"/>
          <p:nvPr/>
        </p:nvSpPr>
        <p:spPr>
          <a:xfrm>
            <a:off x="1005840" y="5212080"/>
            <a:ext cx="1965960" cy="731520"/>
          </a:xfrm>
          <a:prstGeom prst="rect">
            <a:avLst/>
          </a:prstGeom>
          <a:noFill/>
          <a:ln/>
        </p:spPr>
        <p:txBody>
          <a:bodyPr wrap="square" lIns="0" tIns="0" rIns="0" bIns="0" rtlCol="0" anchor="ctr"/>
          <a:lstStyle/>
          <a:p>
            <a:pPr indent="0" marL="0">
              <a:buNone/>
            </a:pPr>
            <a:r>
              <a:rPr lang="en-US" sz="1400" dirty="0">
                <a:solidFill>
                  <a:schemeClr val="tx1"/>
                </a:solidFill>
              </a:rPr>
              <a:t>27 vs 15  →  </a:t>
            </a:r>
            <a:pPr indent="0" marL="0">
              <a:buNone/>
            </a:pPr>
            <a:r>
              <a:rPr lang="en-US" sz="1400" b="1" dirty="0">
                <a:solidFill>
                  <a:schemeClr val="tx1"/>
                </a:solidFill>
              </a:rPr>
              <a:t>take 15</a:t>
            </a:r>
            <a:endParaRPr lang="en-US" sz="1400" dirty="0"/>
          </a:p>
        </p:txBody>
      </p:sp>
      <p:sp>
        <p:nvSpPr>
          <p:cNvPr id="49" name="Output cell"/>
          <p:cNvSpPr txBox="1"/>
          <p:nvPr/>
        </p:nvSpPr>
        <p:spPr>
          <a:xfrm>
            <a:off x="2971800" y="541324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50" name="Output cell"/>
          <p:cNvSpPr txBox="1"/>
          <p:nvPr/>
        </p:nvSpPr>
        <p:spPr>
          <a:xfrm>
            <a:off x="3337560" y="541324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9</a:t>
            </a:r>
            <a:endParaRPr lang="en-US" sz="1200" dirty="0"/>
          </a:p>
        </p:txBody>
      </p:sp>
      <p:sp>
        <p:nvSpPr>
          <p:cNvPr id="51" name="Output cell"/>
          <p:cNvSpPr txBox="1"/>
          <p:nvPr/>
        </p:nvSpPr>
        <p:spPr>
          <a:xfrm>
            <a:off x="3703320" y="541324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10</a:t>
            </a:r>
            <a:endParaRPr lang="en-US" sz="1200" dirty="0"/>
          </a:p>
        </p:txBody>
      </p:sp>
      <p:sp>
        <p:nvSpPr>
          <p:cNvPr id="52" name="Output cell"/>
          <p:cNvSpPr txBox="1"/>
          <p:nvPr/>
        </p:nvSpPr>
        <p:spPr>
          <a:xfrm>
            <a:off x="4069080" y="5413248"/>
            <a:ext cx="329184" cy="329184"/>
          </a:xfrm>
          <a:prstGeom prst="roundRect">
            <a:avLst>
              <a:gd name="adj" fmla="val 16667"/>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15</a:t>
            </a:r>
            <a:endParaRPr lang="en-US" sz="1200" dirty="0"/>
          </a:p>
        </p:txBody>
      </p:sp>
      <p:sp>
        <p:nvSpPr>
          <p:cNvPr id="53" name="Empty slot"/>
          <p:cNvSpPr txBox="1"/>
          <p:nvPr/>
        </p:nvSpPr>
        <p:spPr>
          <a:xfrm>
            <a:off x="4434840" y="541324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54" name="Empty slot"/>
          <p:cNvSpPr txBox="1"/>
          <p:nvPr/>
        </p:nvSpPr>
        <p:spPr>
          <a:xfrm>
            <a:off x="4800600" y="541324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55" name="Empty slot"/>
          <p:cNvSpPr txBox="1"/>
          <p:nvPr/>
        </p:nvSpPr>
        <p:spPr>
          <a:xfrm>
            <a:off x="5166360" y="541324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56" name="Empty slot"/>
          <p:cNvSpPr txBox="1"/>
          <p:nvPr/>
        </p:nvSpPr>
        <p:spPr>
          <a:xfrm>
            <a:off x="5532120" y="541324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57" name="Badge"/>
          <p:cNvSpPr txBox="1"/>
          <p:nvPr/>
        </p:nvSpPr>
        <p:spPr>
          <a:xfrm>
            <a:off x="6245352" y="3218688"/>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58" name="Text 55"/>
          <p:cNvSpPr txBox="1"/>
          <p:nvPr/>
        </p:nvSpPr>
        <p:spPr>
          <a:xfrm>
            <a:off x="6702552" y="3017520"/>
            <a:ext cx="1965960" cy="731520"/>
          </a:xfrm>
          <a:prstGeom prst="rect">
            <a:avLst/>
          </a:prstGeom>
          <a:noFill/>
          <a:ln/>
        </p:spPr>
        <p:txBody>
          <a:bodyPr wrap="square" lIns="0" tIns="0" rIns="0" bIns="0" rtlCol="0" anchor="ctr"/>
          <a:lstStyle/>
          <a:p>
            <a:pPr indent="0" marL="0">
              <a:buNone/>
            </a:pPr>
            <a:r>
              <a:rPr lang="en-US" sz="1400" dirty="0">
                <a:solidFill>
                  <a:schemeClr val="tx1"/>
                </a:solidFill>
              </a:rPr>
              <a:t>27 vs 82  →  </a:t>
            </a:r>
            <a:pPr indent="0" marL="0">
              <a:buNone/>
            </a:pPr>
            <a:r>
              <a:rPr lang="en-US" sz="1400" b="1" dirty="0">
                <a:solidFill>
                  <a:schemeClr val="tx1"/>
                </a:solidFill>
              </a:rPr>
              <a:t>take 27</a:t>
            </a:r>
            <a:endParaRPr lang="en-US" sz="1400" dirty="0"/>
          </a:p>
        </p:txBody>
      </p:sp>
      <p:sp>
        <p:nvSpPr>
          <p:cNvPr id="59" name="Output cell"/>
          <p:cNvSpPr txBox="1"/>
          <p:nvPr/>
        </p:nvSpPr>
        <p:spPr>
          <a:xfrm>
            <a:off x="8668512" y="321868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60" name="Output cell"/>
          <p:cNvSpPr txBox="1"/>
          <p:nvPr/>
        </p:nvSpPr>
        <p:spPr>
          <a:xfrm>
            <a:off x="9034272" y="321868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9</a:t>
            </a:r>
            <a:endParaRPr lang="en-US" sz="1200" dirty="0"/>
          </a:p>
        </p:txBody>
      </p:sp>
      <p:sp>
        <p:nvSpPr>
          <p:cNvPr id="61" name="Output cell"/>
          <p:cNvSpPr txBox="1"/>
          <p:nvPr/>
        </p:nvSpPr>
        <p:spPr>
          <a:xfrm>
            <a:off x="9400032" y="321868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10</a:t>
            </a:r>
            <a:endParaRPr lang="en-US" sz="1200" dirty="0"/>
          </a:p>
        </p:txBody>
      </p:sp>
      <p:sp>
        <p:nvSpPr>
          <p:cNvPr id="62" name="Output cell"/>
          <p:cNvSpPr txBox="1"/>
          <p:nvPr/>
        </p:nvSpPr>
        <p:spPr>
          <a:xfrm>
            <a:off x="9765792" y="321868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15</a:t>
            </a:r>
            <a:endParaRPr lang="en-US" sz="1200" dirty="0"/>
          </a:p>
        </p:txBody>
      </p:sp>
      <p:sp>
        <p:nvSpPr>
          <p:cNvPr id="63" name="Output cell"/>
          <p:cNvSpPr txBox="1"/>
          <p:nvPr/>
        </p:nvSpPr>
        <p:spPr>
          <a:xfrm>
            <a:off x="10131552" y="3218688"/>
            <a:ext cx="329184" cy="329184"/>
          </a:xfrm>
          <a:prstGeom prst="roundRect">
            <a:avLst>
              <a:gd name="adj" fmla="val 16667"/>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27</a:t>
            </a:r>
            <a:endParaRPr lang="en-US" sz="1200" dirty="0"/>
          </a:p>
        </p:txBody>
      </p:sp>
      <p:sp>
        <p:nvSpPr>
          <p:cNvPr id="64" name="Empty slot"/>
          <p:cNvSpPr txBox="1"/>
          <p:nvPr/>
        </p:nvSpPr>
        <p:spPr>
          <a:xfrm>
            <a:off x="10497312" y="321868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65" name="Empty slot"/>
          <p:cNvSpPr txBox="1"/>
          <p:nvPr/>
        </p:nvSpPr>
        <p:spPr>
          <a:xfrm>
            <a:off x="10863072" y="321868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66" name="Empty slot"/>
          <p:cNvSpPr txBox="1"/>
          <p:nvPr/>
        </p:nvSpPr>
        <p:spPr>
          <a:xfrm>
            <a:off x="11228832" y="321868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67" name="Badge"/>
          <p:cNvSpPr txBox="1"/>
          <p:nvPr/>
        </p:nvSpPr>
        <p:spPr>
          <a:xfrm>
            <a:off x="6245352" y="3950208"/>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68" name="Text 65"/>
          <p:cNvSpPr txBox="1"/>
          <p:nvPr/>
        </p:nvSpPr>
        <p:spPr>
          <a:xfrm>
            <a:off x="6702552" y="3749040"/>
            <a:ext cx="1965960" cy="731520"/>
          </a:xfrm>
          <a:prstGeom prst="rect">
            <a:avLst/>
          </a:prstGeom>
          <a:noFill/>
          <a:ln/>
        </p:spPr>
        <p:txBody>
          <a:bodyPr wrap="square" lIns="0" tIns="0" rIns="0" bIns="0" rtlCol="0" anchor="ctr"/>
          <a:lstStyle/>
          <a:p>
            <a:pPr indent="0" marL="0">
              <a:buNone/>
            </a:pPr>
            <a:r>
              <a:rPr lang="en-US" sz="1400" dirty="0">
                <a:solidFill>
                  <a:schemeClr val="tx1"/>
                </a:solidFill>
              </a:rPr>
              <a:t>38 vs 82  →  </a:t>
            </a:r>
            <a:pPr indent="0" marL="0">
              <a:buNone/>
            </a:pPr>
            <a:r>
              <a:rPr lang="en-US" sz="1400" b="1" dirty="0">
                <a:solidFill>
                  <a:schemeClr val="tx1"/>
                </a:solidFill>
              </a:rPr>
              <a:t>take 38</a:t>
            </a:r>
            <a:endParaRPr lang="en-US" sz="1400" dirty="0"/>
          </a:p>
        </p:txBody>
      </p:sp>
      <p:sp>
        <p:nvSpPr>
          <p:cNvPr id="69" name="Output cell"/>
          <p:cNvSpPr txBox="1"/>
          <p:nvPr/>
        </p:nvSpPr>
        <p:spPr>
          <a:xfrm>
            <a:off x="8668512" y="395020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70" name="Output cell"/>
          <p:cNvSpPr txBox="1"/>
          <p:nvPr/>
        </p:nvSpPr>
        <p:spPr>
          <a:xfrm>
            <a:off x="9034272" y="395020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9</a:t>
            </a:r>
            <a:endParaRPr lang="en-US" sz="1200" dirty="0"/>
          </a:p>
        </p:txBody>
      </p:sp>
      <p:sp>
        <p:nvSpPr>
          <p:cNvPr id="71" name="Output cell"/>
          <p:cNvSpPr txBox="1"/>
          <p:nvPr/>
        </p:nvSpPr>
        <p:spPr>
          <a:xfrm>
            <a:off x="9400032" y="395020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10</a:t>
            </a:r>
            <a:endParaRPr lang="en-US" sz="1200" dirty="0"/>
          </a:p>
        </p:txBody>
      </p:sp>
      <p:sp>
        <p:nvSpPr>
          <p:cNvPr id="72" name="Output cell"/>
          <p:cNvSpPr txBox="1"/>
          <p:nvPr/>
        </p:nvSpPr>
        <p:spPr>
          <a:xfrm>
            <a:off x="9765792" y="395020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15</a:t>
            </a:r>
            <a:endParaRPr lang="en-US" sz="1200" dirty="0"/>
          </a:p>
        </p:txBody>
      </p:sp>
      <p:sp>
        <p:nvSpPr>
          <p:cNvPr id="73" name="Output cell"/>
          <p:cNvSpPr txBox="1"/>
          <p:nvPr/>
        </p:nvSpPr>
        <p:spPr>
          <a:xfrm>
            <a:off x="10131552" y="395020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27</a:t>
            </a:r>
            <a:endParaRPr lang="en-US" sz="1200" dirty="0"/>
          </a:p>
        </p:txBody>
      </p:sp>
      <p:sp>
        <p:nvSpPr>
          <p:cNvPr id="74" name="Output cell"/>
          <p:cNvSpPr txBox="1"/>
          <p:nvPr/>
        </p:nvSpPr>
        <p:spPr>
          <a:xfrm>
            <a:off x="10497312" y="3950208"/>
            <a:ext cx="329184" cy="329184"/>
          </a:xfrm>
          <a:prstGeom prst="roundRect">
            <a:avLst>
              <a:gd name="adj" fmla="val 16667"/>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38</a:t>
            </a:r>
            <a:endParaRPr lang="en-US" sz="1200" dirty="0"/>
          </a:p>
        </p:txBody>
      </p:sp>
      <p:sp>
        <p:nvSpPr>
          <p:cNvPr id="75" name="Empty slot"/>
          <p:cNvSpPr txBox="1"/>
          <p:nvPr/>
        </p:nvSpPr>
        <p:spPr>
          <a:xfrm>
            <a:off x="10863072" y="395020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76" name="Empty slot"/>
          <p:cNvSpPr txBox="1"/>
          <p:nvPr/>
        </p:nvSpPr>
        <p:spPr>
          <a:xfrm>
            <a:off x="11228832" y="395020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77" name="Badge"/>
          <p:cNvSpPr txBox="1"/>
          <p:nvPr/>
        </p:nvSpPr>
        <p:spPr>
          <a:xfrm>
            <a:off x="6245352" y="4681728"/>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7</a:t>
            </a:r>
            <a:endParaRPr lang="en-US" sz="1200" dirty="0"/>
          </a:p>
        </p:txBody>
      </p:sp>
      <p:sp>
        <p:nvSpPr>
          <p:cNvPr id="78" name="Text 75"/>
          <p:cNvSpPr txBox="1"/>
          <p:nvPr/>
        </p:nvSpPr>
        <p:spPr>
          <a:xfrm>
            <a:off x="6702552" y="4480560"/>
            <a:ext cx="1965960" cy="731520"/>
          </a:xfrm>
          <a:prstGeom prst="rect">
            <a:avLst/>
          </a:prstGeom>
          <a:noFill/>
          <a:ln/>
        </p:spPr>
        <p:txBody>
          <a:bodyPr wrap="square" lIns="0" tIns="0" rIns="0" bIns="0" rtlCol="0" anchor="ctr"/>
          <a:lstStyle/>
          <a:p>
            <a:pPr indent="0" marL="0">
              <a:buNone/>
            </a:pPr>
            <a:r>
              <a:rPr lang="en-US" sz="1400" dirty="0">
                <a:solidFill>
                  <a:schemeClr val="tx1"/>
                </a:solidFill>
              </a:rPr>
              <a:t>43 vs 82  →  </a:t>
            </a:r>
            <a:pPr indent="0" marL="0">
              <a:buNone/>
            </a:pPr>
            <a:r>
              <a:rPr lang="en-US" sz="1400" b="1" dirty="0">
                <a:solidFill>
                  <a:schemeClr val="tx1"/>
                </a:solidFill>
              </a:rPr>
              <a:t>take 43</a:t>
            </a:r>
            <a:endParaRPr lang="en-US" sz="1400" dirty="0"/>
          </a:p>
        </p:txBody>
      </p:sp>
      <p:sp>
        <p:nvSpPr>
          <p:cNvPr id="79" name="Output cell"/>
          <p:cNvSpPr txBox="1"/>
          <p:nvPr/>
        </p:nvSpPr>
        <p:spPr>
          <a:xfrm>
            <a:off x="8668512" y="468172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80" name="Output cell"/>
          <p:cNvSpPr txBox="1"/>
          <p:nvPr/>
        </p:nvSpPr>
        <p:spPr>
          <a:xfrm>
            <a:off x="9034272" y="468172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9</a:t>
            </a:r>
            <a:endParaRPr lang="en-US" sz="1200" dirty="0"/>
          </a:p>
        </p:txBody>
      </p:sp>
      <p:sp>
        <p:nvSpPr>
          <p:cNvPr id="81" name="Output cell"/>
          <p:cNvSpPr txBox="1"/>
          <p:nvPr/>
        </p:nvSpPr>
        <p:spPr>
          <a:xfrm>
            <a:off x="9400032" y="468172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10</a:t>
            </a:r>
            <a:endParaRPr lang="en-US" sz="1200" dirty="0"/>
          </a:p>
        </p:txBody>
      </p:sp>
      <p:sp>
        <p:nvSpPr>
          <p:cNvPr id="82" name="Output cell"/>
          <p:cNvSpPr txBox="1"/>
          <p:nvPr/>
        </p:nvSpPr>
        <p:spPr>
          <a:xfrm>
            <a:off x="9765792" y="468172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15</a:t>
            </a:r>
            <a:endParaRPr lang="en-US" sz="1200" dirty="0"/>
          </a:p>
        </p:txBody>
      </p:sp>
      <p:sp>
        <p:nvSpPr>
          <p:cNvPr id="83" name="Output cell"/>
          <p:cNvSpPr txBox="1"/>
          <p:nvPr/>
        </p:nvSpPr>
        <p:spPr>
          <a:xfrm>
            <a:off x="10131552" y="468172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27</a:t>
            </a:r>
            <a:endParaRPr lang="en-US" sz="1200" dirty="0"/>
          </a:p>
        </p:txBody>
      </p:sp>
      <p:sp>
        <p:nvSpPr>
          <p:cNvPr id="84" name="Output cell"/>
          <p:cNvSpPr txBox="1"/>
          <p:nvPr/>
        </p:nvSpPr>
        <p:spPr>
          <a:xfrm>
            <a:off x="10497312" y="468172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38</a:t>
            </a:r>
            <a:endParaRPr lang="en-US" sz="1200" dirty="0"/>
          </a:p>
        </p:txBody>
      </p:sp>
      <p:sp>
        <p:nvSpPr>
          <p:cNvPr id="85" name="Output cell"/>
          <p:cNvSpPr txBox="1"/>
          <p:nvPr/>
        </p:nvSpPr>
        <p:spPr>
          <a:xfrm>
            <a:off x="10863072" y="4681728"/>
            <a:ext cx="329184" cy="329184"/>
          </a:xfrm>
          <a:prstGeom prst="roundRect">
            <a:avLst>
              <a:gd name="adj" fmla="val 16667"/>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43</a:t>
            </a:r>
            <a:endParaRPr lang="en-US" sz="1200" dirty="0"/>
          </a:p>
        </p:txBody>
      </p:sp>
      <p:sp>
        <p:nvSpPr>
          <p:cNvPr id="86" name="Empty slot"/>
          <p:cNvSpPr txBox="1"/>
          <p:nvPr/>
        </p:nvSpPr>
        <p:spPr>
          <a:xfrm>
            <a:off x="11228832" y="4681728"/>
            <a:ext cx="329184" cy="329184"/>
          </a:xfrm>
          <a:prstGeom prst="roundRect">
            <a:avLst>
              <a:gd name="adj" fmla="val 16667"/>
            </a:avLst>
          </a:prstGeom>
          <a:solidFill>
            <a:schemeClr val="bg1"/>
          </a:solidFill>
          <a:ln w="15875">
            <a:solidFill>
              <a:schemeClr val="accent4"/>
            </a:solidFill>
            <a:prstDash val="dash"/>
          </a:ln>
        </p:spPr>
        <p:txBody>
          <a:bodyPr wrap="square" lIns="0" tIns="0" rIns="0" bIns="0" rtlCol="0" anchor="ctr"/>
          <a:lstStyle/>
          <a:p>
            <a:pPr algn="ctr" indent="0" marL="0">
              <a:buNone/>
            </a:pPr>
            <a:r>
              <a:rPr lang="en-US" sz="1200" b="1" dirty="0">
                <a:solidFill>
                  <a:schemeClr val="tx2"/>
                </a:solidFill>
              </a:rPr>
              <a:t> </a:t>
            </a:r>
            <a:endParaRPr lang="en-US" sz="1200" dirty="0"/>
          </a:p>
        </p:txBody>
      </p:sp>
      <p:sp>
        <p:nvSpPr>
          <p:cNvPr id="87" name="Badge"/>
          <p:cNvSpPr txBox="1"/>
          <p:nvPr/>
        </p:nvSpPr>
        <p:spPr>
          <a:xfrm>
            <a:off x="6245352" y="5413248"/>
            <a:ext cx="329184" cy="329184"/>
          </a:xfrm>
          <a:prstGeom prst="ellipse">
            <a:avLst/>
          </a:prstGeom>
          <a:solidFill>
            <a:schemeClr val="accent1"/>
          </a:solidFill>
          <a:ln w="12700">
            <a:solidFill>
              <a:schemeClr val="accent1"/>
            </a:solidFill>
          </a:ln>
        </p:spPr>
        <p:txBody>
          <a:bodyPr wrap="square" lIns="0" tIns="0" rIns="0" bIns="0" rtlCol="0" anchor="ctr"/>
          <a:lstStyle/>
          <a:p>
            <a:pPr algn="ctr" indent="0" marL="0">
              <a:buNone/>
            </a:pPr>
            <a:r>
              <a:rPr lang="en-US" sz="1200" b="1" dirty="0">
                <a:solidFill>
                  <a:schemeClr val="tx1"/>
                </a:solidFill>
              </a:rPr>
              <a:t>8</a:t>
            </a:r>
            <a:endParaRPr lang="en-US" sz="1200" dirty="0"/>
          </a:p>
        </p:txBody>
      </p:sp>
      <p:sp>
        <p:nvSpPr>
          <p:cNvPr id="88" name="Text 85"/>
          <p:cNvSpPr txBox="1"/>
          <p:nvPr/>
        </p:nvSpPr>
        <p:spPr>
          <a:xfrm>
            <a:off x="6702552" y="5212080"/>
            <a:ext cx="1965960" cy="731520"/>
          </a:xfrm>
          <a:prstGeom prst="rect">
            <a:avLst/>
          </a:prstGeom>
          <a:noFill/>
          <a:ln/>
        </p:spPr>
        <p:txBody>
          <a:bodyPr wrap="square" lIns="0" tIns="0" rIns="0" bIns="0" rtlCol="0" anchor="ctr"/>
          <a:lstStyle/>
          <a:p>
            <a:pPr indent="0" marL="0">
              <a:buNone/>
            </a:pPr>
            <a:r>
              <a:rPr lang="en-US" sz="1400" dirty="0">
                <a:solidFill>
                  <a:schemeClr val="tx1"/>
                </a:solidFill>
              </a:rPr>
              <a:t>Left empty  →  </a:t>
            </a:r>
            <a:pPr indent="0" marL="0">
              <a:buNone/>
            </a:pPr>
            <a:r>
              <a:rPr lang="en-US" sz="1400" b="1" dirty="0">
                <a:solidFill>
                  <a:schemeClr val="tx1"/>
                </a:solidFill>
              </a:rPr>
              <a:t>copy 82</a:t>
            </a:r>
            <a:endParaRPr lang="en-US" sz="1400" dirty="0"/>
          </a:p>
        </p:txBody>
      </p:sp>
      <p:sp>
        <p:nvSpPr>
          <p:cNvPr id="89" name="Output cell"/>
          <p:cNvSpPr txBox="1"/>
          <p:nvPr/>
        </p:nvSpPr>
        <p:spPr>
          <a:xfrm>
            <a:off x="8668512" y="541324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90" name="Output cell"/>
          <p:cNvSpPr txBox="1"/>
          <p:nvPr/>
        </p:nvSpPr>
        <p:spPr>
          <a:xfrm>
            <a:off x="9034272" y="541324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9</a:t>
            </a:r>
            <a:endParaRPr lang="en-US" sz="1200" dirty="0"/>
          </a:p>
        </p:txBody>
      </p:sp>
      <p:sp>
        <p:nvSpPr>
          <p:cNvPr id="91" name="Output cell"/>
          <p:cNvSpPr txBox="1"/>
          <p:nvPr/>
        </p:nvSpPr>
        <p:spPr>
          <a:xfrm>
            <a:off x="9400032" y="541324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10</a:t>
            </a:r>
            <a:endParaRPr lang="en-US" sz="1200" dirty="0"/>
          </a:p>
        </p:txBody>
      </p:sp>
      <p:sp>
        <p:nvSpPr>
          <p:cNvPr id="92" name="Output cell"/>
          <p:cNvSpPr txBox="1"/>
          <p:nvPr/>
        </p:nvSpPr>
        <p:spPr>
          <a:xfrm>
            <a:off x="9765792" y="541324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15</a:t>
            </a:r>
            <a:endParaRPr lang="en-US" sz="1200" dirty="0"/>
          </a:p>
        </p:txBody>
      </p:sp>
      <p:sp>
        <p:nvSpPr>
          <p:cNvPr id="93" name="Output cell"/>
          <p:cNvSpPr txBox="1"/>
          <p:nvPr/>
        </p:nvSpPr>
        <p:spPr>
          <a:xfrm>
            <a:off x="10131552" y="541324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27</a:t>
            </a:r>
            <a:endParaRPr lang="en-US" sz="1200" dirty="0"/>
          </a:p>
        </p:txBody>
      </p:sp>
      <p:sp>
        <p:nvSpPr>
          <p:cNvPr id="94" name="Output cell"/>
          <p:cNvSpPr txBox="1"/>
          <p:nvPr/>
        </p:nvSpPr>
        <p:spPr>
          <a:xfrm>
            <a:off x="10497312" y="541324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38</a:t>
            </a:r>
            <a:endParaRPr lang="en-US" sz="1200" dirty="0"/>
          </a:p>
        </p:txBody>
      </p:sp>
      <p:sp>
        <p:nvSpPr>
          <p:cNvPr id="95" name="Output cell"/>
          <p:cNvSpPr txBox="1"/>
          <p:nvPr/>
        </p:nvSpPr>
        <p:spPr>
          <a:xfrm>
            <a:off x="10863072" y="5413248"/>
            <a:ext cx="329184" cy="329184"/>
          </a:xfrm>
          <a:prstGeom prst="roundRect">
            <a:avLst>
              <a:gd name="adj" fmla="val 16667"/>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43</a:t>
            </a:r>
            <a:endParaRPr lang="en-US" sz="1200" dirty="0"/>
          </a:p>
        </p:txBody>
      </p:sp>
      <p:sp>
        <p:nvSpPr>
          <p:cNvPr id="96" name="Output cell"/>
          <p:cNvSpPr txBox="1"/>
          <p:nvPr/>
        </p:nvSpPr>
        <p:spPr>
          <a:xfrm>
            <a:off x="11228832" y="5413248"/>
            <a:ext cx="329184" cy="329184"/>
          </a:xfrm>
          <a:prstGeom prst="roundRect">
            <a:avLst>
              <a:gd name="adj" fmla="val 16667"/>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1200" b="1" dirty="0">
                <a:solidFill>
                  <a:schemeClr val="tx1"/>
                </a:solidFill>
              </a:rPr>
              <a:t>82</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t"/>
          <a:lstStyle/>
          <a:p>
            <a:pPr indent="0" marL="0">
              <a:buNone/>
            </a:pPr>
            <a:r>
              <a:rPr lang="en-US" sz="1200" b="1" spc="300" kern="0" dirty="0">
                <a:solidFill>
                  <a:schemeClr val="tx2"/>
                </a:solidFill>
              </a:rPr>
              <a:t>RESULT</a:t>
            </a:r>
            <a:endParaRPr lang="en-US" sz="1200" dirty="0"/>
          </a:p>
        </p:txBody>
      </p:sp>
      <p:sp>
        <p:nvSpPr>
          <p:cNvPr id="3" name="Text 2"/>
          <p:cNvSpPr/>
          <p:nvPr>
            <p:ph idx="102"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The Final Sorted Array</a:t>
            </a:r>
            <a:endParaRPr lang="en-US" sz="3400" dirty="0"/>
          </a:p>
        </p:txBody>
      </p:sp>
      <p:sp>
        <p:nvSpPr>
          <p:cNvPr id="5" name="Text 2"/>
          <p:cNvSpPr txBox="1"/>
          <p:nvPr/>
        </p:nvSpPr>
        <p:spPr>
          <a:xfrm>
            <a:off x="2788920" y="1417320"/>
            <a:ext cx="2743200" cy="274320"/>
          </a:xfrm>
          <a:prstGeom prst="rect">
            <a:avLst/>
          </a:prstGeom>
          <a:noFill/>
          <a:ln/>
        </p:spPr>
        <p:txBody>
          <a:bodyPr wrap="square" lIns="0" tIns="0" rIns="0" bIns="0" rtlCol="0" anchor="t"/>
          <a:lstStyle/>
          <a:p>
            <a:pPr indent="0" marL="0">
              <a:buNone/>
            </a:pPr>
            <a:r>
              <a:rPr lang="en-US" sz="1200" b="1" spc="200" kern="0" dirty="0">
                <a:solidFill>
                  <a:schemeClr val="tx2"/>
                </a:solidFill>
              </a:rPr>
              <a:t>INPUT</a:t>
            </a:r>
            <a:endParaRPr lang="en-US" sz="1200" dirty="0"/>
          </a:p>
        </p:txBody>
      </p:sp>
      <p:sp>
        <p:nvSpPr>
          <p:cNvPr id="6" name="Array cell"/>
          <p:cNvSpPr txBox="1"/>
          <p:nvPr/>
        </p:nvSpPr>
        <p:spPr>
          <a:xfrm>
            <a:off x="2788920" y="1737360"/>
            <a:ext cx="731520" cy="640080"/>
          </a:xfrm>
          <a:prstGeom prst="roundRect">
            <a:avLst>
              <a:gd name="adj" fmla="val 8571"/>
            </a:avLst>
          </a:prstGeom>
          <a:solidFill>
            <a:schemeClr val="bg2"/>
          </a:solidFill>
          <a:ln w="15875">
            <a:solidFill>
              <a:schemeClr val="accent4"/>
            </a:solidFill>
            <a:prstDash val="solid"/>
          </a:ln>
        </p:spPr>
        <p:txBody>
          <a:bodyPr wrap="square" lIns="0" tIns="0" rIns="0" bIns="0" rtlCol="0" anchor="ctr"/>
          <a:lstStyle/>
          <a:p>
            <a:pPr algn="ctr" indent="0" marL="0">
              <a:buNone/>
            </a:pPr>
            <a:r>
              <a:rPr lang="en-US" sz="2000" b="1" dirty="0">
                <a:solidFill>
                  <a:schemeClr val="tx2"/>
                </a:solidFill>
              </a:rPr>
              <a:t>38</a:t>
            </a:r>
            <a:endParaRPr lang="en-US" sz="2000" dirty="0"/>
          </a:p>
        </p:txBody>
      </p:sp>
      <p:sp>
        <p:nvSpPr>
          <p:cNvPr id="7" name="Array cell"/>
          <p:cNvSpPr txBox="1"/>
          <p:nvPr/>
        </p:nvSpPr>
        <p:spPr>
          <a:xfrm>
            <a:off x="3630168" y="1737360"/>
            <a:ext cx="731520" cy="640080"/>
          </a:xfrm>
          <a:prstGeom prst="roundRect">
            <a:avLst>
              <a:gd name="adj" fmla="val 8571"/>
            </a:avLst>
          </a:prstGeom>
          <a:solidFill>
            <a:schemeClr val="bg2"/>
          </a:solidFill>
          <a:ln w="15875">
            <a:solidFill>
              <a:schemeClr val="accent4"/>
            </a:solidFill>
            <a:prstDash val="solid"/>
          </a:ln>
        </p:spPr>
        <p:txBody>
          <a:bodyPr wrap="square" lIns="0" tIns="0" rIns="0" bIns="0" rtlCol="0" anchor="ctr"/>
          <a:lstStyle/>
          <a:p>
            <a:pPr algn="ctr" indent="0" marL="0">
              <a:buNone/>
            </a:pPr>
            <a:r>
              <a:rPr lang="en-US" sz="2000" b="1" dirty="0">
                <a:solidFill>
                  <a:schemeClr val="tx2"/>
                </a:solidFill>
              </a:rPr>
              <a:t>27</a:t>
            </a:r>
            <a:endParaRPr lang="en-US" sz="2000" dirty="0"/>
          </a:p>
        </p:txBody>
      </p:sp>
      <p:sp>
        <p:nvSpPr>
          <p:cNvPr id="8" name="Array cell"/>
          <p:cNvSpPr txBox="1"/>
          <p:nvPr/>
        </p:nvSpPr>
        <p:spPr>
          <a:xfrm>
            <a:off x="4471416" y="1737360"/>
            <a:ext cx="731520" cy="640080"/>
          </a:xfrm>
          <a:prstGeom prst="roundRect">
            <a:avLst>
              <a:gd name="adj" fmla="val 8571"/>
            </a:avLst>
          </a:prstGeom>
          <a:solidFill>
            <a:schemeClr val="bg2"/>
          </a:solidFill>
          <a:ln w="15875">
            <a:solidFill>
              <a:schemeClr val="accent4"/>
            </a:solidFill>
            <a:prstDash val="solid"/>
          </a:ln>
        </p:spPr>
        <p:txBody>
          <a:bodyPr wrap="square" lIns="0" tIns="0" rIns="0" bIns="0" rtlCol="0" anchor="ctr"/>
          <a:lstStyle/>
          <a:p>
            <a:pPr algn="ctr" indent="0" marL="0">
              <a:buNone/>
            </a:pPr>
            <a:r>
              <a:rPr lang="en-US" sz="2000" b="1" dirty="0">
                <a:solidFill>
                  <a:schemeClr val="tx2"/>
                </a:solidFill>
              </a:rPr>
              <a:t>43</a:t>
            </a:r>
            <a:endParaRPr lang="en-US" sz="2000" dirty="0"/>
          </a:p>
        </p:txBody>
      </p:sp>
      <p:sp>
        <p:nvSpPr>
          <p:cNvPr id="9" name="Array cell"/>
          <p:cNvSpPr txBox="1"/>
          <p:nvPr/>
        </p:nvSpPr>
        <p:spPr>
          <a:xfrm>
            <a:off x="5312664" y="1737360"/>
            <a:ext cx="731520" cy="640080"/>
          </a:xfrm>
          <a:prstGeom prst="roundRect">
            <a:avLst>
              <a:gd name="adj" fmla="val 8571"/>
            </a:avLst>
          </a:prstGeom>
          <a:solidFill>
            <a:schemeClr val="bg2"/>
          </a:solidFill>
          <a:ln w="15875">
            <a:solidFill>
              <a:schemeClr val="accent4"/>
            </a:solidFill>
            <a:prstDash val="solid"/>
          </a:ln>
        </p:spPr>
        <p:txBody>
          <a:bodyPr wrap="square" lIns="0" tIns="0" rIns="0" bIns="0" rtlCol="0" anchor="ctr"/>
          <a:lstStyle/>
          <a:p>
            <a:pPr algn="ctr" indent="0" marL="0">
              <a:buNone/>
            </a:pPr>
            <a:r>
              <a:rPr lang="en-US" sz="2000" b="1" dirty="0">
                <a:solidFill>
                  <a:schemeClr val="tx2"/>
                </a:solidFill>
              </a:rPr>
              <a:t>3</a:t>
            </a:r>
            <a:endParaRPr lang="en-US" sz="2000" dirty="0"/>
          </a:p>
        </p:txBody>
      </p:sp>
      <p:sp>
        <p:nvSpPr>
          <p:cNvPr id="10" name="Array cell"/>
          <p:cNvSpPr txBox="1"/>
          <p:nvPr/>
        </p:nvSpPr>
        <p:spPr>
          <a:xfrm>
            <a:off x="6153912" y="1737360"/>
            <a:ext cx="731520" cy="640080"/>
          </a:xfrm>
          <a:prstGeom prst="roundRect">
            <a:avLst>
              <a:gd name="adj" fmla="val 8571"/>
            </a:avLst>
          </a:prstGeom>
          <a:solidFill>
            <a:schemeClr val="bg2"/>
          </a:solidFill>
          <a:ln w="15875">
            <a:solidFill>
              <a:schemeClr val="accent4"/>
            </a:solidFill>
            <a:prstDash val="solid"/>
          </a:ln>
        </p:spPr>
        <p:txBody>
          <a:bodyPr wrap="square" lIns="0" tIns="0" rIns="0" bIns="0" rtlCol="0" anchor="ctr"/>
          <a:lstStyle/>
          <a:p>
            <a:pPr algn="ctr" indent="0" marL="0">
              <a:buNone/>
            </a:pPr>
            <a:r>
              <a:rPr lang="en-US" sz="2000" b="1" dirty="0">
                <a:solidFill>
                  <a:schemeClr val="tx2"/>
                </a:solidFill>
              </a:rPr>
              <a:t>9</a:t>
            </a:r>
            <a:endParaRPr lang="en-US" sz="2000" dirty="0"/>
          </a:p>
        </p:txBody>
      </p:sp>
      <p:sp>
        <p:nvSpPr>
          <p:cNvPr id="11" name="Array cell"/>
          <p:cNvSpPr txBox="1"/>
          <p:nvPr/>
        </p:nvSpPr>
        <p:spPr>
          <a:xfrm>
            <a:off x="6995160" y="1737360"/>
            <a:ext cx="731520" cy="640080"/>
          </a:xfrm>
          <a:prstGeom prst="roundRect">
            <a:avLst>
              <a:gd name="adj" fmla="val 8571"/>
            </a:avLst>
          </a:prstGeom>
          <a:solidFill>
            <a:schemeClr val="bg2"/>
          </a:solidFill>
          <a:ln w="15875">
            <a:solidFill>
              <a:schemeClr val="accent4"/>
            </a:solidFill>
            <a:prstDash val="solid"/>
          </a:ln>
        </p:spPr>
        <p:txBody>
          <a:bodyPr wrap="square" lIns="0" tIns="0" rIns="0" bIns="0" rtlCol="0" anchor="ctr"/>
          <a:lstStyle/>
          <a:p>
            <a:pPr algn="ctr" indent="0" marL="0">
              <a:buNone/>
            </a:pPr>
            <a:r>
              <a:rPr lang="en-US" sz="2000" b="1" dirty="0">
                <a:solidFill>
                  <a:schemeClr val="tx2"/>
                </a:solidFill>
              </a:rPr>
              <a:t>82</a:t>
            </a:r>
            <a:endParaRPr lang="en-US" sz="2000" dirty="0"/>
          </a:p>
        </p:txBody>
      </p:sp>
      <p:sp>
        <p:nvSpPr>
          <p:cNvPr id="12" name="Array cell"/>
          <p:cNvSpPr txBox="1"/>
          <p:nvPr/>
        </p:nvSpPr>
        <p:spPr>
          <a:xfrm>
            <a:off x="7836408" y="1737360"/>
            <a:ext cx="731520" cy="640080"/>
          </a:xfrm>
          <a:prstGeom prst="roundRect">
            <a:avLst>
              <a:gd name="adj" fmla="val 8571"/>
            </a:avLst>
          </a:prstGeom>
          <a:solidFill>
            <a:schemeClr val="bg2"/>
          </a:solidFill>
          <a:ln w="15875">
            <a:solidFill>
              <a:schemeClr val="accent4"/>
            </a:solidFill>
            <a:prstDash val="solid"/>
          </a:ln>
        </p:spPr>
        <p:txBody>
          <a:bodyPr wrap="square" lIns="0" tIns="0" rIns="0" bIns="0" rtlCol="0" anchor="ctr"/>
          <a:lstStyle/>
          <a:p>
            <a:pPr algn="ctr" indent="0" marL="0">
              <a:buNone/>
            </a:pPr>
            <a:r>
              <a:rPr lang="en-US" sz="2000" b="1" dirty="0">
                <a:solidFill>
                  <a:schemeClr val="tx2"/>
                </a:solidFill>
              </a:rPr>
              <a:t>10</a:t>
            </a:r>
            <a:endParaRPr lang="en-US" sz="2000" dirty="0"/>
          </a:p>
        </p:txBody>
      </p:sp>
      <p:sp>
        <p:nvSpPr>
          <p:cNvPr id="13" name="Array cell"/>
          <p:cNvSpPr txBox="1"/>
          <p:nvPr/>
        </p:nvSpPr>
        <p:spPr>
          <a:xfrm>
            <a:off x="8677656" y="1737360"/>
            <a:ext cx="731520" cy="640080"/>
          </a:xfrm>
          <a:prstGeom prst="roundRect">
            <a:avLst>
              <a:gd name="adj" fmla="val 8571"/>
            </a:avLst>
          </a:prstGeom>
          <a:solidFill>
            <a:schemeClr val="bg2"/>
          </a:solidFill>
          <a:ln w="15875">
            <a:solidFill>
              <a:schemeClr val="accent4"/>
            </a:solidFill>
            <a:prstDash val="solid"/>
          </a:ln>
        </p:spPr>
        <p:txBody>
          <a:bodyPr wrap="square" lIns="0" tIns="0" rIns="0" bIns="0" rtlCol="0" anchor="ctr"/>
          <a:lstStyle/>
          <a:p>
            <a:pPr algn="ctr" indent="0" marL="0">
              <a:buNone/>
            </a:pPr>
            <a:r>
              <a:rPr lang="en-US" sz="2000" b="1" dirty="0">
                <a:solidFill>
                  <a:schemeClr val="tx2"/>
                </a:solidFill>
              </a:rPr>
              <a:t>15</a:t>
            </a:r>
            <a:endParaRPr lang="en-US" sz="2000" dirty="0"/>
          </a:p>
        </p:txBody>
      </p:sp>
      <p:sp>
        <p:nvSpPr>
          <p:cNvPr id="14" name="Arrow"/>
          <p:cNvSpPr/>
          <p:nvPr/>
        </p:nvSpPr>
        <p:spPr>
          <a:xfrm>
            <a:off x="5760720" y="2514600"/>
            <a:ext cx="640080" cy="640080"/>
          </a:xfrm>
          <a:prstGeom prst="downArrow">
            <a:avLst/>
          </a:prstGeom>
          <a:solidFill>
            <a:schemeClr val="accent3"/>
          </a:solidFill>
          <a:ln/>
        </p:spPr>
      </p:sp>
      <p:sp>
        <p:nvSpPr>
          <p:cNvPr id="15" name="Text 12"/>
          <p:cNvSpPr txBox="1"/>
          <p:nvPr/>
        </p:nvSpPr>
        <p:spPr>
          <a:xfrm>
            <a:off x="6583680" y="2606040"/>
            <a:ext cx="2743200" cy="457200"/>
          </a:xfrm>
          <a:prstGeom prst="rect">
            <a:avLst/>
          </a:prstGeom>
          <a:noFill/>
          <a:ln/>
        </p:spPr>
        <p:txBody>
          <a:bodyPr wrap="square" lIns="0" tIns="0" rIns="0" bIns="0" rtlCol="0" anchor="ctr"/>
          <a:lstStyle/>
          <a:p>
            <a:pPr indent="0" marL="0">
              <a:buNone/>
            </a:pPr>
            <a:r>
              <a:rPr lang="en-US" sz="2000" i="1" dirty="0">
                <a:solidFill>
                  <a:schemeClr val="tx2"/>
                </a:solidFill>
              </a:rPr>
              <a:t>Merge Sort</a:t>
            </a:r>
            <a:endParaRPr lang="en-US" sz="2000" dirty="0"/>
          </a:p>
        </p:txBody>
      </p:sp>
      <p:sp>
        <p:nvSpPr>
          <p:cNvPr id="16" name="Text 13"/>
          <p:cNvSpPr txBox="1"/>
          <p:nvPr/>
        </p:nvSpPr>
        <p:spPr>
          <a:xfrm>
            <a:off x="1691640" y="3246120"/>
            <a:ext cx="3657600" cy="274320"/>
          </a:xfrm>
          <a:prstGeom prst="rect">
            <a:avLst/>
          </a:prstGeom>
          <a:noFill/>
          <a:ln/>
        </p:spPr>
        <p:txBody>
          <a:bodyPr wrap="square" lIns="0" tIns="0" rIns="0" bIns="0" rtlCol="0" anchor="t"/>
          <a:lstStyle/>
          <a:p>
            <a:pPr indent="0" marL="0">
              <a:buNone/>
            </a:pPr>
            <a:r>
              <a:rPr lang="en-US" sz="1200" b="1" spc="200" kern="0" dirty="0">
                <a:solidFill>
                  <a:schemeClr val="tx2"/>
                </a:solidFill>
              </a:rPr>
              <a:t>SORTED OUTPUT</a:t>
            </a:r>
            <a:endParaRPr lang="en-US" sz="1200" dirty="0"/>
          </a:p>
        </p:txBody>
      </p:sp>
      <p:sp>
        <p:nvSpPr>
          <p:cNvPr id="17" name="Sorted cell"/>
          <p:cNvSpPr txBox="1"/>
          <p:nvPr/>
        </p:nvSpPr>
        <p:spPr>
          <a:xfrm>
            <a:off x="1691640" y="3611880"/>
            <a:ext cx="1005840" cy="914400"/>
          </a:xfrm>
          <a:prstGeom prst="roundRect">
            <a:avLst>
              <a:gd name="adj" fmla="val 6000"/>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3000" b="1" dirty="0">
                <a:solidFill>
                  <a:schemeClr val="tx1"/>
                </a:solidFill>
              </a:rPr>
              <a:t>3</a:t>
            </a:r>
            <a:endParaRPr lang="en-US" sz="3000" dirty="0"/>
          </a:p>
        </p:txBody>
      </p:sp>
      <p:sp>
        <p:nvSpPr>
          <p:cNvPr id="18" name="Sorted cell"/>
          <p:cNvSpPr txBox="1"/>
          <p:nvPr/>
        </p:nvSpPr>
        <p:spPr>
          <a:xfrm>
            <a:off x="2807208" y="3611880"/>
            <a:ext cx="1005840" cy="914400"/>
          </a:xfrm>
          <a:prstGeom prst="roundRect">
            <a:avLst>
              <a:gd name="adj" fmla="val 6000"/>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3000" b="1" dirty="0">
                <a:solidFill>
                  <a:schemeClr val="tx1"/>
                </a:solidFill>
              </a:rPr>
              <a:t>9</a:t>
            </a:r>
            <a:endParaRPr lang="en-US" sz="3000" dirty="0"/>
          </a:p>
        </p:txBody>
      </p:sp>
      <p:sp>
        <p:nvSpPr>
          <p:cNvPr id="19" name="Sorted cell"/>
          <p:cNvSpPr txBox="1"/>
          <p:nvPr/>
        </p:nvSpPr>
        <p:spPr>
          <a:xfrm>
            <a:off x="3922776" y="3611880"/>
            <a:ext cx="1005840" cy="914400"/>
          </a:xfrm>
          <a:prstGeom prst="roundRect">
            <a:avLst>
              <a:gd name="adj" fmla="val 6000"/>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3000" b="1" dirty="0">
                <a:solidFill>
                  <a:schemeClr val="tx1"/>
                </a:solidFill>
              </a:rPr>
              <a:t>10</a:t>
            </a:r>
            <a:endParaRPr lang="en-US" sz="3000" dirty="0"/>
          </a:p>
        </p:txBody>
      </p:sp>
      <p:sp>
        <p:nvSpPr>
          <p:cNvPr id="20" name="Sorted cell"/>
          <p:cNvSpPr txBox="1"/>
          <p:nvPr/>
        </p:nvSpPr>
        <p:spPr>
          <a:xfrm>
            <a:off x="5038344" y="3611880"/>
            <a:ext cx="1005840" cy="914400"/>
          </a:xfrm>
          <a:prstGeom prst="roundRect">
            <a:avLst>
              <a:gd name="adj" fmla="val 6000"/>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3000" b="1" dirty="0">
                <a:solidFill>
                  <a:schemeClr val="tx1"/>
                </a:solidFill>
              </a:rPr>
              <a:t>15</a:t>
            </a:r>
            <a:endParaRPr lang="en-US" sz="3000" dirty="0"/>
          </a:p>
        </p:txBody>
      </p:sp>
      <p:sp>
        <p:nvSpPr>
          <p:cNvPr id="21" name="Sorted cell"/>
          <p:cNvSpPr txBox="1"/>
          <p:nvPr/>
        </p:nvSpPr>
        <p:spPr>
          <a:xfrm>
            <a:off x="6153912" y="3611880"/>
            <a:ext cx="1005840" cy="914400"/>
          </a:xfrm>
          <a:prstGeom prst="roundRect">
            <a:avLst>
              <a:gd name="adj" fmla="val 6000"/>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3000" b="1" dirty="0">
                <a:solidFill>
                  <a:schemeClr val="tx1"/>
                </a:solidFill>
              </a:rPr>
              <a:t>27</a:t>
            </a:r>
            <a:endParaRPr lang="en-US" sz="3000" dirty="0"/>
          </a:p>
        </p:txBody>
      </p:sp>
      <p:sp>
        <p:nvSpPr>
          <p:cNvPr id="22" name="Sorted cell"/>
          <p:cNvSpPr txBox="1"/>
          <p:nvPr/>
        </p:nvSpPr>
        <p:spPr>
          <a:xfrm>
            <a:off x="7269480" y="3611880"/>
            <a:ext cx="1005840" cy="914400"/>
          </a:xfrm>
          <a:prstGeom prst="roundRect">
            <a:avLst>
              <a:gd name="adj" fmla="val 6000"/>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3000" b="1" dirty="0">
                <a:solidFill>
                  <a:schemeClr val="tx1"/>
                </a:solidFill>
              </a:rPr>
              <a:t>38</a:t>
            </a:r>
            <a:endParaRPr lang="en-US" sz="3000" dirty="0"/>
          </a:p>
        </p:txBody>
      </p:sp>
      <p:sp>
        <p:nvSpPr>
          <p:cNvPr id="23" name="Sorted cell"/>
          <p:cNvSpPr txBox="1"/>
          <p:nvPr/>
        </p:nvSpPr>
        <p:spPr>
          <a:xfrm>
            <a:off x="8385048" y="3611880"/>
            <a:ext cx="1005840" cy="914400"/>
          </a:xfrm>
          <a:prstGeom prst="roundRect">
            <a:avLst>
              <a:gd name="adj" fmla="val 6000"/>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3000" b="1" dirty="0">
                <a:solidFill>
                  <a:schemeClr val="tx1"/>
                </a:solidFill>
              </a:rPr>
              <a:t>43</a:t>
            </a:r>
            <a:endParaRPr lang="en-US" sz="3000" dirty="0"/>
          </a:p>
        </p:txBody>
      </p:sp>
      <p:sp>
        <p:nvSpPr>
          <p:cNvPr id="24" name="Sorted cell"/>
          <p:cNvSpPr txBox="1"/>
          <p:nvPr/>
        </p:nvSpPr>
        <p:spPr>
          <a:xfrm>
            <a:off x="9500616" y="3611880"/>
            <a:ext cx="1005840" cy="914400"/>
          </a:xfrm>
          <a:prstGeom prst="roundRect">
            <a:avLst>
              <a:gd name="adj" fmla="val 6000"/>
            </a:avLst>
          </a:prstGeom>
          <a:solidFill>
            <a:schemeClr val="accent1"/>
          </a:solidFill>
          <a:ln w="15875">
            <a:solidFill>
              <a:schemeClr val="accent1"/>
            </a:solidFill>
            <a:prstDash val="solid"/>
          </a:ln>
        </p:spPr>
        <p:txBody>
          <a:bodyPr wrap="square" lIns="0" tIns="0" rIns="0" bIns="0" rtlCol="0" anchor="ctr"/>
          <a:lstStyle/>
          <a:p>
            <a:pPr algn="ctr" indent="0" marL="0">
              <a:buNone/>
            </a:pPr>
            <a:r>
              <a:rPr lang="en-US" sz="3000" b="1" dirty="0">
                <a:solidFill>
                  <a:schemeClr val="tx1"/>
                </a:solidFill>
              </a:rPr>
              <a:t>82</a:t>
            </a:r>
            <a:endParaRPr lang="en-US" sz="3000" dirty="0"/>
          </a:p>
        </p:txBody>
      </p:sp>
      <p:sp>
        <p:nvSpPr>
          <p:cNvPr id="25" name="Chip"/>
          <p:cNvSpPr txBox="1"/>
          <p:nvPr/>
        </p:nvSpPr>
        <p:spPr>
          <a:xfrm>
            <a:off x="640080" y="5029200"/>
            <a:ext cx="3474720" cy="822960"/>
          </a:xfrm>
          <a:prstGeom prst="roundRect">
            <a:avLst>
              <a:gd name="adj" fmla="val 20000"/>
            </a:avLst>
          </a:prstGeom>
          <a:solidFill>
            <a:schemeClr val="accent4"/>
          </a:solidFill>
          <a:ln w="12700">
            <a:solidFill>
              <a:schemeClr val="accent4"/>
            </a:solidFill>
          </a:ln>
        </p:spPr>
        <p:txBody>
          <a:bodyPr wrap="square" lIns="635" tIns="635" rIns="635" bIns="635"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Level 1 · 4 merges</a:t>
            </a:r>
            <a:endParaRPr lang="en-US" sz="2000" dirty="0"/>
          </a:p>
        </p:txBody>
      </p:sp>
      <p:sp>
        <p:nvSpPr>
          <p:cNvPr id="26" name="Chip"/>
          <p:cNvSpPr txBox="1"/>
          <p:nvPr/>
        </p:nvSpPr>
        <p:spPr>
          <a:xfrm>
            <a:off x="4361688" y="5029200"/>
            <a:ext cx="3474720" cy="822960"/>
          </a:xfrm>
          <a:prstGeom prst="roundRect">
            <a:avLst>
              <a:gd name="adj" fmla="val 20000"/>
            </a:avLst>
          </a:prstGeom>
          <a:solidFill>
            <a:schemeClr val="accent6"/>
          </a:solidFill>
          <a:ln w="12700">
            <a:solidFill>
              <a:schemeClr val="accent4"/>
            </a:solidFill>
          </a:ln>
        </p:spPr>
        <p:txBody>
          <a:bodyPr wrap="square" lIns="635" tIns="635" rIns="635" bIns="635"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Level 2 · 2 merges</a:t>
            </a:r>
            <a:endParaRPr lang="en-US" sz="2000" dirty="0"/>
          </a:p>
        </p:txBody>
      </p:sp>
      <p:sp>
        <p:nvSpPr>
          <p:cNvPr id="27" name="Chip"/>
          <p:cNvSpPr txBox="1"/>
          <p:nvPr/>
        </p:nvSpPr>
        <p:spPr>
          <a:xfrm>
            <a:off x="8083296" y="5029200"/>
            <a:ext cx="3474720" cy="822960"/>
          </a:xfrm>
          <a:prstGeom prst="roundRect">
            <a:avLst>
              <a:gd name="adj" fmla="val 20000"/>
            </a:avLst>
          </a:prstGeom>
          <a:solidFill>
            <a:schemeClr val="accent5"/>
          </a:solidFill>
          <a:ln w="12700">
            <a:solidFill>
              <a:schemeClr val="accent4"/>
            </a:solidFill>
          </a:ln>
        </p:spPr>
        <p:txBody>
          <a:bodyPr wrap="square" lIns="635" tIns="635" rIns="635" bIns="635"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Level 3 · 1 merge</a:t>
            </a:r>
            <a:endParaRPr lang="en-US" sz="2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t"/>
          <a:lstStyle/>
          <a:p>
            <a:pPr indent="0" marL="0">
              <a:buNone/>
            </a:pPr>
            <a:r>
              <a:rPr lang="en-US" sz="1200" b="1" spc="300" kern="0" dirty="0">
                <a:solidFill>
                  <a:schemeClr val="tx2"/>
                </a:solidFill>
              </a:rPr>
              <a:t>ALGORITHM</a:t>
            </a:r>
            <a:endParaRPr lang="en-US" sz="1200" dirty="0"/>
          </a:p>
        </p:txBody>
      </p:sp>
      <p:sp>
        <p:nvSpPr>
          <p:cNvPr id="3" name="Text 2"/>
          <p:cNvSpPr/>
          <p:nvPr>
            <p:ph idx="102"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Pseudocode and Recursion</a:t>
            </a:r>
            <a:endParaRPr lang="en-US" sz="3400" dirty="0"/>
          </a:p>
        </p:txBody>
      </p:sp>
      <p:sp>
        <p:nvSpPr>
          <p:cNvPr id="5" name="Code card"/>
          <p:cNvSpPr/>
          <p:nvPr/>
        </p:nvSpPr>
        <p:spPr>
          <a:xfrm>
            <a:off x="548640" y="1463040"/>
            <a:ext cx="5212080" cy="3246120"/>
          </a:xfrm>
          <a:prstGeom prst="roundRect">
            <a:avLst>
              <a:gd name="adj" fmla="val 3380"/>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6" name="Text 3"/>
          <p:cNvSpPr txBox="1"/>
          <p:nvPr/>
        </p:nvSpPr>
        <p:spPr>
          <a:xfrm>
            <a:off x="822960" y="1600200"/>
            <a:ext cx="4663440" cy="320040"/>
          </a:xfrm>
          <a:prstGeom prst="rect">
            <a:avLst/>
          </a:prstGeom>
          <a:noFill/>
          <a:ln/>
        </p:spPr>
        <p:txBody>
          <a:bodyPr wrap="square" lIns="0" tIns="0" rIns="0" bIns="0" rtlCol="0" anchor="t"/>
          <a:lstStyle/>
          <a:p>
            <a:pPr indent="0" marL="0">
              <a:buNone/>
            </a:pPr>
            <a:r>
              <a:rPr lang="en-US" sz="1300" b="1" spc="200" kern="0" dirty="0">
                <a:solidFill>
                  <a:schemeClr val="tx2"/>
                </a:solidFill>
              </a:rPr>
              <a:t>MERGE_SORT</a:t>
            </a:r>
            <a:endParaRPr lang="en-US" sz="1300" dirty="0"/>
          </a:p>
        </p:txBody>
      </p:sp>
      <p:sp>
        <p:nvSpPr>
          <p:cNvPr id="7" name="Pseudocode"/>
          <p:cNvSpPr txBox="1"/>
          <p:nvPr/>
        </p:nvSpPr>
        <p:spPr>
          <a:xfrm>
            <a:off x="822960" y="2011680"/>
            <a:ext cx="4754880" cy="25603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MERGE_SORT</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A</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low</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high</a:t>
            </a:r>
            <a:pPr indent="0" marL="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b="1" dirty="0">
                <a:solidFill>
                  <a:schemeClr val="tx2"/>
                </a:solidFill>
                <a:latin typeface="Courier New" pitchFamily="34" charset="0"/>
                <a:ea typeface="Courier New" pitchFamily="34" charset="-122"/>
                <a:cs typeface="Courier New" pitchFamily="34" charset="-120"/>
              </a:rPr>
              <a:t>if</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low</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&lt;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high</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b="1" dirty="0">
                <a:solidFill>
                  <a:schemeClr val="tx2"/>
                </a:solidFill>
                <a:latin typeface="Courier New" pitchFamily="34" charset="0"/>
                <a:ea typeface="Courier New" pitchFamily="34" charset="-122"/>
                <a:cs typeface="Courier New" pitchFamily="34" charset="-120"/>
              </a:rPr>
              <a:t>then</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mid</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b="1" dirty="0">
                <a:solidFill>
                  <a:schemeClr val="tx1"/>
                </a:solidFill>
                <a:latin typeface="Courier New" pitchFamily="34" charset="0"/>
                <a:ea typeface="Courier New" pitchFamily="34" charset="-122"/>
                <a:cs typeface="Courier New" pitchFamily="34" charset="-120"/>
              </a:rPr>
              <a:t>floor</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low</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high</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2</a:t>
            </a:r>
            <a:pPr indent="0" marL="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b="1" dirty="0">
                <a:solidFill>
                  <a:schemeClr val="tx1"/>
                </a:solidFill>
                <a:latin typeface="Courier New" pitchFamily="34" charset="0"/>
                <a:ea typeface="Courier New" pitchFamily="34" charset="-122"/>
                <a:cs typeface="Courier New" pitchFamily="34" charset="-120"/>
              </a:rPr>
              <a:t>MERGE_SORT</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A</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low</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mid</a:t>
            </a:r>
            <a:pPr indent="0" marL="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b="1" dirty="0">
                <a:solidFill>
                  <a:schemeClr val="tx1"/>
                </a:solidFill>
                <a:latin typeface="Courier New" pitchFamily="34" charset="0"/>
                <a:ea typeface="Courier New" pitchFamily="34" charset="-122"/>
                <a:cs typeface="Courier New" pitchFamily="34" charset="-120"/>
              </a:rPr>
              <a:t>MERGE_SORT</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A</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mid</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1</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high</a:t>
            </a:r>
            <a:pPr indent="0" marL="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b="1" dirty="0">
                <a:solidFill>
                  <a:schemeClr val="tx1"/>
                </a:solidFill>
                <a:latin typeface="Courier New" pitchFamily="34" charset="0"/>
                <a:ea typeface="Courier New" pitchFamily="34" charset="-122"/>
                <a:cs typeface="Courier New" pitchFamily="34" charset="-120"/>
              </a:rPr>
              <a:t>MERGE</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A</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low</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mid</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high</a:t>
            </a:r>
            <a:pPr indent="0" marL="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b="1" dirty="0">
                <a:solidFill>
                  <a:schemeClr val="tx2"/>
                </a:solidFill>
                <a:latin typeface="Courier New" pitchFamily="34" charset="0"/>
                <a:ea typeface="Courier New" pitchFamily="34" charset="-122"/>
                <a:cs typeface="Courier New" pitchFamily="34" charset="-120"/>
              </a:rPr>
              <a:t>else</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b="1" dirty="0">
                <a:solidFill>
                  <a:schemeClr val="tx2"/>
                </a:solidFill>
                <a:latin typeface="Courier New" pitchFamily="34" charset="0"/>
                <a:ea typeface="Courier New" pitchFamily="34" charset="-122"/>
                <a:cs typeface="Courier New" pitchFamily="34" charset="-120"/>
              </a:rPr>
              <a:t>return</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i="1" dirty="0">
                <a:solidFill>
                  <a:schemeClr val="tx2"/>
                </a:solidFill>
                <a:latin typeface="Courier New" pitchFamily="34" charset="0"/>
                <a:ea typeface="Courier New" pitchFamily="34" charset="-122"/>
                <a:cs typeface="Courier New" pitchFamily="34" charset="-120"/>
              </a:rPr>
              <a:t>// base case</a:t>
            </a:r>
            <a:endParaRPr lang="en-US" sz="1400" dirty="0"/>
          </a:p>
        </p:txBody>
      </p:sp>
      <p:sp>
        <p:nvSpPr>
          <p:cNvPr id="8" name="Code card"/>
          <p:cNvSpPr/>
          <p:nvPr/>
        </p:nvSpPr>
        <p:spPr>
          <a:xfrm>
            <a:off x="5943600" y="1463040"/>
            <a:ext cx="5696712" cy="3246120"/>
          </a:xfrm>
          <a:prstGeom prst="roundRect">
            <a:avLst>
              <a:gd name="adj" fmla="val 3380"/>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9" name="Text 6"/>
          <p:cNvSpPr txBox="1"/>
          <p:nvPr/>
        </p:nvSpPr>
        <p:spPr>
          <a:xfrm>
            <a:off x="6217920" y="1600200"/>
            <a:ext cx="5148072" cy="320040"/>
          </a:xfrm>
          <a:prstGeom prst="rect">
            <a:avLst/>
          </a:prstGeom>
          <a:noFill/>
          <a:ln/>
        </p:spPr>
        <p:txBody>
          <a:bodyPr wrap="square" lIns="0" tIns="0" rIns="0" bIns="0" rtlCol="0" anchor="t"/>
          <a:lstStyle/>
          <a:p>
            <a:pPr indent="0" marL="0">
              <a:buNone/>
            </a:pPr>
            <a:r>
              <a:rPr lang="en-US" sz="1300" b="1" spc="200" kern="0" dirty="0">
                <a:solidFill>
                  <a:schemeClr val="tx2"/>
                </a:solidFill>
              </a:rPr>
              <a:t>MERGE</a:t>
            </a:r>
            <a:endParaRPr lang="en-US" sz="1300" dirty="0"/>
          </a:p>
        </p:txBody>
      </p:sp>
      <p:sp>
        <p:nvSpPr>
          <p:cNvPr id="10" name="Pseudocode"/>
          <p:cNvSpPr txBox="1"/>
          <p:nvPr/>
        </p:nvSpPr>
        <p:spPr>
          <a:xfrm>
            <a:off x="6217920" y="2011680"/>
            <a:ext cx="5239512" cy="25603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MERGE</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A</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low</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mid</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high</a:t>
            </a:r>
            <a:pPr indent="0" marL="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L</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low</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mid</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R</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mid</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1</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high</a:t>
            </a:r>
            <a:pPr indent="0" marL="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i</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0</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j</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0</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k</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low</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b="1" dirty="0">
                <a:solidFill>
                  <a:schemeClr val="tx2"/>
                </a:solidFill>
                <a:latin typeface="Courier New" pitchFamily="34" charset="0"/>
                <a:ea typeface="Courier New" pitchFamily="34" charset="-122"/>
                <a:cs typeface="Courier New" pitchFamily="34" charset="-120"/>
              </a:rPr>
              <a:t>while</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i</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&lt;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b="1" dirty="0">
                <a:solidFill>
                  <a:schemeClr val="tx1"/>
                </a:solidFill>
                <a:latin typeface="Courier New" pitchFamily="34" charset="0"/>
                <a:ea typeface="Courier New" pitchFamily="34" charset="-122"/>
                <a:cs typeface="Courier New" pitchFamily="34" charset="-120"/>
              </a:rPr>
              <a:t>len</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L</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b="1" dirty="0">
                <a:solidFill>
                  <a:schemeClr val="tx2"/>
                </a:solidFill>
                <a:latin typeface="Courier New" pitchFamily="34" charset="0"/>
                <a:ea typeface="Courier New" pitchFamily="34" charset="-122"/>
                <a:cs typeface="Courier New" pitchFamily="34" charset="-120"/>
              </a:rPr>
              <a:t>and</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j</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&lt;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b="1" dirty="0">
                <a:solidFill>
                  <a:schemeClr val="tx1"/>
                </a:solidFill>
                <a:latin typeface="Courier New" pitchFamily="34" charset="0"/>
                <a:ea typeface="Courier New" pitchFamily="34" charset="-122"/>
                <a:cs typeface="Courier New" pitchFamily="34" charset="-120"/>
              </a:rPr>
              <a:t>len</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R</a:t>
            </a:r>
            <a:pPr indent="0" marL="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b="1" dirty="0">
                <a:solidFill>
                  <a:schemeClr val="tx2"/>
                </a:solidFill>
                <a:latin typeface="Courier New" pitchFamily="34" charset="0"/>
                <a:ea typeface="Courier New" pitchFamily="34" charset="-122"/>
                <a:cs typeface="Courier New" pitchFamily="34" charset="-120"/>
              </a:rPr>
              <a:t>if</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L</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i</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&lt;</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R</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j</a:t>
            </a:r>
            <a:pPr indent="0" marL="0">
              <a:buNone/>
            </a:pPr>
            <a:r>
              <a:rPr lang="en-US" sz="1400" dirty="0">
                <a:solidFill>
                  <a:schemeClr val="tx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k</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L</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i</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i</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i</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b="1" dirty="0">
                <a:solidFill>
                  <a:schemeClr val="tx2"/>
                </a:solidFill>
                <a:latin typeface="Courier New" pitchFamily="34" charset="0"/>
                <a:ea typeface="Courier New" pitchFamily="34" charset="-122"/>
                <a:cs typeface="Courier New" pitchFamily="34" charset="-120"/>
              </a:rPr>
              <a:t>else</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k</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R</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j</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j</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j</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k</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k</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1</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b="1" dirty="0">
                <a:solidFill>
                  <a:schemeClr val="tx2"/>
                </a:solidFill>
                <a:latin typeface="Courier New" pitchFamily="34" charset="0"/>
                <a:ea typeface="Courier New" pitchFamily="34" charset="-122"/>
                <a:cs typeface="Courier New" pitchFamily="34" charset="-120"/>
              </a:rPr>
              <a:t>copy</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remaining</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elements</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of</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L</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or</a:t>
            </a:r>
            <a:pPr indent="0" marL="0">
              <a:buNone/>
            </a:pPr>
            <a:r>
              <a:rPr lang="en-US" sz="1400" dirty="0">
                <a:solidFill>
                  <a:schemeClr val="tx1"/>
                </a:solidFill>
                <a:latin typeface="Courier New" pitchFamily="34" charset="0"/>
                <a:ea typeface="Courier New" pitchFamily="34" charset="-122"/>
                <a:cs typeface="Courier New" pitchFamily="34" charset="-120"/>
              </a:rPr>
              <a:t> </a:t>
            </a:r>
            <a:pPr indent="0" marL="0">
              <a:buNone/>
            </a:pPr>
            <a:r>
              <a:rPr lang="en-US" sz="1400" dirty="0">
                <a:solidFill>
                  <a:schemeClr val="tx1"/>
                </a:solidFill>
                <a:latin typeface="Courier New" pitchFamily="34" charset="0"/>
                <a:ea typeface="Courier New" pitchFamily="34" charset="-122"/>
                <a:cs typeface="Courier New" pitchFamily="34" charset="-120"/>
              </a:rPr>
              <a:t>R</a:t>
            </a:r>
            <a:endParaRPr lang="en-US" sz="1400" dirty="0"/>
          </a:p>
        </p:txBody>
      </p:sp>
      <p:sp>
        <p:nvSpPr>
          <p:cNvPr id="11" name="Note 1"/>
          <p:cNvSpPr/>
          <p:nvPr/>
        </p:nvSpPr>
        <p:spPr>
          <a:xfrm>
            <a:off x="548640" y="4983480"/>
            <a:ext cx="3639312" cy="1005840"/>
          </a:xfrm>
          <a:prstGeom prst="roundRect">
            <a:avLst>
              <a:gd name="adj" fmla="val 10909"/>
            </a:avLst>
          </a:prstGeom>
          <a:solidFill>
            <a:schemeClr val="accent5"/>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12" name="Text 9"/>
          <p:cNvSpPr txBox="1"/>
          <p:nvPr/>
        </p:nvSpPr>
        <p:spPr>
          <a:xfrm>
            <a:off x="777240" y="5120640"/>
            <a:ext cx="3200400" cy="274320"/>
          </a:xfrm>
          <a:prstGeom prst="rect">
            <a:avLst/>
          </a:prstGeom>
          <a:noFill/>
          <a:ln/>
        </p:spPr>
        <p:txBody>
          <a:bodyPr wrap="square" lIns="0" tIns="0" rIns="0" bIns="0" rtlCol="0" anchor="t"/>
          <a:lstStyle/>
          <a:p>
            <a:pPr indent="0" marL="0">
              <a:buNone/>
            </a:pPr>
            <a:r>
              <a:rPr lang="en-US" sz="1200" b="1" spc="200" kern="0" dirty="0">
                <a:solidFill>
                  <a:schemeClr val="tx2"/>
                </a:solidFill>
              </a:rPr>
              <a:t>BASE CASE</a:t>
            </a:r>
            <a:endParaRPr lang="en-US" sz="1200" dirty="0"/>
          </a:p>
        </p:txBody>
      </p:sp>
      <p:sp>
        <p:nvSpPr>
          <p:cNvPr id="13" name="Text 10"/>
          <p:cNvSpPr txBox="1"/>
          <p:nvPr/>
        </p:nvSpPr>
        <p:spPr>
          <a:xfrm>
            <a:off x="777240" y="5440680"/>
            <a:ext cx="3200400" cy="411480"/>
          </a:xfrm>
          <a:prstGeom prst="rect">
            <a:avLst/>
          </a:prstGeom>
          <a:noFill/>
          <a:ln/>
        </p:spPr>
        <p:txBody>
          <a:bodyPr wrap="square" lIns="0" tIns="0" rIns="0" bIns="0" rtlCol="0" anchor="ctr"/>
          <a:lstStyle/>
          <a:p>
            <a:pPr indent="0" marL="0">
              <a:buNone/>
            </a:pPr>
            <a:r>
              <a:rPr lang="en-US" sz="1600" b="1" dirty="0">
                <a:solidFill>
                  <a:schemeClr val="tx1"/>
                </a:solidFill>
              </a:rPr>
              <a:t>low ≥ high  →  return</a:t>
            </a:r>
            <a:endParaRPr lang="en-US" sz="1600" dirty="0"/>
          </a:p>
        </p:txBody>
      </p:sp>
      <p:sp>
        <p:nvSpPr>
          <p:cNvPr id="14" name="Note 2"/>
          <p:cNvSpPr/>
          <p:nvPr/>
        </p:nvSpPr>
        <p:spPr>
          <a:xfrm>
            <a:off x="4343400" y="4983480"/>
            <a:ext cx="3639312" cy="1005840"/>
          </a:xfrm>
          <a:prstGeom prst="roundRect">
            <a:avLst>
              <a:gd name="adj" fmla="val 10909"/>
            </a:avLst>
          </a:prstGeom>
          <a:solidFill>
            <a:schemeClr val="accent4"/>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15" name="Text 12"/>
          <p:cNvSpPr txBox="1"/>
          <p:nvPr/>
        </p:nvSpPr>
        <p:spPr>
          <a:xfrm>
            <a:off x="4572000" y="5120640"/>
            <a:ext cx="3200400" cy="274320"/>
          </a:xfrm>
          <a:prstGeom prst="rect">
            <a:avLst/>
          </a:prstGeom>
          <a:noFill/>
          <a:ln/>
        </p:spPr>
        <p:txBody>
          <a:bodyPr wrap="square" lIns="0" tIns="0" rIns="0" bIns="0" rtlCol="0" anchor="t"/>
          <a:lstStyle/>
          <a:p>
            <a:pPr indent="0" marL="0">
              <a:buNone/>
            </a:pPr>
            <a:r>
              <a:rPr lang="en-US" sz="1200" b="1" spc="200" kern="0" dirty="0">
                <a:solidFill>
                  <a:schemeClr val="tx2"/>
                </a:solidFill>
              </a:rPr>
              <a:t>RECURSIVE CASE</a:t>
            </a:r>
            <a:endParaRPr lang="en-US" sz="1200" dirty="0"/>
          </a:p>
        </p:txBody>
      </p:sp>
      <p:sp>
        <p:nvSpPr>
          <p:cNvPr id="16" name="Text 13"/>
          <p:cNvSpPr txBox="1"/>
          <p:nvPr/>
        </p:nvSpPr>
        <p:spPr>
          <a:xfrm>
            <a:off x="4572000" y="5440680"/>
            <a:ext cx="3200400" cy="411480"/>
          </a:xfrm>
          <a:prstGeom prst="rect">
            <a:avLst/>
          </a:prstGeom>
          <a:noFill/>
          <a:ln/>
        </p:spPr>
        <p:txBody>
          <a:bodyPr wrap="square" lIns="0" tIns="0" rIns="0" bIns="0" rtlCol="0" anchor="ctr"/>
          <a:lstStyle/>
          <a:p>
            <a:pPr indent="0" marL="0">
              <a:buNone/>
            </a:pPr>
            <a:r>
              <a:rPr lang="en-US" sz="1600" b="1" dirty="0">
                <a:solidFill>
                  <a:schemeClr val="tx1"/>
                </a:solidFill>
              </a:rPr>
              <a:t>two calls on the two halves</a:t>
            </a:r>
            <a:endParaRPr lang="en-US" sz="1600" dirty="0"/>
          </a:p>
        </p:txBody>
      </p:sp>
      <p:sp>
        <p:nvSpPr>
          <p:cNvPr id="17" name="Note 3"/>
          <p:cNvSpPr/>
          <p:nvPr/>
        </p:nvSpPr>
        <p:spPr>
          <a:xfrm>
            <a:off x="8138160" y="4983480"/>
            <a:ext cx="3639312" cy="1005840"/>
          </a:xfrm>
          <a:prstGeom prst="roundRect">
            <a:avLst>
              <a:gd name="adj" fmla="val 10909"/>
            </a:avLst>
          </a:prstGeom>
          <a:solidFill>
            <a:schemeClr val="accent6"/>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18" name="Text 15"/>
          <p:cNvSpPr txBox="1"/>
          <p:nvPr/>
        </p:nvSpPr>
        <p:spPr>
          <a:xfrm>
            <a:off x="8366760" y="5120640"/>
            <a:ext cx="3200400" cy="274320"/>
          </a:xfrm>
          <a:prstGeom prst="rect">
            <a:avLst/>
          </a:prstGeom>
          <a:noFill/>
          <a:ln/>
        </p:spPr>
        <p:txBody>
          <a:bodyPr wrap="square" lIns="0" tIns="0" rIns="0" bIns="0" rtlCol="0" anchor="t"/>
          <a:lstStyle/>
          <a:p>
            <a:pPr indent="0" marL="0">
              <a:buNone/>
            </a:pPr>
            <a:r>
              <a:rPr lang="en-US" sz="1200" b="1" spc="200" kern="0" dirty="0">
                <a:solidFill>
                  <a:schemeClr val="tx2"/>
                </a:solidFill>
              </a:rPr>
              <a:t>STABILITY</a:t>
            </a:r>
            <a:endParaRPr lang="en-US" sz="1200" dirty="0"/>
          </a:p>
        </p:txBody>
      </p:sp>
      <p:sp>
        <p:nvSpPr>
          <p:cNvPr id="19" name="Text 16"/>
          <p:cNvSpPr txBox="1"/>
          <p:nvPr/>
        </p:nvSpPr>
        <p:spPr>
          <a:xfrm>
            <a:off x="8366760" y="5440680"/>
            <a:ext cx="3200400" cy="411480"/>
          </a:xfrm>
          <a:prstGeom prst="rect">
            <a:avLst/>
          </a:prstGeom>
          <a:noFill/>
          <a:ln/>
        </p:spPr>
        <p:txBody>
          <a:bodyPr wrap="square" lIns="0" tIns="0" rIns="0" bIns="0" rtlCol="0" anchor="ctr"/>
          <a:lstStyle/>
          <a:p>
            <a:pPr indent="0" marL="0">
              <a:buNone/>
            </a:pPr>
            <a:r>
              <a:rPr lang="en-US" sz="1600" b="1" dirty="0">
                <a:solidFill>
                  <a:schemeClr val="tx1"/>
                </a:solidFill>
              </a:rPr>
              <a:t>≤ keeps equal elements in order</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t"/>
          <a:lstStyle/>
          <a:p>
            <a:pPr indent="0" marL="0">
              <a:buNone/>
            </a:pPr>
            <a:r>
              <a:rPr lang="en-US" sz="1200" b="1" spc="300" kern="0" dirty="0">
                <a:solidFill>
                  <a:schemeClr val="tx2"/>
                </a:solidFill>
              </a:rPr>
              <a:t>ANALYSIS</a:t>
            </a:r>
            <a:endParaRPr lang="en-US" sz="1200" dirty="0"/>
          </a:p>
        </p:txBody>
      </p:sp>
      <p:sp>
        <p:nvSpPr>
          <p:cNvPr id="3" name="Text 2"/>
          <p:cNvSpPr/>
          <p:nvPr>
            <p:ph idx="102"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Time Complexity: O(n log n)</a:t>
            </a:r>
            <a:endParaRPr lang="en-US" sz="3400" dirty="0"/>
          </a:p>
        </p:txBody>
      </p:sp>
      <p:sp>
        <p:nvSpPr>
          <p:cNvPr id="5" name="Recurrence card"/>
          <p:cNvSpPr/>
          <p:nvPr/>
        </p:nvSpPr>
        <p:spPr>
          <a:xfrm>
            <a:off x="548640" y="1463040"/>
            <a:ext cx="5577840" cy="1325880"/>
          </a:xfrm>
          <a:prstGeom prst="roundRect">
            <a:avLst>
              <a:gd name="adj" fmla="val 8276"/>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6" name="Text 3"/>
          <p:cNvSpPr txBox="1"/>
          <p:nvPr/>
        </p:nvSpPr>
        <p:spPr>
          <a:xfrm>
            <a:off x="822960" y="1600200"/>
            <a:ext cx="5029200" cy="59436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T(n) = 2T(n/2) + n</a:t>
            </a:r>
            <a:endParaRPr lang="en-US" sz="3000" dirty="0"/>
          </a:p>
        </p:txBody>
      </p:sp>
      <p:sp>
        <p:nvSpPr>
          <p:cNvPr id="7" name="Text 4"/>
          <p:cNvSpPr txBox="1"/>
          <p:nvPr/>
        </p:nvSpPr>
        <p:spPr>
          <a:xfrm>
            <a:off x="822960" y="2194560"/>
            <a:ext cx="5029200" cy="457200"/>
          </a:xfrm>
          <a:prstGeom prst="rect">
            <a:avLst/>
          </a:prstGeom>
          <a:noFill/>
          <a:ln/>
        </p:spPr>
        <p:txBody>
          <a:bodyPr wrap="square" lIns="0" tIns="0" rIns="0" bIns="0" rtlCol="0" anchor="ctr"/>
          <a:lstStyle/>
          <a:p>
            <a:pPr indent="0" marL="0">
              <a:buNone/>
            </a:pPr>
            <a:r>
              <a:rPr lang="en-US" sz="2200" b="1" dirty="0">
                <a:solidFill>
                  <a:schemeClr val="tx2"/>
                </a:solidFill>
              </a:rPr>
              <a:t>⇒  T(n) = O(n log n)</a:t>
            </a:r>
            <a:endParaRPr lang="en-US" sz="2200" dirty="0"/>
          </a:p>
        </p:txBody>
      </p:sp>
      <p:sp>
        <p:nvSpPr>
          <p:cNvPr id="8" name="Levels card"/>
          <p:cNvSpPr/>
          <p:nvPr/>
        </p:nvSpPr>
        <p:spPr>
          <a:xfrm>
            <a:off x="548640" y="2971800"/>
            <a:ext cx="5577840" cy="1828800"/>
          </a:xfrm>
          <a:prstGeom prst="roundRect">
            <a:avLst>
              <a:gd name="adj" fmla="val 6000"/>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9" name="Text 6"/>
          <p:cNvSpPr txBox="1"/>
          <p:nvPr/>
        </p:nvSpPr>
        <p:spPr>
          <a:xfrm>
            <a:off x="822960" y="3090672"/>
            <a:ext cx="5029200" cy="274320"/>
          </a:xfrm>
          <a:prstGeom prst="rect">
            <a:avLst/>
          </a:prstGeom>
          <a:noFill/>
          <a:ln/>
        </p:spPr>
        <p:txBody>
          <a:bodyPr wrap="square" lIns="0" tIns="0" rIns="0" bIns="0" rtlCol="0" anchor="t"/>
          <a:lstStyle/>
          <a:p>
            <a:pPr indent="0" marL="0">
              <a:buNone/>
            </a:pPr>
            <a:r>
              <a:rPr lang="en-US" sz="1200" b="1" spc="200" kern="0" dirty="0">
                <a:solidFill>
                  <a:schemeClr val="tx2"/>
                </a:solidFill>
              </a:rPr>
              <a:t>WORK PER MERGE LEVEL  (n = 8)</a:t>
            </a:r>
            <a:endParaRPr lang="en-US" sz="1200" dirty="0"/>
          </a:p>
        </p:txBody>
      </p:sp>
      <p:sp>
        <p:nvSpPr>
          <p:cNvPr id="10" name="Text 7"/>
          <p:cNvSpPr txBox="1"/>
          <p:nvPr/>
        </p:nvSpPr>
        <p:spPr>
          <a:xfrm>
            <a:off x="822960" y="3474720"/>
            <a:ext cx="1554480" cy="347472"/>
          </a:xfrm>
          <a:prstGeom prst="rect">
            <a:avLst/>
          </a:prstGeom>
          <a:noFill/>
          <a:ln/>
        </p:spPr>
        <p:txBody>
          <a:bodyPr wrap="square" lIns="0" tIns="0" rIns="0" bIns="0" rtlCol="0" anchor="ctr"/>
          <a:lstStyle/>
          <a:p>
            <a:pPr indent="0" marL="0">
              <a:buNone/>
            </a:pPr>
            <a:r>
              <a:rPr lang="en-US" sz="1400" dirty="0">
                <a:solidFill>
                  <a:schemeClr val="tx2"/>
                </a:solidFill>
              </a:rPr>
              <a:t>1 merge × 8</a:t>
            </a:r>
            <a:endParaRPr lang="en-US" sz="1400" dirty="0"/>
          </a:p>
        </p:txBody>
      </p:sp>
      <p:sp>
        <p:nvSpPr>
          <p:cNvPr id="11" name="Array cell"/>
          <p:cNvSpPr txBox="1"/>
          <p:nvPr/>
        </p:nvSpPr>
        <p:spPr>
          <a:xfrm>
            <a:off x="2468880" y="3511296"/>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12" name="Array cell"/>
          <p:cNvSpPr txBox="1"/>
          <p:nvPr/>
        </p:nvSpPr>
        <p:spPr>
          <a:xfrm>
            <a:off x="2743200" y="3511296"/>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13" name="Array cell"/>
          <p:cNvSpPr txBox="1"/>
          <p:nvPr/>
        </p:nvSpPr>
        <p:spPr>
          <a:xfrm>
            <a:off x="3017520" y="3511296"/>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14" name="Array cell"/>
          <p:cNvSpPr txBox="1"/>
          <p:nvPr/>
        </p:nvSpPr>
        <p:spPr>
          <a:xfrm>
            <a:off x="3291840" y="3511296"/>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15" name="Array cell"/>
          <p:cNvSpPr txBox="1"/>
          <p:nvPr/>
        </p:nvSpPr>
        <p:spPr>
          <a:xfrm>
            <a:off x="3566160" y="3511296"/>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16" name="Array cell"/>
          <p:cNvSpPr txBox="1"/>
          <p:nvPr/>
        </p:nvSpPr>
        <p:spPr>
          <a:xfrm>
            <a:off x="3840480" y="3511296"/>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17" name="Array cell"/>
          <p:cNvSpPr txBox="1"/>
          <p:nvPr/>
        </p:nvSpPr>
        <p:spPr>
          <a:xfrm>
            <a:off x="4114800" y="3511296"/>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18" name="Array cell"/>
          <p:cNvSpPr txBox="1"/>
          <p:nvPr/>
        </p:nvSpPr>
        <p:spPr>
          <a:xfrm>
            <a:off x="4389120" y="3511296"/>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19" name="Text 16"/>
          <p:cNvSpPr txBox="1"/>
          <p:nvPr/>
        </p:nvSpPr>
        <p:spPr>
          <a:xfrm>
            <a:off x="5074920" y="3474720"/>
            <a:ext cx="822960" cy="347472"/>
          </a:xfrm>
          <a:prstGeom prst="rect">
            <a:avLst/>
          </a:prstGeom>
          <a:noFill/>
          <a:ln/>
        </p:spPr>
        <p:txBody>
          <a:bodyPr wrap="square" lIns="0" tIns="0" rIns="0" bIns="0" rtlCol="0" anchor="ctr"/>
          <a:lstStyle/>
          <a:p>
            <a:pPr indent="0" marL="0">
              <a:buNone/>
            </a:pPr>
            <a:r>
              <a:rPr lang="en-US" sz="1600" b="1" dirty="0">
                <a:solidFill>
                  <a:schemeClr val="tx1"/>
                </a:solidFill>
              </a:rPr>
              <a:t>= n</a:t>
            </a:r>
            <a:endParaRPr lang="en-US" sz="1600" dirty="0"/>
          </a:p>
        </p:txBody>
      </p:sp>
      <p:sp>
        <p:nvSpPr>
          <p:cNvPr id="20" name="Text 17"/>
          <p:cNvSpPr txBox="1"/>
          <p:nvPr/>
        </p:nvSpPr>
        <p:spPr>
          <a:xfrm>
            <a:off x="822960" y="3895344"/>
            <a:ext cx="1554480" cy="347472"/>
          </a:xfrm>
          <a:prstGeom prst="rect">
            <a:avLst/>
          </a:prstGeom>
          <a:noFill/>
          <a:ln/>
        </p:spPr>
        <p:txBody>
          <a:bodyPr wrap="square" lIns="0" tIns="0" rIns="0" bIns="0" rtlCol="0" anchor="ctr"/>
          <a:lstStyle/>
          <a:p>
            <a:pPr indent="0" marL="0">
              <a:buNone/>
            </a:pPr>
            <a:r>
              <a:rPr lang="en-US" sz="1400" dirty="0">
                <a:solidFill>
                  <a:schemeClr val="tx2"/>
                </a:solidFill>
              </a:rPr>
              <a:t>2 merges × 4</a:t>
            </a:r>
            <a:endParaRPr lang="en-US" sz="1400" dirty="0"/>
          </a:p>
        </p:txBody>
      </p:sp>
      <p:sp>
        <p:nvSpPr>
          <p:cNvPr id="21" name="Array cell"/>
          <p:cNvSpPr txBox="1"/>
          <p:nvPr/>
        </p:nvSpPr>
        <p:spPr>
          <a:xfrm>
            <a:off x="2468880" y="3931920"/>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22" name="Array cell"/>
          <p:cNvSpPr txBox="1"/>
          <p:nvPr/>
        </p:nvSpPr>
        <p:spPr>
          <a:xfrm>
            <a:off x="2743200" y="3931920"/>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23" name="Array cell"/>
          <p:cNvSpPr txBox="1"/>
          <p:nvPr/>
        </p:nvSpPr>
        <p:spPr>
          <a:xfrm>
            <a:off x="3017520" y="3931920"/>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24" name="Array cell"/>
          <p:cNvSpPr txBox="1"/>
          <p:nvPr/>
        </p:nvSpPr>
        <p:spPr>
          <a:xfrm>
            <a:off x="3291840" y="3931920"/>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25" name="Array cell"/>
          <p:cNvSpPr txBox="1"/>
          <p:nvPr/>
        </p:nvSpPr>
        <p:spPr>
          <a:xfrm>
            <a:off x="3639312" y="3931920"/>
            <a:ext cx="256032" cy="274320"/>
          </a:xfrm>
          <a:prstGeom prst="roundRect">
            <a:avLst>
              <a:gd name="adj" fmla="val 21429"/>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26" name="Array cell"/>
          <p:cNvSpPr txBox="1"/>
          <p:nvPr/>
        </p:nvSpPr>
        <p:spPr>
          <a:xfrm>
            <a:off x="3913632" y="3931920"/>
            <a:ext cx="256032" cy="274320"/>
          </a:xfrm>
          <a:prstGeom prst="roundRect">
            <a:avLst>
              <a:gd name="adj" fmla="val 21429"/>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27" name="Array cell"/>
          <p:cNvSpPr txBox="1"/>
          <p:nvPr/>
        </p:nvSpPr>
        <p:spPr>
          <a:xfrm>
            <a:off x="4187952" y="3931920"/>
            <a:ext cx="256032" cy="274320"/>
          </a:xfrm>
          <a:prstGeom prst="roundRect">
            <a:avLst>
              <a:gd name="adj" fmla="val 21429"/>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28" name="Array cell"/>
          <p:cNvSpPr txBox="1"/>
          <p:nvPr/>
        </p:nvSpPr>
        <p:spPr>
          <a:xfrm>
            <a:off x="4462272" y="3931920"/>
            <a:ext cx="256032" cy="274320"/>
          </a:xfrm>
          <a:prstGeom prst="roundRect">
            <a:avLst>
              <a:gd name="adj" fmla="val 21429"/>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29" name="Text 26"/>
          <p:cNvSpPr txBox="1"/>
          <p:nvPr/>
        </p:nvSpPr>
        <p:spPr>
          <a:xfrm>
            <a:off x="5074920" y="3895344"/>
            <a:ext cx="822960" cy="347472"/>
          </a:xfrm>
          <a:prstGeom prst="rect">
            <a:avLst/>
          </a:prstGeom>
          <a:noFill/>
          <a:ln/>
        </p:spPr>
        <p:txBody>
          <a:bodyPr wrap="square" lIns="0" tIns="0" rIns="0" bIns="0" rtlCol="0" anchor="ctr"/>
          <a:lstStyle/>
          <a:p>
            <a:pPr indent="0" marL="0">
              <a:buNone/>
            </a:pPr>
            <a:r>
              <a:rPr lang="en-US" sz="1600" b="1" dirty="0">
                <a:solidFill>
                  <a:schemeClr val="tx1"/>
                </a:solidFill>
              </a:rPr>
              <a:t>= n</a:t>
            </a:r>
            <a:endParaRPr lang="en-US" sz="1600" dirty="0"/>
          </a:p>
        </p:txBody>
      </p:sp>
      <p:sp>
        <p:nvSpPr>
          <p:cNvPr id="30" name="Text 27"/>
          <p:cNvSpPr txBox="1"/>
          <p:nvPr/>
        </p:nvSpPr>
        <p:spPr>
          <a:xfrm>
            <a:off x="822960" y="4315968"/>
            <a:ext cx="1554480" cy="347472"/>
          </a:xfrm>
          <a:prstGeom prst="rect">
            <a:avLst/>
          </a:prstGeom>
          <a:noFill/>
          <a:ln/>
        </p:spPr>
        <p:txBody>
          <a:bodyPr wrap="square" lIns="0" tIns="0" rIns="0" bIns="0" rtlCol="0" anchor="ctr"/>
          <a:lstStyle/>
          <a:p>
            <a:pPr indent="0" marL="0">
              <a:buNone/>
            </a:pPr>
            <a:r>
              <a:rPr lang="en-US" sz="1400" dirty="0">
                <a:solidFill>
                  <a:schemeClr val="tx2"/>
                </a:solidFill>
              </a:rPr>
              <a:t>4 merges × 2</a:t>
            </a:r>
            <a:endParaRPr lang="en-US" sz="1400" dirty="0"/>
          </a:p>
        </p:txBody>
      </p:sp>
      <p:sp>
        <p:nvSpPr>
          <p:cNvPr id="31" name="Array cell"/>
          <p:cNvSpPr txBox="1"/>
          <p:nvPr/>
        </p:nvSpPr>
        <p:spPr>
          <a:xfrm>
            <a:off x="2468880" y="4352544"/>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32" name="Array cell"/>
          <p:cNvSpPr txBox="1"/>
          <p:nvPr/>
        </p:nvSpPr>
        <p:spPr>
          <a:xfrm>
            <a:off x="2743200" y="4352544"/>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33" name="Array cell"/>
          <p:cNvSpPr txBox="1"/>
          <p:nvPr/>
        </p:nvSpPr>
        <p:spPr>
          <a:xfrm>
            <a:off x="3090672" y="4352544"/>
            <a:ext cx="256032" cy="274320"/>
          </a:xfrm>
          <a:prstGeom prst="roundRect">
            <a:avLst>
              <a:gd name="adj" fmla="val 21429"/>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34" name="Array cell"/>
          <p:cNvSpPr txBox="1"/>
          <p:nvPr/>
        </p:nvSpPr>
        <p:spPr>
          <a:xfrm>
            <a:off x="3364992" y="4352544"/>
            <a:ext cx="256032" cy="274320"/>
          </a:xfrm>
          <a:prstGeom prst="roundRect">
            <a:avLst>
              <a:gd name="adj" fmla="val 21429"/>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35" name="Array cell"/>
          <p:cNvSpPr txBox="1"/>
          <p:nvPr/>
        </p:nvSpPr>
        <p:spPr>
          <a:xfrm>
            <a:off x="3712464" y="4352544"/>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36" name="Array cell"/>
          <p:cNvSpPr txBox="1"/>
          <p:nvPr/>
        </p:nvSpPr>
        <p:spPr>
          <a:xfrm>
            <a:off x="3986784" y="4352544"/>
            <a:ext cx="256032" cy="274320"/>
          </a:xfrm>
          <a:prstGeom prst="roundRect">
            <a:avLst>
              <a:gd name="adj" fmla="val 21429"/>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37" name="Array cell"/>
          <p:cNvSpPr txBox="1"/>
          <p:nvPr/>
        </p:nvSpPr>
        <p:spPr>
          <a:xfrm>
            <a:off x="4334256" y="4352544"/>
            <a:ext cx="256032" cy="274320"/>
          </a:xfrm>
          <a:prstGeom prst="roundRect">
            <a:avLst>
              <a:gd name="adj" fmla="val 21429"/>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38" name="Array cell"/>
          <p:cNvSpPr txBox="1"/>
          <p:nvPr/>
        </p:nvSpPr>
        <p:spPr>
          <a:xfrm>
            <a:off x="4608576" y="4352544"/>
            <a:ext cx="256032" cy="274320"/>
          </a:xfrm>
          <a:prstGeom prst="roundRect">
            <a:avLst>
              <a:gd name="adj" fmla="val 21429"/>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000" b="1" dirty="0">
                <a:solidFill>
                  <a:schemeClr val="tx1"/>
                </a:solidFill>
              </a:rPr>
              <a:t> </a:t>
            </a:r>
            <a:endParaRPr lang="en-US" sz="1000" dirty="0"/>
          </a:p>
        </p:txBody>
      </p:sp>
      <p:sp>
        <p:nvSpPr>
          <p:cNvPr id="39" name="Text 36"/>
          <p:cNvSpPr txBox="1"/>
          <p:nvPr/>
        </p:nvSpPr>
        <p:spPr>
          <a:xfrm>
            <a:off x="5074920" y="4315968"/>
            <a:ext cx="822960" cy="347472"/>
          </a:xfrm>
          <a:prstGeom prst="rect">
            <a:avLst/>
          </a:prstGeom>
          <a:noFill/>
          <a:ln/>
        </p:spPr>
        <p:txBody>
          <a:bodyPr wrap="square" lIns="0" tIns="0" rIns="0" bIns="0" rtlCol="0" anchor="ctr"/>
          <a:lstStyle/>
          <a:p>
            <a:pPr indent="0" marL="0">
              <a:buNone/>
            </a:pPr>
            <a:r>
              <a:rPr lang="en-US" sz="1600" b="1" dirty="0">
                <a:solidFill>
                  <a:schemeClr val="tx1"/>
                </a:solidFill>
              </a:rPr>
              <a:t>= n</a:t>
            </a:r>
            <a:endParaRPr lang="en-US" sz="1600" dirty="0"/>
          </a:p>
        </p:txBody>
      </p:sp>
      <p:graphicFrame>
        <p:nvGraphicFramePr>
          <p:cNvPr id="40" name="Chart 0" descr=""/>
          <p:cNvGraphicFramePr/>
          <p:nvPr/>
        </p:nvGraphicFramePr>
        <p:xfrm>
          <a:off x="6355080" y="1463040"/>
          <a:ext cx="5285232" cy="3337560"/>
        </p:xfrm>
        <a:graphic xmlns:a="http://schemas.openxmlformats.org/drawingml/2006/main">
          <a:graphicData uri="http://schemas.openxmlformats.org/drawingml/2006/chart">
            <c:chart xmlns:c="http://schemas.openxmlformats.org/drawingml/2006/chart" r:id="rId1"/>
          </a:graphicData>
        </a:graphic>
      </p:graphicFrame>
      <p:sp>
        <p:nvSpPr>
          <p:cNvPr id="41" name="Case 1"/>
          <p:cNvSpPr/>
          <p:nvPr/>
        </p:nvSpPr>
        <p:spPr>
          <a:xfrm>
            <a:off x="548640" y="5074920"/>
            <a:ext cx="3639312" cy="1005840"/>
          </a:xfrm>
          <a:prstGeom prst="roundRect">
            <a:avLst>
              <a:gd name="adj" fmla="val 10909"/>
            </a:avLst>
          </a:prstGeom>
          <a:solidFill>
            <a:schemeClr val="accent4"/>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42" name="Text 38"/>
          <p:cNvSpPr txBox="1"/>
          <p:nvPr/>
        </p:nvSpPr>
        <p:spPr>
          <a:xfrm>
            <a:off x="777240" y="5212080"/>
            <a:ext cx="3200400" cy="274320"/>
          </a:xfrm>
          <a:prstGeom prst="rect">
            <a:avLst/>
          </a:prstGeom>
          <a:noFill/>
          <a:ln/>
        </p:spPr>
        <p:txBody>
          <a:bodyPr wrap="square" lIns="0" tIns="0" rIns="0" bIns="0" rtlCol="0" anchor="t"/>
          <a:lstStyle/>
          <a:p>
            <a:pPr indent="0" marL="0">
              <a:buNone/>
            </a:pPr>
            <a:r>
              <a:rPr lang="en-US" sz="1200" b="1" spc="200" kern="0" dirty="0">
                <a:solidFill>
                  <a:schemeClr val="tx2"/>
                </a:solidFill>
              </a:rPr>
              <a:t>BEST CASE</a:t>
            </a:r>
            <a:endParaRPr lang="en-US" sz="1200" dirty="0"/>
          </a:p>
        </p:txBody>
      </p:sp>
      <p:sp>
        <p:nvSpPr>
          <p:cNvPr id="43" name="Text 39"/>
          <p:cNvSpPr txBox="1"/>
          <p:nvPr/>
        </p:nvSpPr>
        <p:spPr>
          <a:xfrm>
            <a:off x="777240" y="5486400"/>
            <a:ext cx="3200400" cy="4572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O(n log n)</a:t>
            </a:r>
            <a:endParaRPr lang="en-US" sz="2400" dirty="0"/>
          </a:p>
        </p:txBody>
      </p:sp>
      <p:sp>
        <p:nvSpPr>
          <p:cNvPr id="44" name="Case 2"/>
          <p:cNvSpPr/>
          <p:nvPr/>
        </p:nvSpPr>
        <p:spPr>
          <a:xfrm>
            <a:off x="4343400" y="5074920"/>
            <a:ext cx="3639312" cy="1005840"/>
          </a:xfrm>
          <a:prstGeom prst="roundRect">
            <a:avLst>
              <a:gd name="adj" fmla="val 10909"/>
            </a:avLst>
          </a:prstGeom>
          <a:solidFill>
            <a:schemeClr val="accent5"/>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45" name="Text 41"/>
          <p:cNvSpPr txBox="1"/>
          <p:nvPr/>
        </p:nvSpPr>
        <p:spPr>
          <a:xfrm>
            <a:off x="4572000" y="5212080"/>
            <a:ext cx="3200400" cy="274320"/>
          </a:xfrm>
          <a:prstGeom prst="rect">
            <a:avLst/>
          </a:prstGeom>
          <a:noFill/>
          <a:ln/>
        </p:spPr>
        <p:txBody>
          <a:bodyPr wrap="square" lIns="0" tIns="0" rIns="0" bIns="0" rtlCol="0" anchor="t"/>
          <a:lstStyle/>
          <a:p>
            <a:pPr indent="0" marL="0">
              <a:buNone/>
            </a:pPr>
            <a:r>
              <a:rPr lang="en-US" sz="1200" b="1" spc="200" kern="0" dirty="0">
                <a:solidFill>
                  <a:schemeClr val="tx2"/>
                </a:solidFill>
              </a:rPr>
              <a:t>AVERAGE CASE</a:t>
            </a:r>
            <a:endParaRPr lang="en-US" sz="1200" dirty="0"/>
          </a:p>
        </p:txBody>
      </p:sp>
      <p:sp>
        <p:nvSpPr>
          <p:cNvPr id="46" name="Text 42"/>
          <p:cNvSpPr txBox="1"/>
          <p:nvPr/>
        </p:nvSpPr>
        <p:spPr>
          <a:xfrm>
            <a:off x="4572000" y="5486400"/>
            <a:ext cx="3200400" cy="4572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O(n log n)</a:t>
            </a:r>
            <a:endParaRPr lang="en-US" sz="2400" dirty="0"/>
          </a:p>
        </p:txBody>
      </p:sp>
      <p:sp>
        <p:nvSpPr>
          <p:cNvPr id="47" name="Case 3"/>
          <p:cNvSpPr/>
          <p:nvPr/>
        </p:nvSpPr>
        <p:spPr>
          <a:xfrm>
            <a:off x="8138160" y="5074920"/>
            <a:ext cx="3639312" cy="1005840"/>
          </a:xfrm>
          <a:prstGeom prst="roundRect">
            <a:avLst>
              <a:gd name="adj" fmla="val 10909"/>
            </a:avLst>
          </a:prstGeom>
          <a:solidFill>
            <a:schemeClr val="accent6"/>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48" name="Text 44"/>
          <p:cNvSpPr txBox="1"/>
          <p:nvPr/>
        </p:nvSpPr>
        <p:spPr>
          <a:xfrm>
            <a:off x="8366760" y="5212080"/>
            <a:ext cx="3200400" cy="274320"/>
          </a:xfrm>
          <a:prstGeom prst="rect">
            <a:avLst/>
          </a:prstGeom>
          <a:noFill/>
          <a:ln/>
        </p:spPr>
        <p:txBody>
          <a:bodyPr wrap="square" lIns="0" tIns="0" rIns="0" bIns="0" rtlCol="0" anchor="t"/>
          <a:lstStyle/>
          <a:p>
            <a:pPr indent="0" marL="0">
              <a:buNone/>
            </a:pPr>
            <a:r>
              <a:rPr lang="en-US" sz="1200" b="1" spc="200" kern="0" dirty="0">
                <a:solidFill>
                  <a:schemeClr val="tx2"/>
                </a:solidFill>
              </a:rPr>
              <a:t>WORST CASE</a:t>
            </a:r>
            <a:endParaRPr lang="en-US" sz="1200" dirty="0"/>
          </a:p>
        </p:txBody>
      </p:sp>
      <p:sp>
        <p:nvSpPr>
          <p:cNvPr id="49" name="Text 45"/>
          <p:cNvSpPr txBox="1"/>
          <p:nvPr/>
        </p:nvSpPr>
        <p:spPr>
          <a:xfrm>
            <a:off x="8366760" y="5486400"/>
            <a:ext cx="3200400" cy="4572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O(n log n)</a:t>
            </a:r>
            <a:endParaRPr lang="en-US" sz="2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t"/>
          <a:lstStyle/>
          <a:p>
            <a:pPr indent="0" marL="0">
              <a:buNone/>
            </a:pPr>
            <a:r>
              <a:rPr lang="en-US" sz="1200" b="1" spc="300" kern="0" dirty="0">
                <a:solidFill>
                  <a:schemeClr val="tx2"/>
                </a:solidFill>
              </a:rPr>
              <a:t>ANALYSIS</a:t>
            </a:r>
            <a:endParaRPr lang="en-US" sz="1200" dirty="0"/>
          </a:p>
        </p:txBody>
      </p:sp>
      <p:sp>
        <p:nvSpPr>
          <p:cNvPr id="3" name="Text 2"/>
          <p:cNvSpPr/>
          <p:nvPr>
            <p:ph idx="102"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Space Complexity and Stability</a:t>
            </a:r>
            <a:endParaRPr lang="en-US" sz="3400" dirty="0"/>
          </a:p>
        </p:txBody>
      </p:sp>
      <p:sp>
        <p:nvSpPr>
          <p:cNvPr id="5" name="Space card"/>
          <p:cNvSpPr/>
          <p:nvPr/>
        </p:nvSpPr>
        <p:spPr>
          <a:xfrm>
            <a:off x="548640" y="1508760"/>
            <a:ext cx="5394960" cy="4343400"/>
          </a:xfrm>
          <a:prstGeom prst="roundRect">
            <a:avLst>
              <a:gd name="adj" fmla="val 2526"/>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6" name="Text 3"/>
          <p:cNvSpPr txBox="1"/>
          <p:nvPr/>
        </p:nvSpPr>
        <p:spPr>
          <a:xfrm>
            <a:off x="868680" y="1691640"/>
            <a:ext cx="475488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Auxiliary space  O(n)</a:t>
            </a:r>
            <a:endParaRPr lang="en-US" sz="2200" dirty="0"/>
          </a:p>
        </p:txBody>
      </p:sp>
      <p:sp>
        <p:nvSpPr>
          <p:cNvPr id="7" name="Text 4"/>
          <p:cNvSpPr txBox="1"/>
          <p:nvPr/>
        </p:nvSpPr>
        <p:spPr>
          <a:xfrm>
            <a:off x="868680" y="2331720"/>
            <a:ext cx="4572000" cy="274320"/>
          </a:xfrm>
          <a:prstGeom prst="rect">
            <a:avLst/>
          </a:prstGeom>
          <a:noFill/>
          <a:ln/>
        </p:spPr>
        <p:txBody>
          <a:bodyPr wrap="square" lIns="0" tIns="0" rIns="0" bIns="0" rtlCol="0" anchor="t"/>
          <a:lstStyle/>
          <a:p>
            <a:pPr indent="0" marL="0">
              <a:buNone/>
            </a:pPr>
            <a:r>
              <a:rPr lang="en-US" sz="1200" b="1" spc="200" kern="0" dirty="0">
                <a:solidFill>
                  <a:schemeClr val="tx2"/>
                </a:solidFill>
              </a:rPr>
              <a:t>INPUT ARRAY A  (n)</a:t>
            </a:r>
            <a:endParaRPr lang="en-US" sz="1200" dirty="0"/>
          </a:p>
        </p:txBody>
      </p:sp>
      <p:sp>
        <p:nvSpPr>
          <p:cNvPr id="8" name="Array cell"/>
          <p:cNvSpPr txBox="1"/>
          <p:nvPr/>
        </p:nvSpPr>
        <p:spPr>
          <a:xfrm>
            <a:off x="868680" y="2651760"/>
            <a:ext cx="502920" cy="457200"/>
          </a:xfrm>
          <a:prstGeom prst="roundRect">
            <a:avLst>
              <a:gd name="adj" fmla="val 120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400" b="1" dirty="0">
                <a:solidFill>
                  <a:schemeClr val="tx1"/>
                </a:solidFill>
              </a:rPr>
              <a:t>38</a:t>
            </a:r>
            <a:endParaRPr lang="en-US" sz="1400" dirty="0"/>
          </a:p>
        </p:txBody>
      </p:sp>
      <p:sp>
        <p:nvSpPr>
          <p:cNvPr id="9" name="Array cell"/>
          <p:cNvSpPr txBox="1"/>
          <p:nvPr/>
        </p:nvSpPr>
        <p:spPr>
          <a:xfrm>
            <a:off x="1417320" y="2651760"/>
            <a:ext cx="502920" cy="457200"/>
          </a:xfrm>
          <a:prstGeom prst="roundRect">
            <a:avLst>
              <a:gd name="adj" fmla="val 120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400" b="1" dirty="0">
                <a:solidFill>
                  <a:schemeClr val="tx1"/>
                </a:solidFill>
              </a:rPr>
              <a:t>27</a:t>
            </a:r>
            <a:endParaRPr lang="en-US" sz="1400" dirty="0"/>
          </a:p>
        </p:txBody>
      </p:sp>
      <p:sp>
        <p:nvSpPr>
          <p:cNvPr id="10" name="Array cell"/>
          <p:cNvSpPr txBox="1"/>
          <p:nvPr/>
        </p:nvSpPr>
        <p:spPr>
          <a:xfrm>
            <a:off x="1965960" y="2651760"/>
            <a:ext cx="502920" cy="457200"/>
          </a:xfrm>
          <a:prstGeom prst="roundRect">
            <a:avLst>
              <a:gd name="adj" fmla="val 120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400" b="1" dirty="0">
                <a:solidFill>
                  <a:schemeClr val="tx1"/>
                </a:solidFill>
              </a:rPr>
              <a:t>43</a:t>
            </a:r>
            <a:endParaRPr lang="en-US" sz="1400" dirty="0"/>
          </a:p>
        </p:txBody>
      </p:sp>
      <p:sp>
        <p:nvSpPr>
          <p:cNvPr id="11" name="Array cell"/>
          <p:cNvSpPr txBox="1"/>
          <p:nvPr/>
        </p:nvSpPr>
        <p:spPr>
          <a:xfrm>
            <a:off x="2514600" y="2651760"/>
            <a:ext cx="502920" cy="457200"/>
          </a:xfrm>
          <a:prstGeom prst="roundRect">
            <a:avLst>
              <a:gd name="adj" fmla="val 120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2" name="Array cell"/>
          <p:cNvSpPr txBox="1"/>
          <p:nvPr/>
        </p:nvSpPr>
        <p:spPr>
          <a:xfrm>
            <a:off x="3063240" y="2651760"/>
            <a:ext cx="502920" cy="457200"/>
          </a:xfrm>
          <a:prstGeom prst="roundRect">
            <a:avLst>
              <a:gd name="adj" fmla="val 120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400" b="1" dirty="0">
                <a:solidFill>
                  <a:schemeClr val="tx1"/>
                </a:solidFill>
              </a:rPr>
              <a:t>9</a:t>
            </a:r>
            <a:endParaRPr lang="en-US" sz="1400" dirty="0"/>
          </a:p>
        </p:txBody>
      </p:sp>
      <p:sp>
        <p:nvSpPr>
          <p:cNvPr id="13" name="Array cell"/>
          <p:cNvSpPr txBox="1"/>
          <p:nvPr/>
        </p:nvSpPr>
        <p:spPr>
          <a:xfrm>
            <a:off x="3611880" y="2651760"/>
            <a:ext cx="502920" cy="457200"/>
          </a:xfrm>
          <a:prstGeom prst="roundRect">
            <a:avLst>
              <a:gd name="adj" fmla="val 120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400" b="1" dirty="0">
                <a:solidFill>
                  <a:schemeClr val="tx1"/>
                </a:solidFill>
              </a:rPr>
              <a:t>82</a:t>
            </a:r>
            <a:endParaRPr lang="en-US" sz="1400" dirty="0"/>
          </a:p>
        </p:txBody>
      </p:sp>
      <p:sp>
        <p:nvSpPr>
          <p:cNvPr id="14" name="Array cell"/>
          <p:cNvSpPr txBox="1"/>
          <p:nvPr/>
        </p:nvSpPr>
        <p:spPr>
          <a:xfrm>
            <a:off x="4160520" y="2651760"/>
            <a:ext cx="502920" cy="457200"/>
          </a:xfrm>
          <a:prstGeom prst="roundRect">
            <a:avLst>
              <a:gd name="adj" fmla="val 120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400" b="1" dirty="0">
                <a:solidFill>
                  <a:schemeClr val="tx1"/>
                </a:solidFill>
              </a:rPr>
              <a:t>10</a:t>
            </a:r>
            <a:endParaRPr lang="en-US" sz="1400" dirty="0"/>
          </a:p>
        </p:txBody>
      </p:sp>
      <p:sp>
        <p:nvSpPr>
          <p:cNvPr id="15" name="Array cell"/>
          <p:cNvSpPr txBox="1"/>
          <p:nvPr/>
        </p:nvSpPr>
        <p:spPr>
          <a:xfrm>
            <a:off x="4709160" y="2651760"/>
            <a:ext cx="502920" cy="457200"/>
          </a:xfrm>
          <a:prstGeom prst="roundRect">
            <a:avLst>
              <a:gd name="adj" fmla="val 12000"/>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1400" b="1" dirty="0">
                <a:solidFill>
                  <a:schemeClr val="tx1"/>
                </a:solidFill>
              </a:rPr>
              <a:t>15</a:t>
            </a:r>
            <a:endParaRPr lang="en-US" sz="1400" dirty="0"/>
          </a:p>
        </p:txBody>
      </p:sp>
      <p:sp>
        <p:nvSpPr>
          <p:cNvPr id="16" name="Copy arrow"/>
          <p:cNvSpPr/>
          <p:nvPr/>
        </p:nvSpPr>
        <p:spPr>
          <a:xfrm>
            <a:off x="3154680" y="3200400"/>
            <a:ext cx="365760" cy="457200"/>
          </a:xfrm>
          <a:prstGeom prst="downArrow">
            <a:avLst/>
          </a:prstGeom>
          <a:solidFill>
            <a:schemeClr val="accent3"/>
          </a:solidFill>
          <a:ln/>
        </p:spPr>
      </p:sp>
      <p:sp>
        <p:nvSpPr>
          <p:cNvPr id="17" name="Text 14"/>
          <p:cNvSpPr txBox="1"/>
          <p:nvPr/>
        </p:nvSpPr>
        <p:spPr>
          <a:xfrm>
            <a:off x="3611880" y="3273552"/>
            <a:ext cx="1097280" cy="320040"/>
          </a:xfrm>
          <a:prstGeom prst="rect">
            <a:avLst/>
          </a:prstGeom>
          <a:noFill/>
          <a:ln/>
        </p:spPr>
        <p:txBody>
          <a:bodyPr wrap="square" lIns="0" tIns="0" rIns="0" bIns="0" rtlCol="0" anchor="ctr"/>
          <a:lstStyle/>
          <a:p>
            <a:pPr indent="0" marL="0">
              <a:buNone/>
            </a:pPr>
            <a:r>
              <a:rPr lang="en-US" sz="1400" i="1" dirty="0">
                <a:solidFill>
                  <a:schemeClr val="tx2"/>
                </a:solidFill>
              </a:rPr>
              <a:t>copy</a:t>
            </a:r>
            <a:endParaRPr lang="en-US" sz="1400" dirty="0"/>
          </a:p>
        </p:txBody>
      </p:sp>
      <p:sp>
        <p:nvSpPr>
          <p:cNvPr id="18" name="Text 15"/>
          <p:cNvSpPr txBox="1"/>
          <p:nvPr/>
        </p:nvSpPr>
        <p:spPr>
          <a:xfrm>
            <a:off x="868680" y="3749040"/>
            <a:ext cx="4572000" cy="274320"/>
          </a:xfrm>
          <a:prstGeom prst="rect">
            <a:avLst/>
          </a:prstGeom>
          <a:noFill/>
          <a:ln/>
        </p:spPr>
        <p:txBody>
          <a:bodyPr wrap="square" lIns="0" tIns="0" rIns="0" bIns="0" rtlCol="0" anchor="t"/>
          <a:lstStyle/>
          <a:p>
            <a:pPr indent="0" marL="0">
              <a:buNone/>
            </a:pPr>
            <a:r>
              <a:rPr lang="en-US" sz="1200" b="1" spc="200" kern="0" dirty="0">
                <a:solidFill>
                  <a:schemeClr val="tx2"/>
                </a:solidFill>
              </a:rPr>
              <a:t>TEMPORARY ARRAYS L + R  (n)</a:t>
            </a:r>
            <a:endParaRPr lang="en-US" sz="1200" dirty="0"/>
          </a:p>
        </p:txBody>
      </p:sp>
      <p:sp>
        <p:nvSpPr>
          <p:cNvPr id="19" name="Array cell"/>
          <p:cNvSpPr txBox="1"/>
          <p:nvPr/>
        </p:nvSpPr>
        <p:spPr>
          <a:xfrm>
            <a:off x="868680" y="4069080"/>
            <a:ext cx="502920" cy="457200"/>
          </a:xfrm>
          <a:prstGeom prst="roundRect">
            <a:avLst>
              <a:gd name="adj" fmla="val 12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400" b="1" dirty="0">
                <a:solidFill>
                  <a:schemeClr val="tx1"/>
                </a:solidFill>
              </a:rPr>
              <a:t>38</a:t>
            </a:r>
            <a:endParaRPr lang="en-US" sz="1400" dirty="0"/>
          </a:p>
        </p:txBody>
      </p:sp>
      <p:sp>
        <p:nvSpPr>
          <p:cNvPr id="20" name="Array cell"/>
          <p:cNvSpPr txBox="1"/>
          <p:nvPr/>
        </p:nvSpPr>
        <p:spPr>
          <a:xfrm>
            <a:off x="1417320" y="4069080"/>
            <a:ext cx="502920" cy="457200"/>
          </a:xfrm>
          <a:prstGeom prst="roundRect">
            <a:avLst>
              <a:gd name="adj" fmla="val 12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400" b="1" dirty="0">
                <a:solidFill>
                  <a:schemeClr val="tx1"/>
                </a:solidFill>
              </a:rPr>
              <a:t>27</a:t>
            </a:r>
            <a:endParaRPr lang="en-US" sz="1400" dirty="0"/>
          </a:p>
        </p:txBody>
      </p:sp>
      <p:sp>
        <p:nvSpPr>
          <p:cNvPr id="21" name="Array cell"/>
          <p:cNvSpPr txBox="1"/>
          <p:nvPr/>
        </p:nvSpPr>
        <p:spPr>
          <a:xfrm>
            <a:off x="1965960" y="4069080"/>
            <a:ext cx="502920" cy="457200"/>
          </a:xfrm>
          <a:prstGeom prst="roundRect">
            <a:avLst>
              <a:gd name="adj" fmla="val 12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400" b="1" dirty="0">
                <a:solidFill>
                  <a:schemeClr val="tx1"/>
                </a:solidFill>
              </a:rPr>
              <a:t>43</a:t>
            </a:r>
            <a:endParaRPr lang="en-US" sz="1400" dirty="0"/>
          </a:p>
        </p:txBody>
      </p:sp>
      <p:sp>
        <p:nvSpPr>
          <p:cNvPr id="22" name="Array cell"/>
          <p:cNvSpPr txBox="1"/>
          <p:nvPr/>
        </p:nvSpPr>
        <p:spPr>
          <a:xfrm>
            <a:off x="2514600" y="4069080"/>
            <a:ext cx="502920" cy="457200"/>
          </a:xfrm>
          <a:prstGeom prst="roundRect">
            <a:avLst>
              <a:gd name="adj" fmla="val 12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3" name="Array cell"/>
          <p:cNvSpPr txBox="1"/>
          <p:nvPr/>
        </p:nvSpPr>
        <p:spPr>
          <a:xfrm>
            <a:off x="3063240" y="4069080"/>
            <a:ext cx="502920" cy="457200"/>
          </a:xfrm>
          <a:prstGeom prst="roundRect">
            <a:avLst>
              <a:gd name="adj" fmla="val 12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400" b="1" dirty="0">
                <a:solidFill>
                  <a:schemeClr val="tx1"/>
                </a:solidFill>
              </a:rPr>
              <a:t>9</a:t>
            </a:r>
            <a:endParaRPr lang="en-US" sz="1400" dirty="0"/>
          </a:p>
        </p:txBody>
      </p:sp>
      <p:sp>
        <p:nvSpPr>
          <p:cNvPr id="24" name="Array cell"/>
          <p:cNvSpPr txBox="1"/>
          <p:nvPr/>
        </p:nvSpPr>
        <p:spPr>
          <a:xfrm>
            <a:off x="3611880" y="4069080"/>
            <a:ext cx="502920" cy="457200"/>
          </a:xfrm>
          <a:prstGeom prst="roundRect">
            <a:avLst>
              <a:gd name="adj" fmla="val 12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400" b="1" dirty="0">
                <a:solidFill>
                  <a:schemeClr val="tx1"/>
                </a:solidFill>
              </a:rPr>
              <a:t>82</a:t>
            </a:r>
            <a:endParaRPr lang="en-US" sz="1400" dirty="0"/>
          </a:p>
        </p:txBody>
      </p:sp>
      <p:sp>
        <p:nvSpPr>
          <p:cNvPr id="25" name="Array cell"/>
          <p:cNvSpPr txBox="1"/>
          <p:nvPr/>
        </p:nvSpPr>
        <p:spPr>
          <a:xfrm>
            <a:off x="4160520" y="4069080"/>
            <a:ext cx="502920" cy="457200"/>
          </a:xfrm>
          <a:prstGeom prst="roundRect">
            <a:avLst>
              <a:gd name="adj" fmla="val 12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400" b="1" dirty="0">
                <a:solidFill>
                  <a:schemeClr val="tx1"/>
                </a:solidFill>
              </a:rPr>
              <a:t>10</a:t>
            </a:r>
            <a:endParaRPr lang="en-US" sz="1400" dirty="0"/>
          </a:p>
        </p:txBody>
      </p:sp>
      <p:sp>
        <p:nvSpPr>
          <p:cNvPr id="26" name="Array cell"/>
          <p:cNvSpPr txBox="1"/>
          <p:nvPr/>
        </p:nvSpPr>
        <p:spPr>
          <a:xfrm>
            <a:off x="4709160" y="4069080"/>
            <a:ext cx="502920" cy="457200"/>
          </a:xfrm>
          <a:prstGeom prst="roundRect">
            <a:avLst>
              <a:gd name="adj" fmla="val 12000"/>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1400" b="1" dirty="0">
                <a:solidFill>
                  <a:schemeClr val="tx1"/>
                </a:solidFill>
              </a:rPr>
              <a:t>15</a:t>
            </a:r>
            <a:endParaRPr lang="en-US" sz="1400" dirty="0"/>
          </a:p>
        </p:txBody>
      </p:sp>
      <p:sp>
        <p:nvSpPr>
          <p:cNvPr id="27" name="Chip"/>
          <p:cNvSpPr txBox="1"/>
          <p:nvPr/>
        </p:nvSpPr>
        <p:spPr>
          <a:xfrm>
            <a:off x="868680" y="4846320"/>
            <a:ext cx="4754880" cy="502920"/>
          </a:xfrm>
          <a:prstGeom prst="roundRect">
            <a:avLst>
              <a:gd name="adj" fmla="val 32727"/>
            </a:avLst>
          </a:prstGeom>
          <a:solidFill>
            <a:schemeClr val="accent5"/>
          </a:solidFill>
          <a:ln w="12700">
            <a:solidFill>
              <a:schemeClr val="accent4"/>
            </a:solidFill>
          </a:ln>
        </p:spPr>
        <p:txBody>
          <a:bodyPr wrap="square" lIns="635" tIns="635" rIns="635" bIns="635" rtlCol="0" anchor="ctr"/>
          <a:lstStyle/>
          <a:p>
            <a:pPr algn="ctr" indent="0" marL="0">
              <a:buNone/>
            </a:pPr>
            <a:r>
              <a:rPr lang="en-US" sz="2000" b="1" dirty="0">
                <a:solidFill>
                  <a:schemeClr val="tx1"/>
                </a:solidFill>
                <a:latin typeface="Cambria" pitchFamily="34" charset="0"/>
                <a:ea typeface="Cambria" pitchFamily="34" charset="-122"/>
                <a:cs typeface="Cambria" pitchFamily="34" charset="-120"/>
              </a:rPr>
              <a:t>Extra space = O(n)</a:t>
            </a:r>
            <a:endParaRPr lang="en-US" sz="2000" dirty="0"/>
          </a:p>
        </p:txBody>
      </p:sp>
      <p:sp>
        <p:nvSpPr>
          <p:cNvPr id="28" name="Text 25"/>
          <p:cNvSpPr txBox="1"/>
          <p:nvPr/>
        </p:nvSpPr>
        <p:spPr>
          <a:xfrm>
            <a:off x="868680" y="5440680"/>
            <a:ext cx="4754880" cy="320040"/>
          </a:xfrm>
          <a:prstGeom prst="rect">
            <a:avLst/>
          </a:prstGeom>
          <a:noFill/>
          <a:ln/>
        </p:spPr>
        <p:txBody>
          <a:bodyPr wrap="square" lIns="0" tIns="0" rIns="0" bIns="0" rtlCol="0" anchor="t"/>
          <a:lstStyle/>
          <a:p>
            <a:pPr indent="0" marL="0">
              <a:buNone/>
            </a:pPr>
            <a:r>
              <a:rPr lang="en-US" sz="1400" dirty="0">
                <a:solidFill>
                  <a:schemeClr val="tx2"/>
                </a:solidFill>
              </a:rPr>
              <a:t>The recursion stack adds only O(log n).</a:t>
            </a:r>
            <a:endParaRPr lang="en-US" sz="1400" dirty="0"/>
          </a:p>
        </p:txBody>
      </p:sp>
      <p:sp>
        <p:nvSpPr>
          <p:cNvPr id="29" name="Stability card"/>
          <p:cNvSpPr/>
          <p:nvPr/>
        </p:nvSpPr>
        <p:spPr>
          <a:xfrm>
            <a:off x="6245352" y="1508760"/>
            <a:ext cx="5394960" cy="4343400"/>
          </a:xfrm>
          <a:prstGeom prst="roundRect">
            <a:avLst>
              <a:gd name="adj" fmla="val 2526"/>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30" name="Text 27"/>
          <p:cNvSpPr txBox="1"/>
          <p:nvPr/>
        </p:nvSpPr>
        <p:spPr>
          <a:xfrm>
            <a:off x="6537960" y="1691640"/>
            <a:ext cx="475488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Stable sorting</a:t>
            </a:r>
            <a:endParaRPr lang="en-US" sz="2200" dirty="0"/>
          </a:p>
        </p:txBody>
      </p:sp>
      <p:sp>
        <p:nvSpPr>
          <p:cNvPr id="31" name="Text 28"/>
          <p:cNvSpPr txBox="1"/>
          <p:nvPr/>
        </p:nvSpPr>
        <p:spPr>
          <a:xfrm>
            <a:off x="6537960" y="2194560"/>
            <a:ext cx="4846320" cy="320040"/>
          </a:xfrm>
          <a:prstGeom prst="rect">
            <a:avLst/>
          </a:prstGeom>
          <a:noFill/>
          <a:ln/>
        </p:spPr>
        <p:txBody>
          <a:bodyPr wrap="square" lIns="0" tIns="0" rIns="0" bIns="0" rtlCol="0" anchor="t"/>
          <a:lstStyle/>
          <a:p>
            <a:pPr indent="0" marL="0">
              <a:buNone/>
            </a:pPr>
            <a:r>
              <a:rPr lang="en-US" sz="1500" dirty="0">
                <a:solidFill>
                  <a:schemeClr val="tx2"/>
                </a:solidFill>
              </a:rPr>
              <a:t>Equal elements keep their original order.</a:t>
            </a:r>
            <a:endParaRPr lang="en-US" sz="1500" dirty="0"/>
          </a:p>
        </p:txBody>
      </p:sp>
      <p:sp>
        <p:nvSpPr>
          <p:cNvPr id="32" name="Text 29"/>
          <p:cNvSpPr txBox="1"/>
          <p:nvPr/>
        </p:nvSpPr>
        <p:spPr>
          <a:xfrm>
            <a:off x="6537960" y="2697480"/>
            <a:ext cx="1828800" cy="274320"/>
          </a:xfrm>
          <a:prstGeom prst="rect">
            <a:avLst/>
          </a:prstGeom>
          <a:noFill/>
          <a:ln/>
        </p:spPr>
        <p:txBody>
          <a:bodyPr wrap="square" lIns="0" tIns="0" rIns="0" bIns="0" rtlCol="0" anchor="t"/>
          <a:lstStyle/>
          <a:p>
            <a:pPr indent="0" marL="0">
              <a:buNone/>
            </a:pPr>
            <a:r>
              <a:rPr lang="en-US" sz="1200" b="1" spc="200" kern="0" dirty="0">
                <a:solidFill>
                  <a:schemeClr val="tx2"/>
                </a:solidFill>
              </a:rPr>
              <a:t>INPUT</a:t>
            </a:r>
            <a:endParaRPr lang="en-US" sz="1200" dirty="0"/>
          </a:p>
        </p:txBody>
      </p:sp>
      <p:sp>
        <p:nvSpPr>
          <p:cNvPr id="33" name="Input"/>
          <p:cNvSpPr txBox="1"/>
          <p:nvPr/>
        </p:nvSpPr>
        <p:spPr>
          <a:xfrm>
            <a:off x="6537960" y="3017520"/>
            <a:ext cx="822960" cy="640080"/>
          </a:xfrm>
          <a:prstGeom prst="roundRect">
            <a:avLst>
              <a:gd name="adj" fmla="val 8571"/>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2000" b="1" dirty="0">
                <a:solidFill>
                  <a:schemeClr val="tx1"/>
                </a:solidFill>
              </a:rPr>
              <a:t>5a</a:t>
            </a:r>
            <a:endParaRPr lang="en-US" sz="2000" dirty="0"/>
          </a:p>
        </p:txBody>
      </p:sp>
      <p:sp>
        <p:nvSpPr>
          <p:cNvPr id="34" name="Input"/>
          <p:cNvSpPr txBox="1"/>
          <p:nvPr/>
        </p:nvSpPr>
        <p:spPr>
          <a:xfrm>
            <a:off x="7543800" y="3017520"/>
            <a:ext cx="822960" cy="640080"/>
          </a:xfrm>
          <a:prstGeom prst="roundRect">
            <a:avLst>
              <a:gd name="adj" fmla="val 8571"/>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35" name="Input"/>
          <p:cNvSpPr txBox="1"/>
          <p:nvPr/>
        </p:nvSpPr>
        <p:spPr>
          <a:xfrm>
            <a:off x="8549640" y="3017520"/>
            <a:ext cx="822960" cy="640080"/>
          </a:xfrm>
          <a:prstGeom prst="roundRect">
            <a:avLst>
              <a:gd name="adj" fmla="val 8571"/>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000" b="1" dirty="0">
                <a:solidFill>
                  <a:schemeClr val="tx1"/>
                </a:solidFill>
              </a:rPr>
              <a:t>5b</a:t>
            </a:r>
            <a:endParaRPr lang="en-US" sz="2000" dirty="0"/>
          </a:p>
        </p:txBody>
      </p:sp>
      <p:sp>
        <p:nvSpPr>
          <p:cNvPr id="36" name="Input"/>
          <p:cNvSpPr txBox="1"/>
          <p:nvPr/>
        </p:nvSpPr>
        <p:spPr>
          <a:xfrm>
            <a:off x="9555480" y="3017520"/>
            <a:ext cx="822960" cy="640080"/>
          </a:xfrm>
          <a:prstGeom prst="roundRect">
            <a:avLst>
              <a:gd name="adj" fmla="val 8571"/>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37" name="Output"/>
          <p:cNvSpPr txBox="1"/>
          <p:nvPr/>
        </p:nvSpPr>
        <p:spPr>
          <a:xfrm>
            <a:off x="6537960" y="4480560"/>
            <a:ext cx="822960" cy="640080"/>
          </a:xfrm>
          <a:prstGeom prst="roundRect">
            <a:avLst>
              <a:gd name="adj" fmla="val 8571"/>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38" name="Output"/>
          <p:cNvSpPr txBox="1"/>
          <p:nvPr/>
        </p:nvSpPr>
        <p:spPr>
          <a:xfrm>
            <a:off x="7543800" y="4480560"/>
            <a:ext cx="822960" cy="640080"/>
          </a:xfrm>
          <a:prstGeom prst="roundRect">
            <a:avLst>
              <a:gd name="adj" fmla="val 8571"/>
            </a:avLst>
          </a:prstGeom>
          <a:solidFill>
            <a:schemeClr val="accent4"/>
          </a:solidFill>
          <a:ln w="15875">
            <a:solidFill>
              <a:schemeClr val="accent2"/>
            </a:solidFill>
            <a:prstDash val="solid"/>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39" name="Output"/>
          <p:cNvSpPr txBox="1"/>
          <p:nvPr/>
        </p:nvSpPr>
        <p:spPr>
          <a:xfrm>
            <a:off x="8549640" y="4480560"/>
            <a:ext cx="822960" cy="640080"/>
          </a:xfrm>
          <a:prstGeom prst="roundRect">
            <a:avLst>
              <a:gd name="adj" fmla="val 8571"/>
            </a:avLst>
          </a:prstGeom>
          <a:solidFill>
            <a:schemeClr val="accent6"/>
          </a:solidFill>
          <a:ln w="15875">
            <a:solidFill>
              <a:schemeClr val="accent3"/>
            </a:solidFill>
            <a:prstDash val="solid"/>
          </a:ln>
        </p:spPr>
        <p:txBody>
          <a:bodyPr wrap="square" lIns="0" tIns="0" rIns="0" bIns="0" rtlCol="0" anchor="ctr"/>
          <a:lstStyle/>
          <a:p>
            <a:pPr algn="ctr" indent="0" marL="0">
              <a:buNone/>
            </a:pPr>
            <a:r>
              <a:rPr lang="en-US" sz="2000" b="1" dirty="0">
                <a:solidFill>
                  <a:schemeClr val="tx1"/>
                </a:solidFill>
              </a:rPr>
              <a:t>5a</a:t>
            </a:r>
            <a:endParaRPr lang="en-US" sz="2000" dirty="0"/>
          </a:p>
        </p:txBody>
      </p:sp>
      <p:sp>
        <p:nvSpPr>
          <p:cNvPr id="40" name="Output"/>
          <p:cNvSpPr txBox="1"/>
          <p:nvPr/>
        </p:nvSpPr>
        <p:spPr>
          <a:xfrm>
            <a:off x="9555480" y="4480560"/>
            <a:ext cx="822960" cy="640080"/>
          </a:xfrm>
          <a:prstGeom prst="roundRect">
            <a:avLst>
              <a:gd name="adj" fmla="val 8571"/>
            </a:avLst>
          </a:prstGeom>
          <a:solidFill>
            <a:schemeClr val="accent5"/>
          </a:solidFill>
          <a:ln w="15875">
            <a:solidFill>
              <a:schemeClr val="accent1"/>
            </a:solidFill>
            <a:prstDash val="solid"/>
          </a:ln>
        </p:spPr>
        <p:txBody>
          <a:bodyPr wrap="square" lIns="0" tIns="0" rIns="0" bIns="0" rtlCol="0" anchor="ctr"/>
          <a:lstStyle/>
          <a:p>
            <a:pPr algn="ctr" indent="0" marL="0">
              <a:buNone/>
            </a:pPr>
            <a:r>
              <a:rPr lang="en-US" sz="2000" b="1" dirty="0">
                <a:solidFill>
                  <a:schemeClr val="tx1"/>
                </a:solidFill>
              </a:rPr>
              <a:t>5b</a:t>
            </a:r>
            <a:endParaRPr lang="en-US" sz="2000" dirty="0"/>
          </a:p>
        </p:txBody>
      </p:sp>
      <p:sp>
        <p:nvSpPr>
          <p:cNvPr id="41" name="Text 38"/>
          <p:cNvSpPr txBox="1"/>
          <p:nvPr/>
        </p:nvSpPr>
        <p:spPr>
          <a:xfrm>
            <a:off x="6537960" y="4160520"/>
            <a:ext cx="1828800" cy="274320"/>
          </a:xfrm>
          <a:prstGeom prst="rect">
            <a:avLst/>
          </a:prstGeom>
          <a:noFill/>
          <a:ln/>
        </p:spPr>
        <p:txBody>
          <a:bodyPr wrap="square" lIns="0" tIns="0" rIns="0" bIns="0" rtlCol="0" anchor="t"/>
          <a:lstStyle/>
          <a:p>
            <a:pPr indent="0" marL="0">
              <a:buNone/>
            </a:pPr>
            <a:r>
              <a:rPr lang="en-US" sz="1200" b="1" spc="200" kern="0" dirty="0">
                <a:solidFill>
                  <a:schemeClr val="tx2"/>
                </a:solidFill>
              </a:rPr>
              <a:t>OUTPUT</a:t>
            </a:r>
            <a:endParaRPr lang="en-US" sz="1200" dirty="0"/>
          </a:p>
        </p:txBody>
      </p:sp>
      <p:sp>
        <p:nvSpPr>
          <p:cNvPr id="42" name="Connector"/>
          <p:cNvSpPr/>
          <p:nvPr/>
        </p:nvSpPr>
        <p:spPr>
          <a:xfrm>
            <a:off x="6949440" y="3657600"/>
            <a:ext cx="2011680" cy="822960"/>
          </a:xfrm>
          <a:prstGeom prst="line">
            <a:avLst/>
          </a:prstGeom>
          <a:noFill/>
          <a:ln w="25400">
            <a:solidFill>
              <a:schemeClr val="accent3"/>
            </a:solidFill>
            <a:prstDash val="solid"/>
            <a:tailEnd type="triangle"/>
          </a:ln>
        </p:spPr>
      </p:sp>
      <p:sp>
        <p:nvSpPr>
          <p:cNvPr id="43" name="Connector"/>
          <p:cNvSpPr/>
          <p:nvPr/>
        </p:nvSpPr>
        <p:spPr>
          <a:xfrm>
            <a:off x="8961120" y="3657600"/>
            <a:ext cx="1005840" cy="822960"/>
          </a:xfrm>
          <a:prstGeom prst="line">
            <a:avLst/>
          </a:prstGeom>
          <a:noFill/>
          <a:ln w="25400">
            <a:solidFill>
              <a:schemeClr val="accent1"/>
            </a:solidFill>
            <a:prstDash val="solid"/>
            <a:tailEnd type="triangle"/>
          </a:ln>
        </p:spPr>
      </p:sp>
      <p:sp>
        <p:nvSpPr>
          <p:cNvPr id="44" name="Text 41"/>
          <p:cNvSpPr txBox="1"/>
          <p:nvPr/>
        </p:nvSpPr>
        <p:spPr>
          <a:xfrm>
            <a:off x="6537960" y="5257800"/>
            <a:ext cx="4846320" cy="457200"/>
          </a:xfrm>
          <a:prstGeom prst="rect">
            <a:avLst/>
          </a:prstGeom>
          <a:noFill/>
          <a:ln/>
        </p:spPr>
        <p:txBody>
          <a:bodyPr wrap="square" lIns="0" tIns="0" rIns="0" bIns="0" rtlCol="0" anchor="t"/>
          <a:lstStyle/>
          <a:p>
            <a:pPr indent="0" marL="0">
              <a:buNone/>
            </a:pPr>
            <a:r>
              <a:rPr lang="en-US" sz="1400" dirty="0">
                <a:solidFill>
                  <a:schemeClr val="tx2"/>
                </a:solidFill>
              </a:rPr>
              <a:t>Ties come from the left half first, so 5a stays before 5b.</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p:cNvSpPr txBox="1"/>
          <p:nvPr/>
        </p:nvSpPr>
        <p:spPr>
          <a:xfrm>
            <a:off x="548640" y="274320"/>
            <a:ext cx="7315200" cy="274320"/>
          </a:xfrm>
          <a:prstGeom prst="rect">
            <a:avLst/>
          </a:prstGeom>
          <a:noFill/>
          <a:ln/>
        </p:spPr>
        <p:txBody>
          <a:bodyPr wrap="square" lIns="0" tIns="0" rIns="0" bIns="0" rtlCol="0" anchor="t"/>
          <a:lstStyle/>
          <a:p>
            <a:pPr indent="0" marL="0">
              <a:buNone/>
            </a:pPr>
            <a:r>
              <a:rPr lang="en-US" sz="1200" b="1" spc="300" kern="0" dirty="0">
                <a:solidFill>
                  <a:schemeClr val="tx2"/>
                </a:solidFill>
              </a:rPr>
              <a:t>CONCLUSION</a:t>
            </a:r>
            <a:endParaRPr lang="en-US" sz="1200" dirty="0"/>
          </a:p>
        </p:txBody>
      </p:sp>
      <p:sp>
        <p:nvSpPr>
          <p:cNvPr id="3" name="Text 2"/>
          <p:cNvSpPr/>
          <p:nvPr>
            <p:ph idx="102" type="title" hasCustomPrompt="1"/>
          </p:nvPr>
        </p:nvSpPr>
        <p:spPr>
          <a:xfrm>
            <a:off x="548640" y="566928"/>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Key Takeaways</a:t>
            </a:r>
            <a:endParaRPr lang="en-US" sz="3400" dirty="0"/>
          </a:p>
        </p:txBody>
      </p:sp>
      <p:sp>
        <p:nvSpPr>
          <p:cNvPr id="5" name="Advantages card"/>
          <p:cNvSpPr/>
          <p:nvPr/>
        </p:nvSpPr>
        <p:spPr>
          <a:xfrm>
            <a:off x="548640" y="1463040"/>
            <a:ext cx="5394960" cy="3017520"/>
          </a:xfrm>
          <a:prstGeom prst="roundRect">
            <a:avLst>
              <a:gd name="adj" fmla="val 3636"/>
            </a:avLst>
          </a:prstGeom>
          <a:solidFill>
            <a:schemeClr val="accent5"/>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6" name="Text 3"/>
          <p:cNvSpPr txBox="1"/>
          <p:nvPr/>
        </p:nvSpPr>
        <p:spPr>
          <a:xfrm>
            <a:off x="868680" y="1645920"/>
            <a:ext cx="475488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Advantages</a:t>
            </a:r>
            <a:endParaRPr lang="en-US" sz="2200" dirty="0"/>
          </a:p>
        </p:txBody>
      </p:sp>
      <p:sp>
        <p:nvSpPr>
          <p:cNvPr id="7" name="Text 4"/>
          <p:cNvSpPr txBox="1"/>
          <p:nvPr/>
        </p:nvSpPr>
        <p:spPr>
          <a:xfrm>
            <a:off x="868680" y="2240280"/>
            <a:ext cx="4754880" cy="21031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Guaranteed O(n log n) time in every case</a:t>
            </a:r>
            <a:endParaRPr lang="en-US" sz="1800" dirty="0"/>
          </a:p>
          <a:p>
            <a:pPr marL="342900" indent="-342900">
              <a:spcAft>
                <a:spcPts val="1200"/>
              </a:spcAft>
              <a:buSzPct val="100000"/>
              <a:buChar char="•"/>
            </a:pPr>
            <a:r>
              <a:rPr lang="en-US" sz="1800" dirty="0">
                <a:solidFill>
                  <a:schemeClr val="tx1"/>
                </a:solidFill>
              </a:rPr>
              <a:t>Stable: equal elements keep their order</a:t>
            </a:r>
            <a:endParaRPr lang="en-US" sz="1800" dirty="0"/>
          </a:p>
          <a:p>
            <a:pPr marL="342900" indent="-342900">
              <a:spcAft>
                <a:spcPts val="1200"/>
              </a:spcAft>
              <a:buSzPct val="100000"/>
              <a:buChar char="•"/>
            </a:pPr>
            <a:r>
              <a:rPr lang="en-US" sz="1800" dirty="0">
                <a:solidFill>
                  <a:schemeClr val="tx1"/>
                </a:solidFill>
              </a:rPr>
              <a:t>Works well on linked lists and external sorting</a:t>
            </a:r>
            <a:endParaRPr lang="en-US" sz="1800" dirty="0"/>
          </a:p>
          <a:p>
            <a:pPr marL="342900" indent="-342900">
              <a:buSzPct val="100000"/>
              <a:buChar char="•"/>
            </a:pPr>
            <a:r>
              <a:rPr lang="en-US" sz="1800" dirty="0">
                <a:solidFill>
                  <a:schemeClr val="tx1"/>
                </a:solidFill>
              </a:rPr>
              <a:t>Easy to parallelise</a:t>
            </a:r>
            <a:endParaRPr lang="en-US" sz="1800" dirty="0"/>
          </a:p>
        </p:txBody>
      </p:sp>
      <p:sp>
        <p:nvSpPr>
          <p:cNvPr id="8" name="Limitations card"/>
          <p:cNvSpPr/>
          <p:nvPr/>
        </p:nvSpPr>
        <p:spPr>
          <a:xfrm>
            <a:off x="6245352" y="1463040"/>
            <a:ext cx="5394960" cy="3017520"/>
          </a:xfrm>
          <a:prstGeom prst="roundRect">
            <a:avLst>
              <a:gd name="adj" fmla="val 3636"/>
            </a:avLst>
          </a:prstGeom>
          <a:solidFill>
            <a:schemeClr val="accent6"/>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9" name="Text 6"/>
          <p:cNvSpPr txBox="1"/>
          <p:nvPr/>
        </p:nvSpPr>
        <p:spPr>
          <a:xfrm>
            <a:off x="6565392" y="1645920"/>
            <a:ext cx="475488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Limitations</a:t>
            </a:r>
            <a:endParaRPr lang="en-US" sz="2200" dirty="0"/>
          </a:p>
        </p:txBody>
      </p:sp>
      <p:sp>
        <p:nvSpPr>
          <p:cNvPr id="10" name="Text 7"/>
          <p:cNvSpPr txBox="1"/>
          <p:nvPr/>
        </p:nvSpPr>
        <p:spPr>
          <a:xfrm>
            <a:off x="6565392" y="2240280"/>
            <a:ext cx="4754880" cy="21031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Needs O(n) extra memory</a:t>
            </a:r>
            <a:endParaRPr lang="en-US" sz="1800" dirty="0"/>
          </a:p>
          <a:p>
            <a:pPr marL="342900" indent="-342900">
              <a:spcAft>
                <a:spcPts val="1200"/>
              </a:spcAft>
              <a:buSzPct val="100000"/>
              <a:buChar char="•"/>
            </a:pPr>
            <a:r>
              <a:rPr lang="en-US" sz="1800" dirty="0">
                <a:solidFill>
                  <a:schemeClr val="tx1"/>
                </a:solidFill>
              </a:rPr>
              <a:t>Not an in-place algorithm</a:t>
            </a:r>
            <a:endParaRPr lang="en-US" sz="1800" dirty="0"/>
          </a:p>
          <a:p>
            <a:pPr marL="342900" indent="-342900">
              <a:spcAft>
                <a:spcPts val="1200"/>
              </a:spcAft>
              <a:buSzPct val="100000"/>
              <a:buChar char="•"/>
            </a:pPr>
            <a:r>
              <a:rPr lang="en-US" sz="1800" dirty="0">
                <a:solidFill>
                  <a:schemeClr val="tx1"/>
                </a:solidFill>
              </a:rPr>
              <a:t>Overhead on very small arrays</a:t>
            </a:r>
            <a:endParaRPr lang="en-US" sz="1800" dirty="0"/>
          </a:p>
          <a:p>
            <a:pPr marL="342900" indent="-342900">
              <a:buSzPct val="100000"/>
              <a:buChar char="•"/>
            </a:pPr>
            <a:r>
              <a:rPr lang="en-US" sz="1800" i="1" dirty="0">
                <a:solidFill>
                  <a:schemeClr val="tx1"/>
                </a:solidFill>
              </a:rPr>
              <a:t>Hybrids such as Timsort build on merge sort</a:t>
            </a:r>
            <a:endParaRPr lang="en-US" sz="1800" dirty="0"/>
          </a:p>
        </p:txBody>
      </p:sp>
      <p:sp>
        <p:nvSpPr>
          <p:cNvPr id="11" name="Credits card"/>
          <p:cNvSpPr/>
          <p:nvPr/>
        </p:nvSpPr>
        <p:spPr>
          <a:xfrm>
            <a:off x="548640" y="4754880"/>
            <a:ext cx="11091672" cy="1371600"/>
          </a:xfrm>
          <a:prstGeom prst="roundRect">
            <a:avLst>
              <a:gd name="adj" fmla="val 8000"/>
            </a:avLst>
          </a:prstGeom>
          <a:solidFill>
            <a:schemeClr val="bg1"/>
          </a:solidFill>
          <a:ln w="12700">
            <a:solidFill>
              <a:schemeClr val="accent4"/>
            </a:solidFill>
            <a:prstDash val="solid"/>
          </a:ln>
          <a:effectLst>
            <a:outerShdw sx="100000" sy="100000" kx="0" ky="0" algn="bl" rotWithShape="0" blurRad="127000" dist="38100" dir="5400000">
              <a:srgbClr val="9FB4D3">
                <a:alpha val="25000"/>
              </a:srgbClr>
            </a:outerShdw>
          </a:effectLst>
        </p:spPr>
      </p:sp>
      <p:sp>
        <p:nvSpPr>
          <p:cNvPr id="12" name="Text 9"/>
          <p:cNvSpPr txBox="1"/>
          <p:nvPr/>
        </p:nvSpPr>
        <p:spPr>
          <a:xfrm>
            <a:off x="868680" y="4937760"/>
            <a:ext cx="5486400" cy="4572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Soham Samudra</a:t>
            </a:r>
            <a:endParaRPr lang="en-US" sz="2400" dirty="0"/>
          </a:p>
        </p:txBody>
      </p:sp>
      <p:sp>
        <p:nvSpPr>
          <p:cNvPr id="13" name="Text 10"/>
          <p:cNvSpPr txBox="1"/>
          <p:nvPr/>
        </p:nvSpPr>
        <p:spPr>
          <a:xfrm>
            <a:off x="868680" y="5394960"/>
            <a:ext cx="6400800" cy="320040"/>
          </a:xfrm>
          <a:prstGeom prst="rect">
            <a:avLst/>
          </a:prstGeom>
          <a:noFill/>
          <a:ln/>
        </p:spPr>
        <p:txBody>
          <a:bodyPr wrap="square" lIns="0" tIns="0" rIns="0" bIns="0" rtlCol="0" anchor="t"/>
          <a:lstStyle/>
          <a:p>
            <a:pPr indent="0" marL="0">
              <a:buNone/>
            </a:pPr>
            <a:r>
              <a:rPr lang="en-US" sz="1500" dirty="0">
                <a:solidFill>
                  <a:schemeClr val="tx2"/>
                </a:solidFill>
              </a:rPr>
              <a:t>PRN 25070521092  ·  Semester III  ·  Section B</a:t>
            </a:r>
            <a:endParaRPr lang="en-US" sz="1500" dirty="0"/>
          </a:p>
        </p:txBody>
      </p:sp>
      <p:sp>
        <p:nvSpPr>
          <p:cNvPr id="14" name="Text 11"/>
          <p:cNvSpPr txBox="1"/>
          <p:nvPr/>
        </p:nvSpPr>
        <p:spPr>
          <a:xfrm>
            <a:off x="868680" y="5715000"/>
            <a:ext cx="6400800" cy="274320"/>
          </a:xfrm>
          <a:prstGeom prst="rect">
            <a:avLst/>
          </a:prstGeom>
          <a:noFill/>
          <a:ln/>
        </p:spPr>
        <p:txBody>
          <a:bodyPr wrap="square" lIns="0" tIns="0" rIns="0" bIns="0" rtlCol="0" anchor="t"/>
          <a:lstStyle/>
          <a:p>
            <a:pPr indent="0" marL="0">
              <a:buNone/>
            </a:pPr>
            <a:r>
              <a:rPr lang="en-US" sz="1400" dirty="0">
                <a:solidFill>
                  <a:schemeClr val="tx2"/>
                </a:solidFill>
              </a:rPr>
              <a:t>Subject: Data Structures and Algorithms (DAA)</a:t>
            </a:r>
            <a:endParaRPr lang="en-US" sz="1400" dirty="0"/>
          </a:p>
        </p:txBody>
      </p:sp>
      <p:sp>
        <p:nvSpPr>
          <p:cNvPr id="15" name="Text 12"/>
          <p:cNvSpPr txBox="1"/>
          <p:nvPr/>
        </p:nvSpPr>
        <p:spPr>
          <a:xfrm>
            <a:off x="7863840" y="4983480"/>
            <a:ext cx="3474720" cy="548640"/>
          </a:xfrm>
          <a:prstGeom prst="rect">
            <a:avLst/>
          </a:prstGeom>
          <a:noFill/>
          <a:ln/>
        </p:spPr>
        <p:txBody>
          <a:bodyPr wrap="square" lIns="0" tIns="0" rIns="0" bIns="0" rtlCol="0" anchor="ctr"/>
          <a:lstStyle/>
          <a:p>
            <a:pPr algn="r" indent="0" marL="0">
              <a:buNone/>
            </a:pPr>
            <a:r>
              <a:rPr lang="en-US" sz="3000" b="1" dirty="0">
                <a:solidFill>
                  <a:schemeClr val="tx1"/>
                </a:solidFill>
                <a:latin typeface="Cambria" pitchFamily="34" charset="0"/>
                <a:ea typeface="Cambria" pitchFamily="34" charset="-122"/>
                <a:cs typeface="Cambria" pitchFamily="34" charset="-120"/>
              </a:rPr>
              <a:t>Thank you</a:t>
            </a:r>
            <a:endParaRPr lang="en-US" sz="3000" dirty="0"/>
          </a:p>
        </p:txBody>
      </p:sp>
      <p:sp>
        <p:nvSpPr>
          <p:cNvPr id="16" name="Text 13"/>
          <p:cNvSpPr txBox="1"/>
          <p:nvPr/>
        </p:nvSpPr>
        <p:spPr>
          <a:xfrm>
            <a:off x="7863840" y="5669280"/>
            <a:ext cx="3474720" cy="274320"/>
          </a:xfrm>
          <a:prstGeom prst="rect">
            <a:avLst/>
          </a:prstGeom>
          <a:noFill/>
          <a:ln/>
        </p:spPr>
        <p:txBody>
          <a:bodyPr wrap="square" lIns="0" tIns="0" rIns="0" bIns="0" rtlCol="0" anchor="t"/>
          <a:lstStyle/>
          <a:p>
            <a:pPr algn="r" indent="0" marL="0">
              <a:buNone/>
            </a:pPr>
            <a:r>
              <a:rPr lang="en-US" sz="1200" dirty="0">
                <a:solidFill>
                  <a:schemeClr val="tx2"/>
                </a:solidFill>
              </a:rPr>
              <a:t>Generated using Claude AI</a:t>
            </a:r>
            <a:endParaRPr lang="en-US" sz="1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Merge Sort Light">
  <a:themeElements>
    <a:clrScheme name="Merge Sort Light">
      <a:dk1>
        <a:srgbClr val="14213D"/>
      </a:dk1>
      <a:lt1>
        <a:srgbClr val="FFFFFF"/>
      </a:lt1>
      <a:dk2>
        <a:srgbClr val="3C5A7D"/>
      </a:dk2>
      <a:lt2>
        <a:srgbClr val="F3F7FC"/>
      </a:lt2>
      <a:accent1>
        <a:srgbClr val="2EC4B6"/>
      </a:accent1>
      <a:accent2>
        <a:srgbClr val="7FB3F5"/>
      </a:accent2>
      <a:accent3>
        <a:srgbClr val="B8A9F2"/>
      </a:accent3>
      <a:accent4>
        <a:srgbClr val="DDEBFF"/>
      </a:accent4>
      <a:accent5>
        <a:srgbClr val="D4F4EF"/>
      </a:accent5>
      <a:accent6>
        <a:srgbClr val="ECE7FB"/>
      </a:accent6>
      <a:hlink>
        <a:srgbClr val="2E7DD7"/>
      </a:hlink>
      <a:folHlink>
        <a:srgbClr val="7A6CD6"/>
      </a:folHlink>
    </a:clrScheme>
    <a:fontScheme name="Merge Sort 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Merge Sort - Divide, Sort and Merge</dc:title>
  <dc:subject>Data Structures and Algorithms (DAA)</dc:subject>
  <dc:creator>Soham Samudra</dc:creator>
  <cp:lastModifiedBy>Soham Samudra</cp:lastModifiedBy>
  <cp:revision>1</cp:revision>
  <dcterms:created xsi:type="dcterms:W3CDTF">2026-10-20T07:54:15Z</dcterms:created>
  <dcterms:modified xsi:type="dcterms:W3CDTF">2026-10-20T07:54:15Z</dcterms:modified>
</cp:coreProperties>
</file>